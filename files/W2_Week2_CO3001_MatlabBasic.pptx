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7" r:id="rId4"/>
    <p:sldId id="269" r:id="rId5"/>
    <p:sldId id="268" r:id="rId6"/>
    <p:sldId id="272" r:id="rId7"/>
    <p:sldId id="259" r:id="rId8"/>
    <p:sldId id="271" r:id="rId9"/>
    <p:sldId id="279" r:id="rId10"/>
    <p:sldId id="273" r:id="rId11"/>
    <p:sldId id="274" r:id="rId12"/>
    <p:sldId id="276" r:id="rId13"/>
    <p:sldId id="27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06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447" autoAdjust="0"/>
  </p:normalViewPr>
  <p:slideViewPr>
    <p:cSldViewPr snapToGrid="0" snapToObjects="1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089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20785-D63A-5BF8-407A-0A18D4CE5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99847-5545-95C4-DDD9-D945E941C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E5AE1-21E2-C52A-1889-81C06B3DC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E33C7-4201-457C-77B2-F680CE94B2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40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F9708-D44E-C4A3-5A61-B2BCBD26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05685-026D-890D-3F10-A7383D6E5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8FB5C-88E2-F5B0-C6C6-8E3F798C5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1AE15-C61A-9ADF-A4EE-38FFCD9952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78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7CA-480F-B5CD-29E9-AF6B5A0B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58BE9-9C91-F218-26F6-C5175E605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CF56F-31D1-C55D-9586-72D27C04C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E9560-E531-DEE6-4F38-A6360A8453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0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4EE1-547C-55A1-D7A5-0B59B4C2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8D22A-2DB3-8562-78C0-78634A2D8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8010A-85D5-2065-62CE-CB2E2811E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AB830-A211-7530-A148-5D79FFA58F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57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D7B63-3315-E3F6-D081-8A75C3558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DA3AB-CBAD-CA75-AEDA-19DA5652B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5B6BE-2FA6-7566-FE93-473A3CC96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411CA-C28E-6CA1-C362-6360B094E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27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87C3-7C33-43D0-AD4D-D205B0321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FAD1C-2E7A-170C-F0BA-1EF77E496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5B924-B0D5-FE33-2F21-310506F54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0B781-90FE-2C20-2723-E178D90D1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23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3CAE-12AA-D5B4-8C18-F7C4AE2A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D98AC-A0B3-6048-B4FD-1246B9BBB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FFD4B-B568-F7BC-1F6B-02A8E43D7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A7A36-F0AE-4329-640B-AC0576FCCF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78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E8D04-140D-5656-BCFA-DFB4DA9C6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ADA11-AF7C-9FFC-7050-AB18FE8AE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A9A70-16C7-3EA9-655A-AA780D1A9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292F6-BCE1-1D59-C9DD-B688CF55B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30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5BFF3-99F1-88B5-9B4E-AF4620C21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230D1-90CB-BA14-AB4C-AD48F3484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27D01-D6BC-E9F3-F252-A99B48B0B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559AB-2F1A-D0C3-675E-9D28C2772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95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3539-30F3-5674-ABD2-E12F0DAD2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B4E34-151D-847E-3581-E515C9D36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C3D8B-7E50-1B0E-9101-D768F76D0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0D9C5-3D6D-A6F8-9AE0-730A36982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0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0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332720" y="301752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kern="0" spc="400" dirty="0">
                <a:solidFill>
                  <a:srgbClr val="9FC8D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Calibri" pitchFamily="34" charset="-120"/>
              </a:rPr>
              <a:t>實驗一</a:t>
            </a:r>
            <a:endParaRPr lang="en-US" sz="5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2791576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MATLAB </a:t>
            </a:r>
            <a:r>
              <a:rPr lang="zh-TW" altLang="en-US" sz="5400" b="1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基礎練習</a:t>
            </a:r>
            <a:endParaRPr lang="en-US" sz="5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369998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407173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9D3E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日期：9/15　　</a:t>
            </a:r>
            <a:r>
              <a:rPr lang="en-US" sz="2800" dirty="0" err="1">
                <a:solidFill>
                  <a:srgbClr val="B9D3E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週數：第</a:t>
            </a:r>
            <a:r>
              <a:rPr lang="zh-TW" altLang="en-US" sz="2800" dirty="0">
                <a:solidFill>
                  <a:srgbClr val="B9D3E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二</a:t>
            </a:r>
            <a:r>
              <a:rPr lang="en-US" sz="2800" dirty="0">
                <a:solidFill>
                  <a:srgbClr val="B9D3E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週</a:t>
            </a:r>
            <a:endParaRPr lang="en-US" sz="2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>
            <a:extLst>
              <a:ext uri="{FF2B5EF4-FFF2-40B4-BE49-F238E27FC236}">
                <a16:creationId xmlns:a16="http://schemas.microsoft.com/office/drawing/2014/main" id="{6709C9F1-618B-69C9-7F0B-F9B976721EA4}"/>
              </a:ext>
            </a:extLst>
          </p:cNvPr>
          <p:cNvSpPr/>
          <p:nvPr/>
        </p:nvSpPr>
        <p:spPr>
          <a:xfrm>
            <a:off x="7226300" y="-529590"/>
            <a:ext cx="8073644" cy="79171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10" name="Text 8"/>
          <p:cNvSpPr/>
          <p:nvPr/>
        </p:nvSpPr>
        <p:spPr>
          <a:xfrm>
            <a:off x="1143000" y="20482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7066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601169A-5B60-102F-502A-1F3503341EB0}"/>
              </a:ext>
            </a:extLst>
          </p:cNvPr>
          <p:cNvSpPr txBox="1"/>
          <p:nvPr/>
        </p:nvSpPr>
        <p:spPr>
          <a:xfrm>
            <a:off x="716280" y="1461660"/>
            <a:ext cx="7479453" cy="4210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一、</a:t>
            </a:r>
            <a:r>
              <a:rPr lang="en-US" altLang="zh-TW" sz="3000" dirty="0" err="1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矩陣運算、轉置與共軛轉置</a:t>
            </a:r>
            <a:endParaRPr lang="en-US" altLang="zh-TW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二、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時間向量與多個弦波</a:t>
            </a:r>
            <a:endParaRPr lang="en-US" altLang="zh-TW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三、</a:t>
            </a:r>
            <a:r>
              <a:rPr lang="en-US" altLang="zh-TW" sz="3000" dirty="0" err="1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利用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 sin(x)/x </a:t>
            </a:r>
            <a:r>
              <a:rPr lang="en-US" altLang="zh-TW" sz="3000" dirty="0" err="1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製造多個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 </a:t>
            </a:r>
            <a:r>
              <a:rPr lang="en-US" altLang="zh-TW" sz="3000" dirty="0" err="1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sinc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 波</a:t>
            </a:r>
          </a:p>
          <a:p>
            <a:pPr>
              <a:lnSpc>
                <a:spcPct val="150000"/>
              </a:lnSpc>
            </a:pP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四、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將 </a:t>
            </a:r>
            <a:r>
              <a:rPr lang="en-US" altLang="zh-TW" sz="3000" dirty="0" err="1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sinc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 </a:t>
            </a:r>
            <a:r>
              <a:rPr lang="en-US" altLang="zh-TW" sz="3000" dirty="0" err="1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波做傅立葉轉換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 (FFT)</a:t>
            </a:r>
            <a:endParaRPr lang="en-US" altLang="zh-TW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五、</a:t>
            </a:r>
            <a:r>
              <a:rPr lang="en-US" altLang="zh-TW" sz="3000" dirty="0" err="1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conv、conv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(...,'same') 與 filter</a:t>
            </a:r>
            <a:endParaRPr lang="en-US" altLang="zh-TW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六、回家作業練習</a:t>
            </a:r>
            <a:endParaRPr lang="en-US" altLang="zh-TW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DAA46C0-29F4-61FE-B8A5-4E51AF67CF9D}"/>
              </a:ext>
            </a:extLst>
          </p:cNvPr>
          <p:cNvSpPr txBox="1"/>
          <p:nvPr/>
        </p:nvSpPr>
        <p:spPr>
          <a:xfrm flipH="1">
            <a:off x="571500" y="611808"/>
            <a:ext cx="2552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solidFill>
                  <a:schemeClr val="accent1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目錄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0FD89488-95ED-8CD9-18D9-45D682908AE5}"/>
              </a:ext>
            </a:extLst>
          </p:cNvPr>
          <p:cNvSpPr/>
          <p:nvPr/>
        </p:nvSpPr>
        <p:spPr>
          <a:xfrm>
            <a:off x="7049386" y="4476307"/>
            <a:ext cx="3526671" cy="3221332"/>
          </a:xfrm>
          <a:prstGeom prst="ellipse">
            <a:avLst/>
          </a:prstGeom>
          <a:solidFill>
            <a:schemeClr val="accent1">
              <a:lumMod val="20000"/>
              <a:lumOff val="80000"/>
              <a:alpha val="45000"/>
            </a:schemeClr>
          </a:solidFill>
          <a:ln/>
        </p:spPr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5BA6A-BC61-D2C7-E81A-71EE9911E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12">
            <a:extLst>
              <a:ext uri="{FF2B5EF4-FFF2-40B4-BE49-F238E27FC236}">
                <a16:creationId xmlns:a16="http://schemas.microsoft.com/office/drawing/2014/main" id="{AA3522D8-7904-220D-7AC8-7036CE2B56F9}"/>
              </a:ext>
            </a:extLst>
          </p:cNvPr>
          <p:cNvSpPr/>
          <p:nvPr/>
        </p:nvSpPr>
        <p:spPr>
          <a:xfrm>
            <a:off x="0" y="0"/>
            <a:ext cx="12192000" cy="1419971"/>
          </a:xfrm>
          <a:prstGeom prst="roundRect">
            <a:avLst>
              <a:gd name="adj" fmla="val 0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674B8A-410C-BFBC-4CC9-D488FBAE5922}"/>
              </a:ext>
            </a:extLst>
          </p:cNvPr>
          <p:cNvSpPr/>
          <p:nvPr/>
        </p:nvSpPr>
        <p:spPr>
          <a:xfrm>
            <a:off x="584950" y="380801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3000" b="1" dirty="0">
                <a:solidFill>
                  <a:srgbClr val="21295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實驗例行動作</a:t>
            </a:r>
            <a:endParaRPr 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3E2CB34-601B-467B-7402-50A36E23CA60}"/>
              </a:ext>
            </a:extLst>
          </p:cNvPr>
          <p:cNvGrpSpPr/>
          <p:nvPr/>
        </p:nvGrpSpPr>
        <p:grpSpPr>
          <a:xfrm>
            <a:off x="391915" y="3123878"/>
            <a:ext cx="3459274" cy="2459797"/>
            <a:chOff x="767080" y="2738457"/>
            <a:chExt cx="4058921" cy="2667000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24BF8966-1782-A272-BC96-A948A6A6E3F3}"/>
                </a:ext>
              </a:extLst>
            </p:cNvPr>
            <p:cNvGrpSpPr/>
            <p:nvPr/>
          </p:nvGrpSpPr>
          <p:grpSpPr>
            <a:xfrm>
              <a:off x="767080" y="2738457"/>
              <a:ext cx="4058921" cy="2667000"/>
              <a:chOff x="718821" y="3193673"/>
              <a:chExt cx="4058921" cy="2667000"/>
            </a:xfrm>
          </p:grpSpPr>
          <p:sp>
            <p:nvSpPr>
              <p:cNvPr id="7" name="Shape 6">
                <a:extLst>
                  <a:ext uri="{FF2B5EF4-FFF2-40B4-BE49-F238E27FC236}">
                    <a16:creationId xmlns:a16="http://schemas.microsoft.com/office/drawing/2014/main" id="{95181FA1-DF44-3AE8-69C6-51588A4889D1}"/>
                  </a:ext>
                </a:extLst>
              </p:cNvPr>
              <p:cNvSpPr/>
              <p:nvPr/>
            </p:nvSpPr>
            <p:spPr>
              <a:xfrm>
                <a:off x="718821" y="3193673"/>
                <a:ext cx="4058921" cy="2667000"/>
              </a:xfrm>
              <a:prstGeom prst="roundRect">
                <a:avLst>
                  <a:gd name="adj" fmla="val 9804"/>
                </a:avLst>
              </a:prstGeom>
              <a:solidFill>
                <a:srgbClr val="FFFFFF"/>
              </a:solidFill>
              <a:ln w="15875">
                <a:solidFill>
                  <a:srgbClr val="CFE8F3"/>
                </a:solidFill>
                <a:prstDash val="solid"/>
              </a:ln>
              <a:effectLst>
                <a:outerShdw blurRad="76200" dist="25400" dir="5400000" algn="bl" rotWithShape="0">
                  <a:srgbClr val="1C2B3A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zh-TW" altLang="en-US" dirty="0"/>
              </a:p>
            </p:txBody>
          </p:sp>
          <p:cxnSp>
            <p:nvCxnSpPr>
              <p:cNvPr id="8" name="直線接點 7">
                <a:extLst>
                  <a:ext uri="{FF2B5EF4-FFF2-40B4-BE49-F238E27FC236}">
                    <a16:creationId xmlns:a16="http://schemas.microsoft.com/office/drawing/2014/main" id="{899F3EE2-4F82-21B6-C2D0-C40A5AEC71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870" y="4031122"/>
                <a:ext cx="3484822" cy="751"/>
              </a:xfrm>
              <a:prstGeom prst="line">
                <a:avLst/>
              </a:prstGeom>
              <a:ln w="57150">
                <a:prstDash val="soli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86482747-B878-6D42-B13C-5ECEC11723B0}"/>
                </a:ext>
              </a:extLst>
            </p:cNvPr>
            <p:cNvSpPr/>
            <p:nvPr/>
          </p:nvSpPr>
          <p:spPr>
            <a:xfrm>
              <a:off x="1026159" y="2890546"/>
              <a:ext cx="3512792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500" b="1" dirty="0" err="1">
                  <a:latin typeface="Times New Roman" panose="02020603050405020304" pitchFamily="18" charset="0"/>
                  <a:ea typeface="標楷體" panose="03000509000000000000" pitchFamily="65" charset="-120"/>
                </a:rPr>
                <a:t>clc</a:t>
              </a:r>
              <a:endParaRPr lang="en-US" sz="2500" b="1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90E0D2AE-034D-27E2-520F-902A4797B0F6}"/>
              </a:ext>
            </a:extLst>
          </p:cNvPr>
          <p:cNvGrpSpPr/>
          <p:nvPr/>
        </p:nvGrpSpPr>
        <p:grpSpPr>
          <a:xfrm>
            <a:off x="4366363" y="3123877"/>
            <a:ext cx="3459274" cy="2459797"/>
            <a:chOff x="767080" y="2738457"/>
            <a:chExt cx="4058921" cy="2667000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388DEEFB-04D3-05A4-A558-EA1FACFF8644}"/>
                </a:ext>
              </a:extLst>
            </p:cNvPr>
            <p:cNvGrpSpPr/>
            <p:nvPr/>
          </p:nvGrpSpPr>
          <p:grpSpPr>
            <a:xfrm>
              <a:off x="767080" y="2738457"/>
              <a:ext cx="4058921" cy="2667000"/>
              <a:chOff x="718821" y="3193673"/>
              <a:chExt cx="4058921" cy="2667000"/>
            </a:xfrm>
          </p:grpSpPr>
          <p:sp>
            <p:nvSpPr>
              <p:cNvPr id="33" name="Shape 6">
                <a:extLst>
                  <a:ext uri="{FF2B5EF4-FFF2-40B4-BE49-F238E27FC236}">
                    <a16:creationId xmlns:a16="http://schemas.microsoft.com/office/drawing/2014/main" id="{7416F3A9-B0DB-A72E-16C5-B30C1ED74BA2}"/>
                  </a:ext>
                </a:extLst>
              </p:cNvPr>
              <p:cNvSpPr/>
              <p:nvPr/>
            </p:nvSpPr>
            <p:spPr>
              <a:xfrm>
                <a:off x="718821" y="3193673"/>
                <a:ext cx="4058921" cy="2667000"/>
              </a:xfrm>
              <a:prstGeom prst="roundRect">
                <a:avLst>
                  <a:gd name="adj" fmla="val 9804"/>
                </a:avLst>
              </a:prstGeom>
              <a:solidFill>
                <a:srgbClr val="FFFFFF"/>
              </a:solidFill>
              <a:ln w="15875">
                <a:solidFill>
                  <a:srgbClr val="CFE8F3"/>
                </a:solidFill>
                <a:prstDash val="solid"/>
              </a:ln>
              <a:effectLst>
                <a:outerShdw blurRad="76200" dist="25400" dir="5400000" algn="bl" rotWithShape="0">
                  <a:srgbClr val="1C2B3A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zh-TW" altLang="en-US" dirty="0"/>
              </a:p>
            </p:txBody>
          </p: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A89BCBBF-F3F9-EE86-EFE5-421D67FF85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870" y="4031122"/>
                <a:ext cx="3484822" cy="751"/>
              </a:xfrm>
              <a:prstGeom prst="line">
                <a:avLst/>
              </a:prstGeom>
              <a:ln w="57150">
                <a:prstDash val="soli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 2">
              <a:extLst>
                <a:ext uri="{FF2B5EF4-FFF2-40B4-BE49-F238E27FC236}">
                  <a16:creationId xmlns:a16="http://schemas.microsoft.com/office/drawing/2014/main" id="{C874ED10-2ED8-D00F-FCC8-A59D2945A343}"/>
                </a:ext>
              </a:extLst>
            </p:cNvPr>
            <p:cNvSpPr/>
            <p:nvPr/>
          </p:nvSpPr>
          <p:spPr>
            <a:xfrm>
              <a:off x="1026159" y="2890546"/>
              <a:ext cx="3512792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500" b="1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clear</a:t>
              </a:r>
              <a:endParaRPr lang="en-US" sz="25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C99E77EC-9FDC-825A-5B85-299F4E05173E}"/>
              </a:ext>
            </a:extLst>
          </p:cNvPr>
          <p:cNvGrpSpPr/>
          <p:nvPr/>
        </p:nvGrpSpPr>
        <p:grpSpPr>
          <a:xfrm>
            <a:off x="8340812" y="3123879"/>
            <a:ext cx="3459274" cy="2459797"/>
            <a:chOff x="767080" y="2738457"/>
            <a:chExt cx="4058921" cy="2667000"/>
          </a:xfrm>
        </p:grpSpPr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092A0565-3FA9-F1E2-1CA4-753FA3BCDF0F}"/>
                </a:ext>
              </a:extLst>
            </p:cNvPr>
            <p:cNvGrpSpPr/>
            <p:nvPr/>
          </p:nvGrpSpPr>
          <p:grpSpPr>
            <a:xfrm>
              <a:off x="767080" y="2738457"/>
              <a:ext cx="4058921" cy="2667000"/>
              <a:chOff x="718821" y="3193673"/>
              <a:chExt cx="4058921" cy="2667000"/>
            </a:xfrm>
          </p:grpSpPr>
          <p:sp>
            <p:nvSpPr>
              <p:cNvPr id="55" name="Shape 6">
                <a:extLst>
                  <a:ext uri="{FF2B5EF4-FFF2-40B4-BE49-F238E27FC236}">
                    <a16:creationId xmlns:a16="http://schemas.microsoft.com/office/drawing/2014/main" id="{FFB68DA6-AA3A-AF32-31D0-D92B821C6451}"/>
                  </a:ext>
                </a:extLst>
              </p:cNvPr>
              <p:cNvSpPr/>
              <p:nvPr/>
            </p:nvSpPr>
            <p:spPr>
              <a:xfrm>
                <a:off x="718821" y="3193673"/>
                <a:ext cx="4058921" cy="2667000"/>
              </a:xfrm>
              <a:prstGeom prst="roundRect">
                <a:avLst>
                  <a:gd name="adj" fmla="val 9804"/>
                </a:avLst>
              </a:prstGeom>
              <a:solidFill>
                <a:srgbClr val="FFFFFF"/>
              </a:solidFill>
              <a:ln w="15875">
                <a:solidFill>
                  <a:srgbClr val="CFE8F3"/>
                </a:solidFill>
                <a:prstDash val="solid"/>
              </a:ln>
              <a:effectLst>
                <a:outerShdw blurRad="76200" dist="25400" dir="5400000" algn="bl" rotWithShape="0">
                  <a:srgbClr val="1C2B3A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zh-TW" altLang="en-US" dirty="0"/>
              </a:p>
            </p:txBody>
          </p: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DB97E8EC-9A2B-2C71-4662-A9B1B2ACF0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870" y="4031122"/>
                <a:ext cx="3484822" cy="751"/>
              </a:xfrm>
              <a:prstGeom prst="line">
                <a:avLst/>
              </a:prstGeom>
              <a:ln w="57150">
                <a:prstDash val="soli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Text 2">
              <a:extLst>
                <a:ext uri="{FF2B5EF4-FFF2-40B4-BE49-F238E27FC236}">
                  <a16:creationId xmlns:a16="http://schemas.microsoft.com/office/drawing/2014/main" id="{5BBEE482-A087-39ED-DFD7-4EC2DA7B0A4D}"/>
                </a:ext>
              </a:extLst>
            </p:cNvPr>
            <p:cNvSpPr/>
            <p:nvPr/>
          </p:nvSpPr>
          <p:spPr>
            <a:xfrm>
              <a:off x="1026159" y="2890546"/>
              <a:ext cx="3512792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500" b="1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close all</a:t>
              </a:r>
              <a:endParaRPr lang="en-US" sz="25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F015224-5DA2-D83F-F591-15E04E69CEEB}"/>
              </a:ext>
            </a:extLst>
          </p:cNvPr>
          <p:cNvSpPr txBox="1"/>
          <p:nvPr/>
        </p:nvSpPr>
        <p:spPr>
          <a:xfrm>
            <a:off x="679767" y="1819669"/>
            <a:ext cx="967581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實驗一開始請養成習慣輸入</a:t>
            </a:r>
            <a:endParaRPr lang="en-US" altLang="zh-TW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68" name="圖片 67">
            <a:extLst>
              <a:ext uri="{FF2B5EF4-FFF2-40B4-BE49-F238E27FC236}">
                <a16:creationId xmlns:a16="http://schemas.microsoft.com/office/drawing/2014/main" id="{39AF7226-09CC-79C9-E25F-7E2857ACD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941" y="1819669"/>
            <a:ext cx="4044978" cy="531001"/>
          </a:xfrm>
          <a:prstGeom prst="rect">
            <a:avLst/>
          </a:prstGeom>
        </p:spPr>
      </p:pic>
      <p:sp>
        <p:nvSpPr>
          <p:cNvPr id="72" name="文字方塊 71">
            <a:extLst>
              <a:ext uri="{FF2B5EF4-FFF2-40B4-BE49-F238E27FC236}">
                <a16:creationId xmlns:a16="http://schemas.microsoft.com/office/drawing/2014/main" id="{FAF8728C-EF57-4518-BE05-D57D70648BF7}"/>
              </a:ext>
            </a:extLst>
          </p:cNvPr>
          <p:cNvSpPr txBox="1"/>
          <p:nvPr/>
        </p:nvSpPr>
        <p:spPr>
          <a:xfrm>
            <a:off x="679767" y="4139460"/>
            <a:ext cx="2993828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清除 </a:t>
            </a:r>
            <a:r>
              <a:rPr lang="en-US" altLang="zh-TW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command window</a:t>
            </a: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，讓螢幕變乾淨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D36225DA-4A8B-11F3-714B-891BB10553D9}"/>
              </a:ext>
            </a:extLst>
          </p:cNvPr>
          <p:cNvSpPr txBox="1"/>
          <p:nvPr/>
        </p:nvSpPr>
        <p:spPr>
          <a:xfrm>
            <a:off x="4599086" y="4139459"/>
            <a:ext cx="2993828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清除 </a:t>
            </a:r>
            <a:r>
              <a:rPr lang="en-US" altLang="zh-TW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workspace</a:t>
            </a: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，並釋放記憶體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1ACCDDD1-C89A-4C10-D21F-C37ABDC393ED}"/>
              </a:ext>
            </a:extLst>
          </p:cNvPr>
          <p:cNvSpPr txBox="1"/>
          <p:nvPr/>
        </p:nvSpPr>
        <p:spPr>
          <a:xfrm>
            <a:off x="8695697" y="4139458"/>
            <a:ext cx="2993828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關閉所有打開的圖形視窗</a:t>
            </a:r>
            <a:r>
              <a:rPr lang="en-US" altLang="zh-TW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(figure windows)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8" name="Text 25">
            <a:extLst>
              <a:ext uri="{FF2B5EF4-FFF2-40B4-BE49-F238E27FC236}">
                <a16:creationId xmlns:a16="http://schemas.microsoft.com/office/drawing/2014/main" id="{6DF5EF82-72DC-C933-1CB6-9D7009FBAD33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1718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67CDF-CE86-A988-8EC5-F6944C14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12">
            <a:extLst>
              <a:ext uri="{FF2B5EF4-FFF2-40B4-BE49-F238E27FC236}">
                <a16:creationId xmlns:a16="http://schemas.microsoft.com/office/drawing/2014/main" id="{8568B351-2833-2B11-8A72-73DB3BFEEE58}"/>
              </a:ext>
            </a:extLst>
          </p:cNvPr>
          <p:cNvSpPr/>
          <p:nvPr/>
        </p:nvSpPr>
        <p:spPr>
          <a:xfrm>
            <a:off x="0" y="0"/>
            <a:ext cx="12192000" cy="1419971"/>
          </a:xfrm>
          <a:prstGeom prst="roundRect">
            <a:avLst>
              <a:gd name="adj" fmla="val 0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zh-TW" altLang="en-US"/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A26382E3-0805-CB13-4EE4-998514CD5C80}"/>
              </a:ext>
            </a:extLst>
          </p:cNvPr>
          <p:cNvGrpSpPr/>
          <p:nvPr/>
        </p:nvGrpSpPr>
        <p:grpSpPr>
          <a:xfrm>
            <a:off x="767079" y="434443"/>
            <a:ext cx="13154564" cy="658368"/>
            <a:chOff x="767079" y="434443"/>
            <a:chExt cx="13154564" cy="658368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A466FE11-2DB8-2AA5-F497-CC18D02CB090}"/>
                </a:ext>
              </a:extLst>
            </p:cNvPr>
            <p:cNvGrpSpPr/>
            <p:nvPr/>
          </p:nvGrpSpPr>
          <p:grpSpPr>
            <a:xfrm>
              <a:off x="767079" y="434443"/>
              <a:ext cx="13154564" cy="658368"/>
              <a:chOff x="767079" y="434443"/>
              <a:chExt cx="13154564" cy="658368"/>
            </a:xfrm>
          </p:grpSpPr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C37D6209-C047-5143-089F-20F0B66570FD}"/>
                  </a:ext>
                </a:extLst>
              </p:cNvPr>
              <p:cNvSpPr/>
              <p:nvPr/>
            </p:nvSpPr>
            <p:spPr>
              <a:xfrm>
                <a:off x="3497483" y="434443"/>
                <a:ext cx="1042416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3000" b="1" dirty="0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mbria" pitchFamily="34" charset="-120"/>
                  </a:rPr>
                  <a:t>矩陣運算、轉置與共軛轉置</a:t>
                </a:r>
                <a:endParaRPr lang="en-US" sz="3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44" name="矩形: 圓角 43">
                <a:extLst>
                  <a:ext uri="{FF2B5EF4-FFF2-40B4-BE49-F238E27FC236}">
                    <a16:creationId xmlns:a16="http://schemas.microsoft.com/office/drawing/2014/main" id="{1923E8DA-1168-A4A6-DB0F-61E441FFFDF8}"/>
                  </a:ext>
                </a:extLst>
              </p:cNvPr>
              <p:cNvSpPr/>
              <p:nvPr/>
            </p:nvSpPr>
            <p:spPr>
              <a:xfrm>
                <a:off x="767079" y="478973"/>
                <a:ext cx="2463485" cy="59436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1" name="Text 2">
              <a:extLst>
                <a:ext uri="{FF2B5EF4-FFF2-40B4-BE49-F238E27FC236}">
                  <a16:creationId xmlns:a16="http://schemas.microsoft.com/office/drawing/2014/main" id="{0ECEEF85-8512-65D5-4604-D42346D9089C}"/>
                </a:ext>
              </a:extLst>
            </p:cNvPr>
            <p:cNvSpPr/>
            <p:nvPr/>
          </p:nvSpPr>
          <p:spPr>
            <a:xfrm>
              <a:off x="767080" y="452157"/>
              <a:ext cx="246348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3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第一題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8" name="Text 25">
            <a:extLst>
              <a:ext uri="{FF2B5EF4-FFF2-40B4-BE49-F238E27FC236}">
                <a16:creationId xmlns:a16="http://schemas.microsoft.com/office/drawing/2014/main" id="{056D8DDC-4202-2EE5-4583-2E063E6D7E92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48884F71-1415-1B56-DC64-1C605C00EC5E}"/>
              </a:ext>
            </a:extLst>
          </p:cNvPr>
          <p:cNvCxnSpPr>
            <a:cxnSpLocks/>
          </p:cNvCxnSpPr>
          <p:nvPr/>
        </p:nvCxnSpPr>
        <p:spPr>
          <a:xfrm>
            <a:off x="5346700" y="1887422"/>
            <a:ext cx="0" cy="4283577"/>
          </a:xfrm>
          <a:prstGeom prst="line">
            <a:avLst/>
          </a:prstGeom>
          <a:ln w="57150"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7305CA7D-FAC3-3F9D-2969-A153D6CBCBE5}"/>
              </a:ext>
            </a:extLst>
          </p:cNvPr>
          <p:cNvSpPr txBox="1"/>
          <p:nvPr/>
        </p:nvSpPr>
        <p:spPr>
          <a:xfrm>
            <a:off x="5722342" y="2682814"/>
            <a:ext cx="5890538" cy="117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以空白建或 </a:t>
            </a:r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隔開元素，並以分號切換到下一列</a:t>
            </a:r>
            <a:endParaRPr lang="en-US" altLang="zh-TW" sz="25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D32D0DE1-21D4-F32A-CB88-1CB319139D21}"/>
              </a:ext>
            </a:extLst>
          </p:cNvPr>
          <p:cNvGrpSpPr/>
          <p:nvPr/>
        </p:nvGrpSpPr>
        <p:grpSpPr>
          <a:xfrm>
            <a:off x="645221" y="2598947"/>
            <a:ext cx="5170687" cy="2667000"/>
            <a:chOff x="767080" y="2738457"/>
            <a:chExt cx="5170687" cy="26670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A67B90E0-D931-2133-4F1E-EEDD5B128725}"/>
                </a:ext>
              </a:extLst>
            </p:cNvPr>
            <p:cNvGrpSpPr/>
            <p:nvPr/>
          </p:nvGrpSpPr>
          <p:grpSpPr>
            <a:xfrm>
              <a:off x="767080" y="2738457"/>
              <a:ext cx="4058921" cy="2667000"/>
              <a:chOff x="718821" y="3193673"/>
              <a:chExt cx="4058921" cy="2667000"/>
            </a:xfrm>
          </p:grpSpPr>
          <p:sp>
            <p:nvSpPr>
              <p:cNvPr id="13" name="Shape 6">
                <a:extLst>
                  <a:ext uri="{FF2B5EF4-FFF2-40B4-BE49-F238E27FC236}">
                    <a16:creationId xmlns:a16="http://schemas.microsoft.com/office/drawing/2014/main" id="{515424ED-AD35-1976-925F-6D0C0330E764}"/>
                  </a:ext>
                </a:extLst>
              </p:cNvPr>
              <p:cNvSpPr/>
              <p:nvPr/>
            </p:nvSpPr>
            <p:spPr>
              <a:xfrm>
                <a:off x="718821" y="3193673"/>
                <a:ext cx="4058921" cy="2667000"/>
              </a:xfrm>
              <a:prstGeom prst="roundRect">
                <a:avLst>
                  <a:gd name="adj" fmla="val 9804"/>
                </a:avLst>
              </a:prstGeom>
              <a:solidFill>
                <a:srgbClr val="FFFFFF"/>
              </a:solidFill>
              <a:ln w="15875">
                <a:solidFill>
                  <a:srgbClr val="CFE8F3"/>
                </a:solidFill>
                <a:prstDash val="solid"/>
              </a:ln>
              <a:effectLst>
                <a:outerShdw blurRad="76200" dist="25400" dir="5400000" algn="bl" rotWithShape="0">
                  <a:srgbClr val="1C2B3A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zh-TW" altLang="en-US" dirty="0"/>
              </a:p>
            </p:txBody>
          </p: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73B8E54E-A4CB-5DCC-C9F2-9A38BA2B2D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870" y="4031122"/>
                <a:ext cx="3484822" cy="751"/>
              </a:xfrm>
              <a:prstGeom prst="line">
                <a:avLst/>
              </a:prstGeom>
              <a:ln w="57150">
                <a:prstDash val="soli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群組 14">
                <a:extLst>
                  <a:ext uri="{FF2B5EF4-FFF2-40B4-BE49-F238E27FC236}">
                    <a16:creationId xmlns:a16="http://schemas.microsoft.com/office/drawing/2014/main" id="{99C2C2F4-0373-806F-B76D-1F52C9613579}"/>
                  </a:ext>
                </a:extLst>
              </p:cNvPr>
              <p:cNvGrpSpPr/>
              <p:nvPr/>
            </p:nvGrpSpPr>
            <p:grpSpPr>
              <a:xfrm>
                <a:off x="980233" y="4456068"/>
                <a:ext cx="3441497" cy="936025"/>
                <a:chOff x="980233" y="2931604"/>
                <a:chExt cx="3441497" cy="93602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文字方塊 15">
                      <a:extLst>
                        <a:ext uri="{FF2B5EF4-FFF2-40B4-BE49-F238E27FC236}">
                          <a16:creationId xmlns:a16="http://schemas.microsoft.com/office/drawing/2014/main" id="{448CBB25-3AC8-3F4B-5C33-BAE60E18C4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0233" y="3084625"/>
                      <a:ext cx="1621341" cy="62998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r>
                        <a:rPr lang="en-US" altLang="zh-TW" sz="2300" dirty="0"/>
                        <a:t>A=</a:t>
                      </a:r>
                      <a14:m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zh-TW" altLang="en-US" sz="23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3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a14:m>
                      <a:endParaRPr lang="zh-TW" altLang="en-US" sz="2300" dirty="0"/>
                    </a:p>
                  </p:txBody>
                </p:sp>
              </mc:Choice>
              <mc:Fallback xmlns="">
                <p:sp>
                  <p:nvSpPr>
                    <p:cNvPr id="16" name="文字方塊 15">
                      <a:extLst>
                        <a:ext uri="{FF2B5EF4-FFF2-40B4-BE49-F238E27FC236}">
                          <a16:creationId xmlns:a16="http://schemas.microsoft.com/office/drawing/2014/main" id="{448CBB25-3AC8-3F4B-5C33-BAE60E18C44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0233" y="3084625"/>
                      <a:ext cx="1621341" cy="62998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1278" b="-679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文字方塊 16">
                      <a:extLst>
                        <a:ext uri="{FF2B5EF4-FFF2-40B4-BE49-F238E27FC236}">
                          <a16:creationId xmlns:a16="http://schemas.microsoft.com/office/drawing/2014/main" id="{F362EED1-FF3E-2D74-2DE6-103948169D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35828" y="2931604"/>
                      <a:ext cx="1185902" cy="93602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r>
                        <a:rPr lang="en-US" altLang="zh-TW" sz="2300" dirty="0"/>
                        <a:t>D=</a:t>
                      </a:r>
                      <a14:m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zh-TW" alt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a14:m>
                      <a:endParaRPr lang="zh-TW" altLang="en-US" sz="2300" dirty="0"/>
                    </a:p>
                  </p:txBody>
                </p:sp>
              </mc:Choice>
              <mc:Fallback xmlns="">
                <p:sp>
                  <p:nvSpPr>
                    <p:cNvPr id="17" name="文字方塊 16">
                      <a:extLst>
                        <a:ext uri="{FF2B5EF4-FFF2-40B4-BE49-F238E27FC236}">
                          <a16:creationId xmlns:a16="http://schemas.microsoft.com/office/drawing/2014/main" id="{F362EED1-FF3E-2D74-2DE6-103948169D4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35828" y="2931604"/>
                      <a:ext cx="1185902" cy="93602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546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2" name="Text 2">
              <a:extLst>
                <a:ext uri="{FF2B5EF4-FFF2-40B4-BE49-F238E27FC236}">
                  <a16:creationId xmlns:a16="http://schemas.microsoft.com/office/drawing/2014/main" id="{9FEA2593-8444-D0BD-FD24-14B28CD7D673}"/>
                </a:ext>
              </a:extLst>
            </p:cNvPr>
            <p:cNvSpPr/>
            <p:nvPr/>
          </p:nvSpPr>
          <p:spPr>
            <a:xfrm>
              <a:off x="1026159" y="2890546"/>
              <a:ext cx="491160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zh-TW" altLang="en-US" sz="2500" b="1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建立矩陣</a:t>
              </a:r>
              <a:endParaRPr lang="en-US" sz="25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pic>
        <p:nvPicPr>
          <p:cNvPr id="61" name="圖片 60">
            <a:extLst>
              <a:ext uri="{FF2B5EF4-FFF2-40B4-BE49-F238E27FC236}">
                <a16:creationId xmlns:a16="http://schemas.microsoft.com/office/drawing/2014/main" id="{683C93E2-353B-599C-B199-749ECAD11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0610" y="4029210"/>
            <a:ext cx="4392509" cy="101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6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A6CAD-1349-FDEA-A6F5-375D75160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12">
            <a:extLst>
              <a:ext uri="{FF2B5EF4-FFF2-40B4-BE49-F238E27FC236}">
                <a16:creationId xmlns:a16="http://schemas.microsoft.com/office/drawing/2014/main" id="{CA3C0E51-1DBB-3698-6E1F-1F33BEC16677}"/>
              </a:ext>
            </a:extLst>
          </p:cNvPr>
          <p:cNvSpPr/>
          <p:nvPr/>
        </p:nvSpPr>
        <p:spPr>
          <a:xfrm>
            <a:off x="0" y="0"/>
            <a:ext cx="12192000" cy="1419971"/>
          </a:xfrm>
          <a:prstGeom prst="roundRect">
            <a:avLst>
              <a:gd name="adj" fmla="val 0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zh-TW" altLang="en-US"/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6AD87475-B086-D230-28E5-557C374DA829}"/>
              </a:ext>
            </a:extLst>
          </p:cNvPr>
          <p:cNvGrpSpPr/>
          <p:nvPr/>
        </p:nvGrpSpPr>
        <p:grpSpPr>
          <a:xfrm>
            <a:off x="767079" y="434443"/>
            <a:ext cx="13154564" cy="658368"/>
            <a:chOff x="767079" y="434443"/>
            <a:chExt cx="13154564" cy="658368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D56DAA17-052E-3DFF-9B90-0A9746DB5D88}"/>
                </a:ext>
              </a:extLst>
            </p:cNvPr>
            <p:cNvGrpSpPr/>
            <p:nvPr/>
          </p:nvGrpSpPr>
          <p:grpSpPr>
            <a:xfrm>
              <a:off x="767079" y="434443"/>
              <a:ext cx="13154564" cy="658368"/>
              <a:chOff x="767079" y="434443"/>
              <a:chExt cx="13154564" cy="658368"/>
            </a:xfrm>
          </p:grpSpPr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1DD909D6-B798-87F6-36BB-D5D40CF3EE81}"/>
                  </a:ext>
                </a:extLst>
              </p:cNvPr>
              <p:cNvSpPr/>
              <p:nvPr/>
            </p:nvSpPr>
            <p:spPr>
              <a:xfrm>
                <a:off x="3497483" y="434443"/>
                <a:ext cx="1042416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3000" b="1" dirty="0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mbria" pitchFamily="34" charset="-120"/>
                  </a:rPr>
                  <a:t>矩陣運算、轉置與共軛轉置</a:t>
                </a:r>
                <a:endParaRPr lang="en-US" sz="3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44" name="矩形: 圓角 43">
                <a:extLst>
                  <a:ext uri="{FF2B5EF4-FFF2-40B4-BE49-F238E27FC236}">
                    <a16:creationId xmlns:a16="http://schemas.microsoft.com/office/drawing/2014/main" id="{EB85B9FB-A73B-460F-74F7-E1CB43B1BA9D}"/>
                  </a:ext>
                </a:extLst>
              </p:cNvPr>
              <p:cNvSpPr/>
              <p:nvPr/>
            </p:nvSpPr>
            <p:spPr>
              <a:xfrm>
                <a:off x="767079" y="478973"/>
                <a:ext cx="2463485" cy="59436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1" name="Text 2">
              <a:extLst>
                <a:ext uri="{FF2B5EF4-FFF2-40B4-BE49-F238E27FC236}">
                  <a16:creationId xmlns:a16="http://schemas.microsoft.com/office/drawing/2014/main" id="{9ED1A857-BF79-8E1C-CD7C-94FD89232BF5}"/>
                </a:ext>
              </a:extLst>
            </p:cNvPr>
            <p:cNvSpPr/>
            <p:nvPr/>
          </p:nvSpPr>
          <p:spPr>
            <a:xfrm>
              <a:off x="767080" y="452157"/>
              <a:ext cx="246348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3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第一題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B5722D0E-7CA4-150B-7B51-EEF5E591A260}"/>
              </a:ext>
            </a:extLst>
          </p:cNvPr>
          <p:cNvCxnSpPr>
            <a:cxnSpLocks/>
          </p:cNvCxnSpPr>
          <p:nvPr/>
        </p:nvCxnSpPr>
        <p:spPr>
          <a:xfrm>
            <a:off x="5245100" y="1698123"/>
            <a:ext cx="0" cy="4839837"/>
          </a:xfrm>
          <a:prstGeom prst="line">
            <a:avLst/>
          </a:prstGeom>
          <a:ln w="57150"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D3FC9575-4F2F-9FFB-D607-7480BACD0980}"/>
              </a:ext>
            </a:extLst>
          </p:cNvPr>
          <p:cNvSpPr txBox="1"/>
          <p:nvPr/>
        </p:nvSpPr>
        <p:spPr>
          <a:xfrm>
            <a:off x="5643481" y="3107239"/>
            <a:ext cx="7439601" cy="60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當有複數</a:t>
            </a:r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( </a:t>
            </a:r>
            <a:r>
              <a:rPr lang="en-US" altLang="zh-TW" sz="2500" b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)</a:t>
            </a: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時，在</a:t>
            </a:r>
            <a:r>
              <a:rPr lang="en-US" altLang="zh-TW" sz="2500" b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matlab</a:t>
            </a: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中以 </a:t>
            </a:r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j </a:t>
            </a: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代替</a:t>
            </a:r>
            <a:endParaRPr lang="en-US" altLang="zh-TW" sz="25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68" name="圖片 67">
            <a:extLst>
              <a:ext uri="{FF2B5EF4-FFF2-40B4-BE49-F238E27FC236}">
                <a16:creationId xmlns:a16="http://schemas.microsoft.com/office/drawing/2014/main" id="{AAE3BE0A-AAF2-7ECB-CAB5-A6D37748E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491" y="3988091"/>
            <a:ext cx="5190222" cy="675355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760B5641-908F-2878-8FD1-F8A024401D2C}"/>
              </a:ext>
            </a:extLst>
          </p:cNvPr>
          <p:cNvGrpSpPr/>
          <p:nvPr/>
        </p:nvGrpSpPr>
        <p:grpSpPr>
          <a:xfrm>
            <a:off x="650789" y="2967285"/>
            <a:ext cx="4058921" cy="2136682"/>
            <a:chOff x="767080" y="2738457"/>
            <a:chExt cx="4058921" cy="2136682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765C5BD-43BD-7904-0038-74AA567F504B}"/>
                </a:ext>
              </a:extLst>
            </p:cNvPr>
            <p:cNvGrpSpPr/>
            <p:nvPr/>
          </p:nvGrpSpPr>
          <p:grpSpPr>
            <a:xfrm>
              <a:off x="767080" y="2738457"/>
              <a:ext cx="4058921" cy="2136682"/>
              <a:chOff x="718821" y="3193673"/>
              <a:chExt cx="4058921" cy="2136682"/>
            </a:xfrm>
          </p:grpSpPr>
          <p:sp>
            <p:nvSpPr>
              <p:cNvPr id="6" name="Shape 6">
                <a:extLst>
                  <a:ext uri="{FF2B5EF4-FFF2-40B4-BE49-F238E27FC236}">
                    <a16:creationId xmlns:a16="http://schemas.microsoft.com/office/drawing/2014/main" id="{30EA2AA0-BA96-1C92-E33A-5C055FB334FB}"/>
                  </a:ext>
                </a:extLst>
              </p:cNvPr>
              <p:cNvSpPr/>
              <p:nvPr/>
            </p:nvSpPr>
            <p:spPr>
              <a:xfrm>
                <a:off x="718821" y="3193673"/>
                <a:ext cx="4058921" cy="2136682"/>
              </a:xfrm>
              <a:prstGeom prst="roundRect">
                <a:avLst>
                  <a:gd name="adj" fmla="val 9804"/>
                </a:avLst>
              </a:prstGeom>
              <a:solidFill>
                <a:srgbClr val="FFFFFF"/>
              </a:solidFill>
              <a:ln w="15875">
                <a:solidFill>
                  <a:srgbClr val="CFE8F3"/>
                </a:solidFill>
                <a:prstDash val="solid"/>
              </a:ln>
              <a:effectLst>
                <a:outerShdw blurRad="76200" dist="25400" dir="5400000" algn="bl" rotWithShape="0">
                  <a:srgbClr val="1C2B3A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zh-TW" altLang="en-US" dirty="0"/>
              </a:p>
            </p:txBody>
          </p:sp>
          <p:cxnSp>
            <p:nvCxnSpPr>
              <p:cNvPr id="7" name="直線接點 6">
                <a:extLst>
                  <a:ext uri="{FF2B5EF4-FFF2-40B4-BE49-F238E27FC236}">
                    <a16:creationId xmlns:a16="http://schemas.microsoft.com/office/drawing/2014/main" id="{D3BAAFA4-D35C-B84B-1423-70B191EDE2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870" y="4031122"/>
                <a:ext cx="3484822" cy="751"/>
              </a:xfrm>
              <a:prstGeom prst="line">
                <a:avLst/>
              </a:prstGeom>
              <a:ln w="57150">
                <a:prstDash val="soli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81B51A9A-1BE5-390C-BF63-D74AD4ACF5B2}"/>
                      </a:ext>
                    </a:extLst>
                  </p:cNvPr>
                  <p:cNvSpPr txBox="1"/>
                  <p:nvPr/>
                </p:nvSpPr>
                <p:spPr>
                  <a:xfrm>
                    <a:off x="1230490" y="4377258"/>
                    <a:ext cx="2742289" cy="67101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TW" alt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TW" sz="23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3−1</m:t>
                                    </m:r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4+5</m:t>
                                    </m:r>
                                    <m:r>
                                      <a:rPr lang="en-US" altLang="zh-TW" sz="23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zh-TW" altLang="en-US" sz="2300" dirty="0"/>
                  </a:p>
                </p:txBody>
              </p:sp>
            </mc:Choice>
            <mc:Fallback xmlns=""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81B51A9A-1BE5-390C-BF63-D74AD4ACF5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30490" y="4377258"/>
                    <a:ext cx="2742289" cy="67101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87CA48DC-B796-0D4C-59A3-2CED70D84471}"/>
                </a:ext>
              </a:extLst>
            </p:cNvPr>
            <p:cNvSpPr/>
            <p:nvPr/>
          </p:nvSpPr>
          <p:spPr>
            <a:xfrm>
              <a:off x="1026159" y="2890546"/>
              <a:ext cx="3650952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zh-TW" altLang="en-US" sz="2500" b="1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建立複數矩陣</a:t>
              </a:r>
              <a:endParaRPr lang="en-US" sz="25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0" name="Text 25">
            <a:extLst>
              <a:ext uri="{FF2B5EF4-FFF2-40B4-BE49-F238E27FC236}">
                <a16:creationId xmlns:a16="http://schemas.microsoft.com/office/drawing/2014/main" id="{16556BC1-EEDC-225C-15D9-B5A17016970A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31045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A5EE7-4F1B-7CF2-CDE7-B1A82838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12">
            <a:extLst>
              <a:ext uri="{FF2B5EF4-FFF2-40B4-BE49-F238E27FC236}">
                <a16:creationId xmlns:a16="http://schemas.microsoft.com/office/drawing/2014/main" id="{43985F3E-AF66-71A1-C6C4-E6FDCB4124E9}"/>
              </a:ext>
            </a:extLst>
          </p:cNvPr>
          <p:cNvSpPr/>
          <p:nvPr/>
        </p:nvSpPr>
        <p:spPr>
          <a:xfrm>
            <a:off x="0" y="0"/>
            <a:ext cx="12192000" cy="1419971"/>
          </a:xfrm>
          <a:prstGeom prst="roundRect">
            <a:avLst>
              <a:gd name="adj" fmla="val 0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zh-TW" altLang="en-US"/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121819A8-2CC0-68DD-D2EB-DCCCEFF3468F}"/>
              </a:ext>
            </a:extLst>
          </p:cNvPr>
          <p:cNvGrpSpPr/>
          <p:nvPr/>
        </p:nvGrpSpPr>
        <p:grpSpPr>
          <a:xfrm>
            <a:off x="767079" y="434443"/>
            <a:ext cx="13154564" cy="658368"/>
            <a:chOff x="767079" y="434443"/>
            <a:chExt cx="13154564" cy="658368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50A56D29-DE8C-4B32-4D9E-C5551FB47BA3}"/>
                </a:ext>
              </a:extLst>
            </p:cNvPr>
            <p:cNvGrpSpPr/>
            <p:nvPr/>
          </p:nvGrpSpPr>
          <p:grpSpPr>
            <a:xfrm>
              <a:off x="767079" y="434443"/>
              <a:ext cx="13154564" cy="658368"/>
              <a:chOff x="767079" y="434443"/>
              <a:chExt cx="13154564" cy="658368"/>
            </a:xfrm>
          </p:grpSpPr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291E7415-B1CD-F82D-AC2E-1C7CB8FD8338}"/>
                  </a:ext>
                </a:extLst>
              </p:cNvPr>
              <p:cNvSpPr/>
              <p:nvPr/>
            </p:nvSpPr>
            <p:spPr>
              <a:xfrm>
                <a:off x="3497483" y="434443"/>
                <a:ext cx="1042416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3000" b="1" dirty="0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mbria" pitchFamily="34" charset="-120"/>
                  </a:rPr>
                  <a:t>矩陣運算、轉置與共軛轉置</a:t>
                </a:r>
                <a:endParaRPr lang="en-US" sz="3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44" name="矩形: 圓角 43">
                <a:extLst>
                  <a:ext uri="{FF2B5EF4-FFF2-40B4-BE49-F238E27FC236}">
                    <a16:creationId xmlns:a16="http://schemas.microsoft.com/office/drawing/2014/main" id="{A958F601-D0DB-D37A-5A26-334B1A23BD9D}"/>
                  </a:ext>
                </a:extLst>
              </p:cNvPr>
              <p:cNvSpPr/>
              <p:nvPr/>
            </p:nvSpPr>
            <p:spPr>
              <a:xfrm>
                <a:off x="767079" y="478973"/>
                <a:ext cx="2463485" cy="59436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1" name="Text 2">
              <a:extLst>
                <a:ext uri="{FF2B5EF4-FFF2-40B4-BE49-F238E27FC236}">
                  <a16:creationId xmlns:a16="http://schemas.microsoft.com/office/drawing/2014/main" id="{290DADD1-893E-3413-77A2-572299A4E96D}"/>
                </a:ext>
              </a:extLst>
            </p:cNvPr>
            <p:cNvSpPr/>
            <p:nvPr/>
          </p:nvSpPr>
          <p:spPr>
            <a:xfrm>
              <a:off x="767080" y="452157"/>
              <a:ext cx="246348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3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第一題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C2DB4F0-6678-07EA-3F8F-1400E36835F7}"/>
              </a:ext>
            </a:extLst>
          </p:cNvPr>
          <p:cNvSpPr/>
          <p:nvPr/>
        </p:nvSpPr>
        <p:spPr>
          <a:xfrm>
            <a:off x="650790" y="1870069"/>
            <a:ext cx="1611148" cy="51976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32838DF-49C6-3FD7-A7CA-9A83847182BC}"/>
              </a:ext>
            </a:extLst>
          </p:cNvPr>
          <p:cNvSpPr/>
          <p:nvPr/>
        </p:nvSpPr>
        <p:spPr>
          <a:xfrm>
            <a:off x="1120022" y="1800767"/>
            <a:ext cx="3650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運算</a:t>
            </a:r>
            <a:endParaRPr lang="en-US" sz="25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4CE190A-CA90-53F9-8AA9-B4D2149062AB}"/>
              </a:ext>
            </a:extLst>
          </p:cNvPr>
          <p:cNvSpPr txBox="1"/>
          <p:nvPr/>
        </p:nvSpPr>
        <p:spPr>
          <a:xfrm>
            <a:off x="2484879" y="5919181"/>
            <a:ext cx="2606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逐個元素相乘 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C04E7468-EBB8-05B0-7BBF-192FA5AEB5CA}"/>
              </a:ext>
            </a:extLst>
          </p:cNvPr>
          <p:cNvSpPr/>
          <p:nvPr/>
        </p:nvSpPr>
        <p:spPr>
          <a:xfrm>
            <a:off x="650790" y="2734765"/>
            <a:ext cx="1611148" cy="5197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DE9FC15C-AB36-9ECB-6CF1-9FFC7666509C}"/>
              </a:ext>
            </a:extLst>
          </p:cNvPr>
          <p:cNvSpPr/>
          <p:nvPr/>
        </p:nvSpPr>
        <p:spPr>
          <a:xfrm>
            <a:off x="631170" y="3531038"/>
            <a:ext cx="1611148" cy="5197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8D2CDB3-F129-C299-C077-02E8C82EBD09}"/>
              </a:ext>
            </a:extLst>
          </p:cNvPr>
          <p:cNvSpPr/>
          <p:nvPr/>
        </p:nvSpPr>
        <p:spPr>
          <a:xfrm>
            <a:off x="645607" y="4310320"/>
            <a:ext cx="1611148" cy="5197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BC4A96DB-13BD-E1DB-744C-559EBBDB72A6}"/>
              </a:ext>
            </a:extLst>
          </p:cNvPr>
          <p:cNvSpPr/>
          <p:nvPr/>
        </p:nvSpPr>
        <p:spPr>
          <a:xfrm>
            <a:off x="617103" y="5109366"/>
            <a:ext cx="1611148" cy="5197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DB1F21D8-580B-2099-6AD1-D37BFDA804A2}"/>
              </a:ext>
            </a:extLst>
          </p:cNvPr>
          <p:cNvSpPr/>
          <p:nvPr/>
        </p:nvSpPr>
        <p:spPr>
          <a:xfrm>
            <a:off x="617103" y="5888648"/>
            <a:ext cx="1611148" cy="51976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BDEE52E-6895-BD03-29B8-BEBC0F50BF9E}"/>
              </a:ext>
            </a:extLst>
          </p:cNvPr>
          <p:cNvSpPr txBox="1"/>
          <p:nvPr/>
        </p:nvSpPr>
        <p:spPr>
          <a:xfrm>
            <a:off x="883660" y="2741448"/>
            <a:ext cx="11454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+</a:t>
            </a:r>
            <a:endParaRPr lang="zh-TW" alt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CFBB5A8-B131-7781-1AD5-98D234DD70F4}"/>
              </a:ext>
            </a:extLst>
          </p:cNvPr>
          <p:cNvSpPr txBox="1"/>
          <p:nvPr/>
        </p:nvSpPr>
        <p:spPr>
          <a:xfrm>
            <a:off x="909300" y="3539731"/>
            <a:ext cx="11454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-</a:t>
            </a:r>
            <a:endParaRPr lang="zh-TW" alt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78BF08E-83ED-2390-2335-2DE378565C91}"/>
              </a:ext>
            </a:extLst>
          </p:cNvPr>
          <p:cNvSpPr txBox="1"/>
          <p:nvPr/>
        </p:nvSpPr>
        <p:spPr>
          <a:xfrm>
            <a:off x="909301" y="4371789"/>
            <a:ext cx="11454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*</a:t>
            </a:r>
            <a:endParaRPr lang="zh-TW" alt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A1E2B08-0F0D-3A20-B9B9-13F0C91F97BF}"/>
              </a:ext>
            </a:extLst>
          </p:cNvPr>
          <p:cNvSpPr txBox="1"/>
          <p:nvPr/>
        </p:nvSpPr>
        <p:spPr>
          <a:xfrm>
            <a:off x="919213" y="5146344"/>
            <a:ext cx="11454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/</a:t>
            </a:r>
            <a:endParaRPr lang="zh-TW" alt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FAAEA8C-48D6-C5BA-574A-73664B943678}"/>
              </a:ext>
            </a:extLst>
          </p:cNvPr>
          <p:cNvSpPr txBox="1"/>
          <p:nvPr/>
        </p:nvSpPr>
        <p:spPr>
          <a:xfrm>
            <a:off x="986590" y="5880709"/>
            <a:ext cx="11454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.</a:t>
            </a: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*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53B1959-F57E-56C3-E62C-84FA5E18B847}"/>
              </a:ext>
            </a:extLst>
          </p:cNvPr>
          <p:cNvSpPr txBox="1"/>
          <p:nvPr/>
        </p:nvSpPr>
        <p:spPr>
          <a:xfrm>
            <a:off x="2494808" y="2779920"/>
            <a:ext cx="13937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加法運算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9CB8C62-F07C-1CBD-FD8D-979C3C5BB377}"/>
              </a:ext>
            </a:extLst>
          </p:cNvPr>
          <p:cNvSpPr txBox="1"/>
          <p:nvPr/>
        </p:nvSpPr>
        <p:spPr>
          <a:xfrm>
            <a:off x="2494808" y="3601840"/>
            <a:ext cx="13937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減法運算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CB9BD96-F038-3203-D69C-0932130A9B34}"/>
              </a:ext>
            </a:extLst>
          </p:cNvPr>
          <p:cNvSpPr txBox="1"/>
          <p:nvPr/>
        </p:nvSpPr>
        <p:spPr>
          <a:xfrm>
            <a:off x="2494808" y="4345692"/>
            <a:ext cx="13937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乘法運算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606CF9D-C50D-ACFA-8420-B77F7A7D11D8}"/>
              </a:ext>
            </a:extLst>
          </p:cNvPr>
          <p:cNvSpPr txBox="1"/>
          <p:nvPr/>
        </p:nvSpPr>
        <p:spPr>
          <a:xfrm>
            <a:off x="2494808" y="5111668"/>
            <a:ext cx="13937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除法運算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B678E5D-210C-DC6A-B88B-1B0F201052E6}"/>
                  </a:ext>
                </a:extLst>
              </p:cNvPr>
              <p:cNvSpPr txBox="1"/>
              <p:nvPr/>
            </p:nvSpPr>
            <p:spPr>
              <a:xfrm>
                <a:off x="5748240" y="2135127"/>
                <a:ext cx="1621341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300" dirty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3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3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3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B678E5D-210C-DC6A-B88B-1B0F20105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240" y="2135127"/>
                <a:ext cx="1621341" cy="629981"/>
              </a:xfrm>
              <a:prstGeom prst="rect">
                <a:avLst/>
              </a:prstGeom>
              <a:blipFill>
                <a:blip r:embed="rId3"/>
                <a:stretch>
                  <a:fillRect l="-11278" b="-67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5617FCDA-5F35-DDB5-4F7C-6585BDD85F8B}"/>
              </a:ext>
            </a:extLst>
          </p:cNvPr>
          <p:cNvCxnSpPr>
            <a:cxnSpLocks/>
          </p:cNvCxnSpPr>
          <p:nvPr/>
        </p:nvCxnSpPr>
        <p:spPr>
          <a:xfrm flipV="1">
            <a:off x="5565360" y="3231581"/>
            <a:ext cx="5603227" cy="751"/>
          </a:xfrm>
          <a:prstGeom prst="line">
            <a:avLst/>
          </a:prstGeom>
          <a:ln w="12700">
            <a:prstDash val="soli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36DF1C7B-53A2-5C54-BAE1-13F1D7AA0911}"/>
                  </a:ext>
                </a:extLst>
              </p:cNvPr>
              <p:cNvSpPr txBox="1"/>
              <p:nvPr/>
            </p:nvSpPr>
            <p:spPr>
              <a:xfrm>
                <a:off x="7708725" y="2135126"/>
                <a:ext cx="1611723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300" dirty="0"/>
                  <a:t>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3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3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3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36DF1C7B-53A2-5C54-BAE1-13F1D7AA0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725" y="2135126"/>
                <a:ext cx="1611723" cy="629981"/>
              </a:xfrm>
              <a:prstGeom prst="rect">
                <a:avLst/>
              </a:prstGeom>
              <a:blipFill>
                <a:blip r:embed="rId4"/>
                <a:stretch>
                  <a:fillRect l="-11364" b="-67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E2C315E3-5D9D-6CEF-628E-D2EFE55A9856}"/>
                  </a:ext>
                </a:extLst>
              </p:cNvPr>
              <p:cNvSpPr txBox="1"/>
              <p:nvPr/>
            </p:nvSpPr>
            <p:spPr>
              <a:xfrm>
                <a:off x="7307089" y="4081577"/>
                <a:ext cx="2695353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300" dirty="0"/>
                  <a:t>A .* B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3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3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300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E2C315E3-5D9D-6CEF-628E-D2EFE55A9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089" y="4081577"/>
                <a:ext cx="2695353" cy="629981"/>
              </a:xfrm>
              <a:prstGeom prst="rect">
                <a:avLst/>
              </a:prstGeom>
              <a:blipFill>
                <a:blip r:embed="rId5"/>
                <a:stretch>
                  <a:fillRect l="-6787" b="-67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D7E19239-AFDA-D60F-B2D1-63C9477B815E}"/>
                  </a:ext>
                </a:extLst>
              </p:cNvPr>
              <p:cNvSpPr txBox="1"/>
              <p:nvPr/>
            </p:nvSpPr>
            <p:spPr>
              <a:xfrm>
                <a:off x="9794615" y="2059025"/>
                <a:ext cx="1161857" cy="936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300" dirty="0"/>
                  <a:t>C=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300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D7E19239-AFDA-D60F-B2D1-63C9477B8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615" y="2059025"/>
                <a:ext cx="1161857" cy="936025"/>
              </a:xfrm>
              <a:prstGeom prst="rect">
                <a:avLst/>
              </a:prstGeom>
              <a:blipFill>
                <a:blip r:embed="rId6"/>
                <a:stretch>
                  <a:fillRect l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F18212F4-6C46-DD57-D623-128EF3A7E221}"/>
              </a:ext>
            </a:extLst>
          </p:cNvPr>
          <p:cNvSpPr/>
          <p:nvPr/>
        </p:nvSpPr>
        <p:spPr>
          <a:xfrm>
            <a:off x="5618013" y="3462248"/>
            <a:ext cx="1393798" cy="55949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0F7CD0A0-85FC-D151-BC6D-D7503E53917A}"/>
              </a:ext>
            </a:extLst>
          </p:cNvPr>
          <p:cNvSpPr txBox="1"/>
          <p:nvPr/>
        </p:nvSpPr>
        <p:spPr>
          <a:xfrm>
            <a:off x="5773128" y="3469954"/>
            <a:ext cx="11454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.</a:t>
            </a: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80FC39C1-1EE8-51A6-026F-52E2926C0C25}"/>
                  </a:ext>
                </a:extLst>
              </p:cNvPr>
              <p:cNvSpPr txBox="1"/>
              <p:nvPr/>
            </p:nvSpPr>
            <p:spPr>
              <a:xfrm>
                <a:off x="7307089" y="5562837"/>
                <a:ext cx="1996444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300" dirty="0"/>
                  <a:t>A * C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49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300" dirty="0"/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80FC39C1-1EE8-51A6-026F-52E2926C0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089" y="5562837"/>
                <a:ext cx="1996444" cy="629981"/>
              </a:xfrm>
              <a:prstGeom prst="rect">
                <a:avLst/>
              </a:prstGeom>
              <a:blipFill>
                <a:blip r:embed="rId7"/>
                <a:stretch>
                  <a:fillRect l="-9174" b="-67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C88513E6-2D32-92EF-6CE3-36AB648AD8C1}"/>
              </a:ext>
            </a:extLst>
          </p:cNvPr>
          <p:cNvSpPr/>
          <p:nvPr/>
        </p:nvSpPr>
        <p:spPr>
          <a:xfrm>
            <a:off x="5618013" y="4865435"/>
            <a:ext cx="1393798" cy="55949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26854483-666A-5AF2-349C-488352602A36}"/>
              </a:ext>
            </a:extLst>
          </p:cNvPr>
          <p:cNvSpPr txBox="1"/>
          <p:nvPr/>
        </p:nvSpPr>
        <p:spPr>
          <a:xfrm>
            <a:off x="5773128" y="4873141"/>
            <a:ext cx="11454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*</a:t>
            </a:r>
            <a:endParaRPr lang="zh-TW" altLang="en-US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5F0849F6-42A3-979A-676D-3CB261AD862C}"/>
              </a:ext>
            </a:extLst>
          </p:cNvPr>
          <p:cNvSpPr txBox="1"/>
          <p:nvPr/>
        </p:nvSpPr>
        <p:spPr>
          <a:xfrm>
            <a:off x="7100542" y="3522662"/>
            <a:ext cx="69590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矩陣大小必須相同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BFC8AB12-8906-A425-675B-1BE915692561}"/>
              </a:ext>
            </a:extLst>
          </p:cNvPr>
          <p:cNvSpPr txBox="1"/>
          <p:nvPr/>
        </p:nvSpPr>
        <p:spPr>
          <a:xfrm>
            <a:off x="7100542" y="4911613"/>
            <a:ext cx="69590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列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×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行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40E1C6D3-1D59-C88B-0E7C-CF29A89A0E65}"/>
              </a:ext>
            </a:extLst>
          </p:cNvPr>
          <p:cNvCxnSpPr>
            <a:cxnSpLocks/>
          </p:cNvCxnSpPr>
          <p:nvPr/>
        </p:nvCxnSpPr>
        <p:spPr>
          <a:xfrm>
            <a:off x="4917440" y="1630883"/>
            <a:ext cx="0" cy="4839837"/>
          </a:xfrm>
          <a:prstGeom prst="line">
            <a:avLst/>
          </a:prstGeom>
          <a:ln w="57150"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 25">
            <a:extLst>
              <a:ext uri="{FF2B5EF4-FFF2-40B4-BE49-F238E27FC236}">
                <a16:creationId xmlns:a16="http://schemas.microsoft.com/office/drawing/2014/main" id="{44845CA7-C013-78C2-DD74-8F280447DCAB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70390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12">
            <a:extLst>
              <a:ext uri="{FF2B5EF4-FFF2-40B4-BE49-F238E27FC236}">
                <a16:creationId xmlns:a16="http://schemas.microsoft.com/office/drawing/2014/main" id="{2DE17CD8-A8C0-3645-A2E5-11EE8D875825}"/>
              </a:ext>
            </a:extLst>
          </p:cNvPr>
          <p:cNvSpPr/>
          <p:nvPr/>
        </p:nvSpPr>
        <p:spPr>
          <a:xfrm>
            <a:off x="0" y="0"/>
            <a:ext cx="12192000" cy="1419971"/>
          </a:xfrm>
          <a:prstGeom prst="roundRect">
            <a:avLst>
              <a:gd name="adj" fmla="val 0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zh-TW" altLang="en-US"/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38943C63-3117-444A-400A-A2BC685579FC}"/>
              </a:ext>
            </a:extLst>
          </p:cNvPr>
          <p:cNvGrpSpPr/>
          <p:nvPr/>
        </p:nvGrpSpPr>
        <p:grpSpPr>
          <a:xfrm>
            <a:off x="767079" y="434443"/>
            <a:ext cx="13154564" cy="658368"/>
            <a:chOff x="767079" y="434443"/>
            <a:chExt cx="13154564" cy="658368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FE3E8061-64D6-8812-E88C-D58871C1D1DD}"/>
                </a:ext>
              </a:extLst>
            </p:cNvPr>
            <p:cNvGrpSpPr/>
            <p:nvPr/>
          </p:nvGrpSpPr>
          <p:grpSpPr>
            <a:xfrm>
              <a:off x="767079" y="434443"/>
              <a:ext cx="13154564" cy="658368"/>
              <a:chOff x="767079" y="434443"/>
              <a:chExt cx="13154564" cy="658368"/>
            </a:xfrm>
          </p:grpSpPr>
          <p:sp>
            <p:nvSpPr>
              <p:cNvPr id="4" name="Text 2"/>
              <p:cNvSpPr/>
              <p:nvPr/>
            </p:nvSpPr>
            <p:spPr>
              <a:xfrm>
                <a:off x="3497483" y="434443"/>
                <a:ext cx="1042416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3000" b="1" dirty="0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mbria" pitchFamily="34" charset="-120"/>
                  </a:rPr>
                  <a:t>矩陣運算、轉置與共軛轉置</a:t>
                </a:r>
                <a:endParaRPr lang="en-US" sz="3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44" name="矩形: 圓角 43">
                <a:extLst>
                  <a:ext uri="{FF2B5EF4-FFF2-40B4-BE49-F238E27FC236}">
                    <a16:creationId xmlns:a16="http://schemas.microsoft.com/office/drawing/2014/main" id="{2C2DF414-4626-92AB-A5B1-4E201F5E8DF2}"/>
                  </a:ext>
                </a:extLst>
              </p:cNvPr>
              <p:cNvSpPr/>
              <p:nvPr/>
            </p:nvSpPr>
            <p:spPr>
              <a:xfrm>
                <a:off x="767079" y="478973"/>
                <a:ext cx="2463485" cy="59436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1" name="Text 2">
              <a:extLst>
                <a:ext uri="{FF2B5EF4-FFF2-40B4-BE49-F238E27FC236}">
                  <a16:creationId xmlns:a16="http://schemas.microsoft.com/office/drawing/2014/main" id="{61C28678-34D8-5AC6-52C0-1B99A47BFB73}"/>
                </a:ext>
              </a:extLst>
            </p:cNvPr>
            <p:cNvSpPr/>
            <p:nvPr/>
          </p:nvSpPr>
          <p:spPr>
            <a:xfrm>
              <a:off x="767080" y="452157"/>
              <a:ext cx="246348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3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第一題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4EA9EBD9-9114-D5AD-EE52-55A4AC8709DE}"/>
              </a:ext>
            </a:extLst>
          </p:cNvPr>
          <p:cNvCxnSpPr>
            <a:cxnSpLocks/>
          </p:cNvCxnSpPr>
          <p:nvPr/>
        </p:nvCxnSpPr>
        <p:spPr>
          <a:xfrm>
            <a:off x="7454900" y="1698123"/>
            <a:ext cx="0" cy="4839837"/>
          </a:xfrm>
          <a:prstGeom prst="line">
            <a:avLst/>
          </a:prstGeom>
          <a:ln w="57150"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CBE1EC17-1C01-51A6-5294-4CF05A36B564}"/>
              </a:ext>
            </a:extLst>
          </p:cNvPr>
          <p:cNvGrpSpPr/>
          <p:nvPr/>
        </p:nvGrpSpPr>
        <p:grpSpPr>
          <a:xfrm>
            <a:off x="599497" y="1854415"/>
            <a:ext cx="6536050" cy="1984047"/>
            <a:chOff x="599497" y="1854415"/>
            <a:chExt cx="6258499" cy="1984047"/>
          </a:xfrm>
        </p:grpSpPr>
        <p:sp>
          <p:nvSpPr>
            <p:cNvPr id="72" name="Shape 6">
              <a:extLst>
                <a:ext uri="{FF2B5EF4-FFF2-40B4-BE49-F238E27FC236}">
                  <a16:creationId xmlns:a16="http://schemas.microsoft.com/office/drawing/2014/main" id="{ECB84DE8-C351-D691-8FF3-4024F31FD5EE}"/>
                </a:ext>
              </a:extLst>
            </p:cNvPr>
            <p:cNvSpPr/>
            <p:nvPr/>
          </p:nvSpPr>
          <p:spPr>
            <a:xfrm>
              <a:off x="599497" y="1854415"/>
              <a:ext cx="6258499" cy="1984047"/>
            </a:xfrm>
            <a:prstGeom prst="roundRect">
              <a:avLst>
                <a:gd name="adj" fmla="val 9804"/>
              </a:avLst>
            </a:prstGeom>
            <a:solidFill>
              <a:srgbClr val="FFFFFF"/>
            </a:solidFill>
            <a:ln w="15875">
              <a:solidFill>
                <a:srgbClr val="CFE8F3"/>
              </a:solidFill>
              <a:prstDash val="solid"/>
            </a:ln>
            <a:effectLst>
              <a:outerShdw blurRad="76200" dist="25400" dir="5400000" algn="bl" rotWithShape="0">
                <a:srgbClr val="1C2B3A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dirty="0"/>
            </a:p>
          </p:txBody>
        </p:sp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EADD3EA8-ADC0-A20F-5500-339013DB3E3E}"/>
                </a:ext>
              </a:extLst>
            </p:cNvPr>
            <p:cNvCxnSpPr>
              <a:cxnSpLocks/>
            </p:cNvCxnSpPr>
            <p:nvPr/>
          </p:nvCxnSpPr>
          <p:spPr>
            <a:xfrm>
              <a:off x="858577" y="2569691"/>
              <a:ext cx="5801686" cy="0"/>
            </a:xfrm>
            <a:prstGeom prst="line">
              <a:avLst/>
            </a:prstGeom>
            <a:ln w="57150">
              <a:prstDash val="soli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BDDDA763-E3C2-2E57-4FC9-A6D60F4190F7}"/>
                    </a:ext>
                  </a:extLst>
                </p:cNvPr>
                <p:cNvSpPr txBox="1"/>
                <p:nvPr/>
              </p:nvSpPr>
              <p:spPr>
                <a:xfrm>
                  <a:off x="879538" y="2838425"/>
                  <a:ext cx="2008499" cy="6299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altLang="zh-TW" sz="23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23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TW" alt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TW" altLang="en-US" sz="23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TW" altLang="en-US" sz="2300" dirty="0"/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BDDDA763-E3C2-2E57-4FC9-A6D60F419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538" y="2838425"/>
                  <a:ext cx="2008499" cy="6299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Text 2">
              <a:extLst>
                <a:ext uri="{FF2B5EF4-FFF2-40B4-BE49-F238E27FC236}">
                  <a16:creationId xmlns:a16="http://schemas.microsoft.com/office/drawing/2014/main" id="{1F9F9E86-C55A-2B26-626E-7245E6D11DB7}"/>
                </a:ext>
              </a:extLst>
            </p:cNvPr>
            <p:cNvSpPr/>
            <p:nvPr/>
          </p:nvSpPr>
          <p:spPr>
            <a:xfrm>
              <a:off x="950022" y="1910572"/>
              <a:ext cx="491160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zh-TW" altLang="en-US" sz="2500" b="1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轉置矩陣</a:t>
              </a:r>
              <a:endParaRPr lang="en-US" sz="25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A328B18C-BC49-741C-D4C8-0DE3F9BCAD43}"/>
                    </a:ext>
                  </a:extLst>
                </p:cNvPr>
                <p:cNvSpPr txBox="1"/>
                <p:nvPr/>
              </p:nvSpPr>
              <p:spPr>
                <a:xfrm>
                  <a:off x="4252468" y="2846438"/>
                  <a:ext cx="2062335" cy="6299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zh-TW" sz="2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3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TW" sz="23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TW" sz="23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TW" alt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TW" altLang="en-US" sz="23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23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3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3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TW" sz="23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3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3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300" b="0" i="1" smtClean="0"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TW" altLang="en-US" sz="2300" dirty="0"/>
                </a:p>
              </p:txBody>
            </p:sp>
          </mc:Choice>
          <mc:Fallback xmlns="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A328B18C-BC49-741C-D4C8-0DE3F9BCA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2468" y="2846438"/>
                  <a:ext cx="2062335" cy="6299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E9EBF497-E09C-593C-4A7F-C8ED3797E9A0}"/>
              </a:ext>
            </a:extLst>
          </p:cNvPr>
          <p:cNvGrpSpPr/>
          <p:nvPr/>
        </p:nvGrpSpPr>
        <p:grpSpPr>
          <a:xfrm>
            <a:off x="563249" y="4211910"/>
            <a:ext cx="6536051" cy="1984047"/>
            <a:chOff x="599497" y="1854415"/>
            <a:chExt cx="6258499" cy="1984047"/>
          </a:xfrm>
        </p:grpSpPr>
        <p:sp>
          <p:nvSpPr>
            <p:cNvPr id="99" name="Shape 6">
              <a:extLst>
                <a:ext uri="{FF2B5EF4-FFF2-40B4-BE49-F238E27FC236}">
                  <a16:creationId xmlns:a16="http://schemas.microsoft.com/office/drawing/2014/main" id="{ECBF559A-9BDC-20AE-7862-DC521E752B47}"/>
                </a:ext>
              </a:extLst>
            </p:cNvPr>
            <p:cNvSpPr/>
            <p:nvPr/>
          </p:nvSpPr>
          <p:spPr>
            <a:xfrm>
              <a:off x="599497" y="1854415"/>
              <a:ext cx="6258499" cy="1984047"/>
            </a:xfrm>
            <a:prstGeom prst="roundRect">
              <a:avLst>
                <a:gd name="adj" fmla="val 9804"/>
              </a:avLst>
            </a:prstGeom>
            <a:solidFill>
              <a:srgbClr val="FFFFFF"/>
            </a:solidFill>
            <a:ln w="15875">
              <a:solidFill>
                <a:srgbClr val="CFE8F3"/>
              </a:solidFill>
              <a:prstDash val="solid"/>
            </a:ln>
            <a:effectLst>
              <a:outerShdw blurRad="76200" dist="25400" dir="5400000" algn="bl" rotWithShape="0">
                <a:srgbClr val="1C2B3A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dirty="0"/>
            </a:p>
          </p:txBody>
        </p:sp>
        <p:cxnSp>
          <p:nvCxnSpPr>
            <p:cNvPr id="100" name="直線接點 99">
              <a:extLst>
                <a:ext uri="{FF2B5EF4-FFF2-40B4-BE49-F238E27FC236}">
                  <a16:creationId xmlns:a16="http://schemas.microsoft.com/office/drawing/2014/main" id="{9DF7B2A0-509F-4ECA-E85B-A798CDE2A955}"/>
                </a:ext>
              </a:extLst>
            </p:cNvPr>
            <p:cNvCxnSpPr>
              <a:cxnSpLocks/>
            </p:cNvCxnSpPr>
            <p:nvPr/>
          </p:nvCxnSpPr>
          <p:spPr>
            <a:xfrm>
              <a:off x="858577" y="2569691"/>
              <a:ext cx="5801686" cy="0"/>
            </a:xfrm>
            <a:prstGeom prst="line">
              <a:avLst/>
            </a:prstGeom>
            <a:ln w="57150">
              <a:prstDash val="soli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 2">
              <a:extLst>
                <a:ext uri="{FF2B5EF4-FFF2-40B4-BE49-F238E27FC236}">
                  <a16:creationId xmlns:a16="http://schemas.microsoft.com/office/drawing/2014/main" id="{F9B43204-BAF4-ED57-1E3F-B5E57E6725A6}"/>
                </a:ext>
              </a:extLst>
            </p:cNvPr>
            <p:cNvSpPr/>
            <p:nvPr/>
          </p:nvSpPr>
          <p:spPr>
            <a:xfrm>
              <a:off x="950022" y="1910572"/>
              <a:ext cx="491160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zh-TW" altLang="en-US" sz="2500" b="1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共軛矩陣</a:t>
              </a:r>
              <a:endParaRPr lang="en-US" sz="25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F074160D-832B-8293-FF5D-1B1C506206E4}"/>
                  </a:ext>
                </a:extLst>
              </p:cNvPr>
              <p:cNvSpPr txBox="1"/>
              <p:nvPr/>
            </p:nvSpPr>
            <p:spPr>
              <a:xfrm>
                <a:off x="839364" y="5255319"/>
                <a:ext cx="2742289" cy="6710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3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3−1</m:t>
                                </m:r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4+5</m:t>
                                </m:r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300" dirty="0"/>
              </a:p>
            </p:txBody>
          </p:sp>
        </mc:Choice>
        <mc:Fallback xmlns=""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F074160D-832B-8293-FF5D-1B1C50620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64" y="5255319"/>
                <a:ext cx="2742289" cy="6710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43F816BB-4943-D086-3807-95DF3DD7149F}"/>
                  </a:ext>
                </a:extLst>
              </p:cNvPr>
              <p:cNvSpPr txBox="1"/>
              <p:nvPr/>
            </p:nvSpPr>
            <p:spPr>
              <a:xfrm>
                <a:off x="3970588" y="5225311"/>
                <a:ext cx="2922210" cy="6710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r>
                        <a:rPr lang="en-US" altLang="zh-TW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3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en-US" altLang="zh-TW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3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23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3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3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zh-TW" sz="23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TW" sz="23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300" dirty="0"/>
              </a:p>
            </p:txBody>
          </p:sp>
        </mc:Choice>
        <mc:Fallback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43F816BB-4943-D086-3807-95DF3DD71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588" y="5225311"/>
                <a:ext cx="2922210" cy="6710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D1E89763-F5C4-0235-C780-A6BA4FBC3AFB}"/>
              </a:ext>
            </a:extLst>
          </p:cNvPr>
          <p:cNvSpPr txBox="1"/>
          <p:nvPr/>
        </p:nvSpPr>
        <p:spPr>
          <a:xfrm>
            <a:off x="7707431" y="1844096"/>
            <a:ext cx="4192468" cy="60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列和行交換</a:t>
            </a:r>
            <a:endParaRPr lang="en-US" altLang="zh-TW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3" name="圖片 112">
            <a:extLst>
              <a:ext uri="{FF2B5EF4-FFF2-40B4-BE49-F238E27FC236}">
                <a16:creationId xmlns:a16="http://schemas.microsoft.com/office/drawing/2014/main" id="{DF8D4BA5-7DAA-24CC-1329-2CA315A441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4254" y="2687853"/>
            <a:ext cx="2366563" cy="601447"/>
          </a:xfrm>
          <a:prstGeom prst="rect">
            <a:avLst/>
          </a:prstGeom>
        </p:spPr>
      </p:pic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86B0FC9C-CA77-D4DA-CFC3-3B42EEB79450}"/>
              </a:ext>
            </a:extLst>
          </p:cNvPr>
          <p:cNvSpPr txBox="1"/>
          <p:nvPr/>
        </p:nvSpPr>
        <p:spPr>
          <a:xfrm>
            <a:off x="7774254" y="4165034"/>
            <a:ext cx="419246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列和行交換，</a:t>
            </a:r>
            <a:endParaRPr lang="en-US" altLang="zh-TW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 algn="l">
              <a:buNone/>
            </a:pP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數值虛部正負號相反</a:t>
            </a:r>
            <a:endParaRPr lang="en-US" altLang="zh-TW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9" name="圖片 118">
            <a:extLst>
              <a:ext uri="{FF2B5EF4-FFF2-40B4-BE49-F238E27FC236}">
                <a16:creationId xmlns:a16="http://schemas.microsoft.com/office/drawing/2014/main" id="{B7323DA7-2B94-7360-319E-A38720494D5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6006" b="3477"/>
          <a:stretch>
            <a:fillRect/>
          </a:stretch>
        </p:blipFill>
        <p:spPr>
          <a:xfrm>
            <a:off x="7810501" y="5180936"/>
            <a:ext cx="2366563" cy="601447"/>
          </a:xfrm>
          <a:prstGeom prst="rect">
            <a:avLst/>
          </a:prstGeom>
        </p:spPr>
      </p:pic>
      <p:sp>
        <p:nvSpPr>
          <p:cNvPr id="3" name="Text 25">
            <a:extLst>
              <a:ext uri="{FF2B5EF4-FFF2-40B4-BE49-F238E27FC236}">
                <a16:creationId xmlns:a16="http://schemas.microsoft.com/office/drawing/2014/main" id="{355D39D4-9AAF-DAEE-D7D0-F2734D2094B2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ACDCBE-8C39-E3D9-7BE3-06A024C64FC2}"/>
              </a:ext>
            </a:extLst>
          </p:cNvPr>
          <p:cNvSpPr/>
          <p:nvPr/>
        </p:nvSpPr>
        <p:spPr>
          <a:xfrm>
            <a:off x="1600200" y="2838425"/>
            <a:ext cx="1200150" cy="3505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FFECCC-BA32-8AB9-B681-E8A467549340}"/>
              </a:ext>
            </a:extLst>
          </p:cNvPr>
          <p:cNvSpPr/>
          <p:nvPr/>
        </p:nvSpPr>
        <p:spPr>
          <a:xfrm>
            <a:off x="5239906" y="2791846"/>
            <a:ext cx="502920" cy="7391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7364B-8071-366A-6870-27D3815A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6">
            <a:extLst>
              <a:ext uri="{FF2B5EF4-FFF2-40B4-BE49-F238E27FC236}">
                <a16:creationId xmlns:a16="http://schemas.microsoft.com/office/drawing/2014/main" id="{71D4FA9C-BA06-9251-2939-EF015357AB28}"/>
              </a:ext>
            </a:extLst>
          </p:cNvPr>
          <p:cNvSpPr/>
          <p:nvPr/>
        </p:nvSpPr>
        <p:spPr>
          <a:xfrm>
            <a:off x="478559" y="1695504"/>
            <a:ext cx="9292761" cy="1504585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5875">
            <a:solidFill>
              <a:srgbClr val="CFE8F3"/>
            </a:solidFill>
            <a:prstDash val="solid"/>
          </a:ln>
          <a:effectLst>
            <a:outerShdw blurRad="76200" dist="25400" dir="5400000" algn="bl" rotWithShape="0">
              <a:srgbClr val="1C2B3A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A7D143FA-62BA-E4E9-D4D2-2315C17BE4E2}"/>
              </a:ext>
            </a:extLst>
          </p:cNvPr>
          <p:cNvSpPr/>
          <p:nvPr/>
        </p:nvSpPr>
        <p:spPr>
          <a:xfrm>
            <a:off x="0" y="0"/>
            <a:ext cx="12192000" cy="1419971"/>
          </a:xfrm>
          <a:prstGeom prst="roundRect">
            <a:avLst>
              <a:gd name="adj" fmla="val 0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35B4EB15-C43D-8B0A-69D3-0327BDCFB56E}"/>
              </a:ext>
            </a:extLst>
          </p:cNvPr>
          <p:cNvGrpSpPr/>
          <p:nvPr/>
        </p:nvGrpSpPr>
        <p:grpSpPr>
          <a:xfrm>
            <a:off x="729394" y="404315"/>
            <a:ext cx="13154564" cy="658368"/>
            <a:chOff x="767079" y="434443"/>
            <a:chExt cx="13154564" cy="658368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A0FC5982-7810-3189-FCBA-1C4CBF3530B7}"/>
                </a:ext>
              </a:extLst>
            </p:cNvPr>
            <p:cNvGrpSpPr/>
            <p:nvPr/>
          </p:nvGrpSpPr>
          <p:grpSpPr>
            <a:xfrm>
              <a:off x="767079" y="434443"/>
              <a:ext cx="13154564" cy="658368"/>
              <a:chOff x="767079" y="434443"/>
              <a:chExt cx="13154564" cy="658368"/>
            </a:xfrm>
          </p:grpSpPr>
          <p:sp>
            <p:nvSpPr>
              <p:cNvPr id="30" name="Text 2">
                <a:extLst>
                  <a:ext uri="{FF2B5EF4-FFF2-40B4-BE49-F238E27FC236}">
                    <a16:creationId xmlns:a16="http://schemas.microsoft.com/office/drawing/2014/main" id="{706D3A55-DAA9-631B-4FD6-ED7E4E14C90E}"/>
                  </a:ext>
                </a:extLst>
              </p:cNvPr>
              <p:cNvSpPr/>
              <p:nvPr/>
            </p:nvSpPr>
            <p:spPr>
              <a:xfrm>
                <a:off x="3497483" y="434443"/>
                <a:ext cx="1042416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zh-TW" altLang="en-US" sz="3000" b="1" dirty="0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時間向量與多個弦波</a:t>
                </a:r>
                <a:endParaRPr lang="en-US" sz="3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31" name="矩形: 圓角 30">
                <a:extLst>
                  <a:ext uri="{FF2B5EF4-FFF2-40B4-BE49-F238E27FC236}">
                    <a16:creationId xmlns:a16="http://schemas.microsoft.com/office/drawing/2014/main" id="{39759781-54D9-2821-0AB5-695C048A4940}"/>
                  </a:ext>
                </a:extLst>
              </p:cNvPr>
              <p:cNvSpPr/>
              <p:nvPr/>
            </p:nvSpPr>
            <p:spPr>
              <a:xfrm>
                <a:off x="767079" y="478973"/>
                <a:ext cx="2463485" cy="59436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9" name="Text 2">
              <a:extLst>
                <a:ext uri="{FF2B5EF4-FFF2-40B4-BE49-F238E27FC236}">
                  <a16:creationId xmlns:a16="http://schemas.microsoft.com/office/drawing/2014/main" id="{201647AC-42A7-85EB-ED68-3C2082AE6830}"/>
                </a:ext>
              </a:extLst>
            </p:cNvPr>
            <p:cNvSpPr/>
            <p:nvPr/>
          </p:nvSpPr>
          <p:spPr>
            <a:xfrm>
              <a:off x="767080" y="452157"/>
              <a:ext cx="246348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3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第二題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05BD6AD-AAA9-E59A-7B0F-197F6FE54F2A}"/>
              </a:ext>
            </a:extLst>
          </p:cNvPr>
          <p:cNvSpPr txBox="1"/>
          <p:nvPr/>
        </p:nvSpPr>
        <p:spPr>
          <a:xfrm>
            <a:off x="679767" y="2603137"/>
            <a:ext cx="68986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150"/>
              </a:spcBef>
              <a:spcAft>
                <a:spcPts val="675"/>
              </a:spcAft>
              <a:buNone/>
            </a:pPr>
            <a:r>
              <a:rPr lang="zh-TW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時間</a:t>
            </a:r>
            <a:r>
              <a:rPr lang="en-US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(t)</a:t>
            </a:r>
            <a:r>
              <a:rPr lang="zh-TW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：-0.2 ~ 0.2 sec</a:t>
            </a:r>
            <a:r>
              <a:rPr lang="en-US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      </a:t>
            </a:r>
            <a:r>
              <a:rPr lang="zh-TW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取樣頻率</a:t>
            </a:r>
            <a:r>
              <a:rPr lang="en-US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(fs)</a:t>
            </a:r>
            <a:r>
              <a:rPr lang="zh-TW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：100 kHz</a:t>
            </a:r>
            <a:r>
              <a:rPr lang="zh-TW" altLang="en-US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endParaRPr lang="zh-TW" altLang="zh-TW" sz="2000" b="0" i="0" u="none" strike="noStrike" dirty="0">
              <a:solidFill>
                <a:srgbClr val="21212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BC7429F-24A2-179E-CD96-604C8C076E7C}"/>
              </a:ext>
            </a:extLst>
          </p:cNvPr>
          <p:cNvSpPr txBox="1"/>
          <p:nvPr/>
        </p:nvSpPr>
        <p:spPr>
          <a:xfrm>
            <a:off x="679767" y="1721901"/>
            <a:ext cx="9675813" cy="60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50"/>
              </a:spcBef>
              <a:spcAft>
                <a:spcPts val="675"/>
              </a:spcAft>
              <a:buNone/>
            </a:pPr>
            <a:r>
              <a:rPr lang="zh-TW" altLang="zh-TW" sz="25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建立時間向量，產生</a:t>
            </a:r>
            <a:r>
              <a:rPr lang="zh-TW" altLang="en-US" sz="25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三個</a:t>
            </a:r>
            <a:r>
              <a:rPr lang="zh-TW" altLang="zh-TW" sz="25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弦波，畫出單獨波形與相加後波形。</a:t>
            </a: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1510CADB-9A1F-7700-E2D8-E81F8AEA402E}"/>
              </a:ext>
            </a:extLst>
          </p:cNvPr>
          <p:cNvCxnSpPr>
            <a:cxnSpLocks/>
          </p:cNvCxnSpPr>
          <p:nvPr/>
        </p:nvCxnSpPr>
        <p:spPr>
          <a:xfrm>
            <a:off x="747201" y="2422594"/>
            <a:ext cx="8580693" cy="0"/>
          </a:xfrm>
          <a:prstGeom prst="line">
            <a:avLst/>
          </a:prstGeom>
          <a:ln w="57150">
            <a:prstDash val="soli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B0E3E111-AB2B-DC71-5336-A88F2B639FB6}"/>
              </a:ext>
            </a:extLst>
          </p:cNvPr>
          <p:cNvGrpSpPr/>
          <p:nvPr/>
        </p:nvGrpSpPr>
        <p:grpSpPr>
          <a:xfrm>
            <a:off x="545250" y="4242843"/>
            <a:ext cx="3433822" cy="2254796"/>
            <a:chOff x="545250" y="4001933"/>
            <a:chExt cx="3433822" cy="2254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B4C44BCD-B530-243F-9F40-85312A81C14C}"/>
                    </a:ext>
                  </a:extLst>
                </p:cNvPr>
                <p:cNvSpPr txBox="1"/>
                <p:nvPr/>
              </p:nvSpPr>
              <p:spPr>
                <a:xfrm>
                  <a:off x="664169" y="4132755"/>
                  <a:ext cx="3195983" cy="1289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85725" marR="0" lvl="0" indent="0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zh-TW" altLang="en-US" b="1" dirty="0">
                      <a:solidFill>
                        <a:srgbClr val="16233B"/>
                      </a:solidFill>
                      <a:latin typeface="Times New Roman" panose="02020603050405020304" pitchFamily="18" charset="0"/>
                      <a:ea typeface="標楷體" panose="03000509000000000000" pitchFamily="65" charset="-120"/>
                      <a:cs typeface="Calibri" pitchFamily="34" charset="-120"/>
                    </a:rPr>
                    <a:t>建立</a:t>
                  </a:r>
                  <a:r>
                    <a:rPr lang="en-US" altLang="zh-TW" b="1" dirty="0" err="1">
                      <a:solidFill>
                        <a:schemeClr val="accent1"/>
                      </a:solidFill>
                      <a:latin typeface="Times New Roman" panose="02020603050405020304" pitchFamily="18" charset="0"/>
                      <a:ea typeface="標楷體" panose="03000509000000000000" pitchFamily="65" charset="-120"/>
                      <a:cs typeface="Calibri" pitchFamily="34" charset="-120"/>
                    </a:rPr>
                    <a:t>取樣頻率</a:t>
                  </a:r>
                  <a:r>
                    <a:rPr lang="en-US" altLang="zh-TW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ea typeface="標楷體" panose="03000509000000000000" pitchFamily="65" charset="-120"/>
                      <a:cs typeface="Calibri" pitchFamily="34" charset="-120"/>
                    </a:rPr>
                    <a:t>(fs)</a:t>
                  </a:r>
                  <a:r>
                    <a:rPr lang="en-US" altLang="zh-TW" b="1" dirty="0">
                      <a:latin typeface="Times New Roman" panose="02020603050405020304" pitchFamily="18" charset="0"/>
                      <a:ea typeface="標楷體" panose="03000509000000000000" pitchFamily="65" charset="-120"/>
                      <a:cs typeface="Calibri" pitchFamily="34" charset="-120"/>
                    </a:rPr>
                    <a:t>，</a:t>
                  </a:r>
                  <a:r>
                    <a:rPr lang="en-US" altLang="zh-TW" b="1" dirty="0" err="1">
                      <a:solidFill>
                        <a:srgbClr val="16233B"/>
                      </a:solidFill>
                      <a:latin typeface="Times New Roman" panose="02020603050405020304" pitchFamily="18" charset="0"/>
                      <a:ea typeface="標楷體" panose="03000509000000000000" pitchFamily="65" charset="-120"/>
                      <a:cs typeface="Calibri" pitchFamily="34" charset="-120"/>
                    </a:rPr>
                    <a:t>決定訊號取樣的密集程度</a:t>
                  </a:r>
                  <a:endParaRPr lang="en-US" altLang="zh-TW" b="1" dirty="0">
                    <a:solidFill>
                      <a:srgbClr val="16233B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libri" pitchFamily="34" charset="-120"/>
                  </a:endParaRPr>
                </a:p>
                <a:p>
                  <a:pPr marL="85725" lvl="0">
                    <a:lnSpc>
                      <a:spcPct val="150000"/>
                    </a:lnSpc>
                    <a:defRPr/>
                  </a:pPr>
                  <a:r>
                    <a:rPr lang="en-US" altLang="zh-TW" b="1" dirty="0">
                      <a:latin typeface="Times New Roman" panose="02020603050405020304" pitchFamily="18" charset="0"/>
                      <a:ea typeface="標楷體" panose="03000509000000000000" pitchFamily="65" charset="-120"/>
                    </a:rPr>
                    <a:t>(e</a:t>
                  </a:r>
                  <a:r>
                    <a:rPr lang="zh-TW" altLang="en-US" b="1" dirty="0">
                      <a:latin typeface="Times New Roman" panose="02020603050405020304" pitchFamily="18" charset="0"/>
                      <a:ea typeface="標楷體" panose="03000509000000000000" pitchFamily="65" charset="-120"/>
                    </a:rPr>
                    <a:t>表示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b="1" i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altLang="zh-TW" b="1" i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m:t>10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𝒏</m:t>
                          </m:r>
                        </m:sup>
                      </m:sSup>
                    </m:oMath>
                  </a14:m>
                  <a:r>
                    <a:rPr lang="en-US" altLang="zh-TW" b="1" dirty="0">
                      <a:latin typeface="Times New Roman" panose="02020603050405020304" pitchFamily="18" charset="0"/>
                      <a:ea typeface="標楷體" panose="03000509000000000000" pitchFamily="65" charset="-12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B4C44BCD-B530-243F-9F40-85312A81C1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169" y="4132755"/>
                  <a:ext cx="3195983" cy="1289905"/>
                </a:xfrm>
                <a:prstGeom prst="rect">
                  <a:avLst/>
                </a:prstGeom>
                <a:blipFill>
                  <a:blip r:embed="rId3"/>
                  <a:stretch>
                    <a:fillRect b="-70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7" name="圖片 86">
              <a:extLst>
                <a:ext uri="{FF2B5EF4-FFF2-40B4-BE49-F238E27FC236}">
                  <a16:creationId xmlns:a16="http://schemas.microsoft.com/office/drawing/2014/main" id="{CE423703-42CC-3FCC-7A58-C68C4D595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2003" b="46674"/>
            <a:stretch>
              <a:fillRect/>
            </a:stretch>
          </p:blipFill>
          <p:spPr>
            <a:xfrm>
              <a:off x="822532" y="5553481"/>
              <a:ext cx="1727241" cy="473182"/>
            </a:xfrm>
            <a:prstGeom prst="rect">
              <a:avLst/>
            </a:prstGeom>
          </p:spPr>
        </p:pic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410976C9-1BFC-4BD7-B969-82332D595123}"/>
                </a:ext>
              </a:extLst>
            </p:cNvPr>
            <p:cNvSpPr/>
            <p:nvPr/>
          </p:nvSpPr>
          <p:spPr>
            <a:xfrm>
              <a:off x="545250" y="4001933"/>
              <a:ext cx="3433822" cy="2254796"/>
            </a:xfrm>
            <a:prstGeom prst="roundRect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43640319-A339-49B4-8864-4C2D57A78E6B}"/>
              </a:ext>
            </a:extLst>
          </p:cNvPr>
          <p:cNvGrpSpPr/>
          <p:nvPr/>
        </p:nvGrpSpPr>
        <p:grpSpPr>
          <a:xfrm>
            <a:off x="4306338" y="4242843"/>
            <a:ext cx="3583484" cy="2254796"/>
            <a:chOff x="4306338" y="4011559"/>
            <a:chExt cx="3583484" cy="2254796"/>
          </a:xfrm>
        </p:grpSpPr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ABC7E7AA-22AC-AEF3-F408-BF6EECEF498D}"/>
                </a:ext>
              </a:extLst>
            </p:cNvPr>
            <p:cNvSpPr txBox="1"/>
            <p:nvPr/>
          </p:nvSpPr>
          <p:spPr>
            <a:xfrm>
              <a:off x="4511272" y="4188580"/>
              <a:ext cx="3173616" cy="12899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zh-TW" altLang="en-US" b="1" baseline="0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建立</a:t>
              </a:r>
              <a:r>
                <a:rPr lang="en-US" altLang="zh-TW" b="1" baseline="0" dirty="0" err="1">
                  <a:solidFill>
                    <a:schemeClr val="accent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時間向量</a:t>
              </a:r>
              <a:r>
                <a:rPr lang="en-US" altLang="zh-TW" b="1" baseline="0" dirty="0">
                  <a:solidFill>
                    <a:schemeClr val="accent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(t)</a:t>
              </a:r>
              <a:r>
                <a:rPr lang="en-US" altLang="zh-TW" b="1" baseline="0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，</a:t>
              </a:r>
              <a:r>
                <a:rPr lang="en-US" altLang="zh-TW" b="1" baseline="0" dirty="0" err="1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訊號的時間軸</a:t>
              </a:r>
              <a:endParaRPr lang="en-US" altLang="zh-TW" b="1" baseline="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altLang="zh-TW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起點 </a:t>
              </a:r>
              <a:r>
                <a:rPr lang="en-US" altLang="zh-TW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:</a:t>
              </a:r>
              <a:r>
                <a:rPr lang="zh-TW" altLang="en-US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間隔 </a:t>
              </a:r>
              <a:r>
                <a:rPr lang="en-US" altLang="zh-TW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:</a:t>
              </a:r>
              <a:r>
                <a:rPr lang="zh-TW" altLang="en-US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終點</a:t>
              </a:r>
              <a:r>
                <a:rPr lang="en-US" altLang="zh-TW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1B5BC5DB-7540-803E-E22A-B3BF799FFE14}"/>
                </a:ext>
              </a:extLst>
            </p:cNvPr>
            <p:cNvSpPr/>
            <p:nvPr/>
          </p:nvSpPr>
          <p:spPr>
            <a:xfrm>
              <a:off x="4306338" y="4011559"/>
              <a:ext cx="3583484" cy="2254796"/>
            </a:xfrm>
            <a:prstGeom prst="roundRect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E5D54F79-705E-895D-6C63-1836F9512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1819" y="5514253"/>
              <a:ext cx="3028361" cy="473182"/>
            </a:xfrm>
            <a:prstGeom prst="rect">
              <a:avLst/>
            </a:prstGeom>
          </p:spPr>
        </p:pic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8DBC9CC9-80EE-51F3-0412-2E6ADAE6B58A}"/>
              </a:ext>
            </a:extLst>
          </p:cNvPr>
          <p:cNvGrpSpPr/>
          <p:nvPr/>
        </p:nvGrpSpPr>
        <p:grpSpPr>
          <a:xfrm>
            <a:off x="8217088" y="4254126"/>
            <a:ext cx="3583484" cy="2223218"/>
            <a:chOff x="8217088" y="4033510"/>
            <a:chExt cx="3583484" cy="2223218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E041C76B-B97A-D310-21FB-A260ABFC0C38}"/>
                </a:ext>
              </a:extLst>
            </p:cNvPr>
            <p:cNvSpPr/>
            <p:nvPr/>
          </p:nvSpPr>
          <p:spPr>
            <a:xfrm>
              <a:off x="8217088" y="4033510"/>
              <a:ext cx="3583484" cy="2223218"/>
            </a:xfrm>
            <a:prstGeom prst="roundRect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B6AD3317-64A2-5993-68A6-299047CBCFF5}"/>
                </a:ext>
              </a:extLst>
            </p:cNvPr>
            <p:cNvSpPr txBox="1"/>
            <p:nvPr/>
          </p:nvSpPr>
          <p:spPr>
            <a:xfrm>
              <a:off x="8422022" y="4209682"/>
              <a:ext cx="3173616" cy="4589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zh-TW" altLang="en-US" b="1" baseline="0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建立</a:t>
              </a:r>
              <a:r>
                <a:rPr lang="zh-TW" altLang="en-US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弦波</a:t>
              </a:r>
              <a:r>
                <a:rPr lang="zh-TW" altLang="en-US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訊號</a:t>
              </a:r>
              <a:endParaRPr lang="en-US" altLang="zh-TW" b="1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820FF95B-C903-D166-4EEC-E67509969ED5}"/>
                    </a:ext>
                  </a:extLst>
                </p:cNvPr>
                <p:cNvSpPr txBox="1"/>
                <p:nvPr/>
              </p:nvSpPr>
              <p:spPr>
                <a:xfrm>
                  <a:off x="8998521" y="4874676"/>
                  <a:ext cx="20206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zh-TW" altLang="en-US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𝒇𝒕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820FF95B-C903-D166-4EEC-E67509969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8521" y="4874676"/>
                  <a:ext cx="202061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205" t="-2222" r="-3614" b="-3555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698108C-DFCE-236E-A20B-C0B156379A95}"/>
              </a:ext>
            </a:extLst>
          </p:cNvPr>
          <p:cNvGrpSpPr/>
          <p:nvPr/>
        </p:nvGrpSpPr>
        <p:grpSpPr>
          <a:xfrm>
            <a:off x="1352991" y="3475846"/>
            <a:ext cx="9166805" cy="488077"/>
            <a:chOff x="747201" y="3326640"/>
            <a:chExt cx="9166805" cy="488077"/>
          </a:xfrm>
        </p:grpSpPr>
        <p:sp>
          <p:nvSpPr>
            <p:cNvPr id="6" name="Shape 12">
              <a:extLst>
                <a:ext uri="{FF2B5EF4-FFF2-40B4-BE49-F238E27FC236}">
                  <a16:creationId xmlns:a16="http://schemas.microsoft.com/office/drawing/2014/main" id="{31EC98F2-A338-5521-D78C-75B8966EA98A}"/>
                </a:ext>
              </a:extLst>
            </p:cNvPr>
            <p:cNvSpPr/>
            <p:nvPr/>
          </p:nvSpPr>
          <p:spPr>
            <a:xfrm>
              <a:off x="747201" y="3330910"/>
              <a:ext cx="1841210" cy="480060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8F868038-80B6-67FE-87E4-8183260FA288}"/>
                </a:ext>
              </a:extLst>
            </p:cNvPr>
            <p:cNvCxnSpPr>
              <a:stCxn id="6" idx="3"/>
            </p:cNvCxnSpPr>
            <p:nvPr/>
          </p:nvCxnSpPr>
          <p:spPr>
            <a:xfrm>
              <a:off x="2588411" y="3570940"/>
              <a:ext cx="604469" cy="66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625DD43F-1C99-37F3-81E0-7850D66AB97B}"/>
                </a:ext>
              </a:extLst>
            </p:cNvPr>
            <p:cNvSpPr/>
            <p:nvPr/>
          </p:nvSpPr>
          <p:spPr>
            <a:xfrm>
              <a:off x="3192880" y="3334657"/>
              <a:ext cx="1841210" cy="480060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C9A3C622-F26E-EB68-1547-FFA609E1E349}"/>
                </a:ext>
              </a:extLst>
            </p:cNvPr>
            <p:cNvCxnSpPr>
              <a:stCxn id="11" idx="3"/>
            </p:cNvCxnSpPr>
            <p:nvPr/>
          </p:nvCxnSpPr>
          <p:spPr>
            <a:xfrm>
              <a:off x="5034090" y="3574687"/>
              <a:ext cx="604469" cy="66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14A31ADA-9AB3-0BED-FF24-47049A0A7E3D}"/>
                </a:ext>
              </a:extLst>
            </p:cNvPr>
            <p:cNvSpPr/>
            <p:nvPr/>
          </p:nvSpPr>
          <p:spPr>
            <a:xfrm>
              <a:off x="5632838" y="3334657"/>
              <a:ext cx="1841210" cy="480060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613624A4-B74B-70EF-6B67-28A270670ED0}"/>
                </a:ext>
              </a:extLst>
            </p:cNvPr>
            <p:cNvCxnSpPr>
              <a:stCxn id="15" idx="3"/>
            </p:cNvCxnSpPr>
            <p:nvPr/>
          </p:nvCxnSpPr>
          <p:spPr>
            <a:xfrm>
              <a:off x="7474048" y="3574687"/>
              <a:ext cx="604469" cy="66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7752D00B-D8F2-760E-B74D-43FA8EB62580}"/>
                </a:ext>
              </a:extLst>
            </p:cNvPr>
            <p:cNvSpPr/>
            <p:nvPr/>
          </p:nvSpPr>
          <p:spPr>
            <a:xfrm>
              <a:off x="8072796" y="3326640"/>
              <a:ext cx="1841210" cy="480060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97923B3-2724-AFC3-A457-F6E888F119FF}"/>
              </a:ext>
            </a:extLst>
          </p:cNvPr>
          <p:cNvSpPr txBox="1"/>
          <p:nvPr/>
        </p:nvSpPr>
        <p:spPr>
          <a:xfrm>
            <a:off x="1409196" y="3519294"/>
            <a:ext cx="170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b="1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建立 </a:t>
            </a:r>
            <a:r>
              <a:rPr lang="en-US" altLang="zh-TW" sz="1800" b="1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fs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0B3C006-177A-19DD-90A6-D60F306BBEF9}"/>
              </a:ext>
            </a:extLst>
          </p:cNvPr>
          <p:cNvSpPr txBox="1"/>
          <p:nvPr/>
        </p:nvSpPr>
        <p:spPr>
          <a:xfrm>
            <a:off x="3860152" y="3526728"/>
            <a:ext cx="170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b="1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建立 </a:t>
            </a:r>
            <a:r>
              <a:rPr lang="en-US" altLang="zh-TW" sz="1800" b="1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t</a:t>
            </a:r>
            <a:endParaRPr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D7B2F81-55E0-B1CF-74EE-D862A9BB5D90}"/>
              </a:ext>
            </a:extLst>
          </p:cNvPr>
          <p:cNvSpPr txBox="1"/>
          <p:nvPr/>
        </p:nvSpPr>
        <p:spPr>
          <a:xfrm>
            <a:off x="6318150" y="3549385"/>
            <a:ext cx="170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b="1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建立 弦波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A4393FC-16A9-3A57-C4BF-A5FA97EE4B8E}"/>
              </a:ext>
            </a:extLst>
          </p:cNvPr>
          <p:cNvSpPr txBox="1"/>
          <p:nvPr/>
        </p:nvSpPr>
        <p:spPr>
          <a:xfrm>
            <a:off x="8746227" y="3529189"/>
            <a:ext cx="170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b="1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畫圖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A627D08-F500-997A-14DC-2E0EF76335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7165" y="5709769"/>
            <a:ext cx="3098473" cy="527688"/>
          </a:xfrm>
          <a:prstGeom prst="rect">
            <a:avLst/>
          </a:prstGeom>
        </p:spPr>
      </p:pic>
      <p:sp>
        <p:nvSpPr>
          <p:cNvPr id="19" name="Text 25">
            <a:extLst>
              <a:ext uri="{FF2B5EF4-FFF2-40B4-BE49-F238E27FC236}">
                <a16:creationId xmlns:a16="http://schemas.microsoft.com/office/drawing/2014/main" id="{E84DBF91-3B23-C90C-DE12-4364F7AB87CB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46023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1C4D-17E0-4AFC-BBEA-60C0AAC5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">
            <a:extLst>
              <a:ext uri="{FF2B5EF4-FFF2-40B4-BE49-F238E27FC236}">
                <a16:creationId xmlns:a16="http://schemas.microsoft.com/office/drawing/2014/main" id="{BDC2E5B3-6959-ECB2-A4EB-ABA1C1A62E49}"/>
              </a:ext>
            </a:extLst>
          </p:cNvPr>
          <p:cNvSpPr/>
          <p:nvPr/>
        </p:nvSpPr>
        <p:spPr>
          <a:xfrm>
            <a:off x="565188" y="1724111"/>
            <a:ext cx="6865516" cy="4685044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5875">
            <a:solidFill>
              <a:srgbClr val="CFE8F3"/>
            </a:solidFill>
            <a:prstDash val="solid"/>
          </a:ln>
          <a:effectLst>
            <a:outerShdw blurRad="76200" dist="25400" dir="5400000" algn="bl" rotWithShape="0">
              <a:srgbClr val="1C2B3A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0E9DF75-AABB-56C4-B33F-9E8469EADF20}"/>
              </a:ext>
            </a:extLst>
          </p:cNvPr>
          <p:cNvCxnSpPr>
            <a:cxnSpLocks/>
          </p:cNvCxnSpPr>
          <p:nvPr/>
        </p:nvCxnSpPr>
        <p:spPr>
          <a:xfrm>
            <a:off x="920456" y="2451201"/>
            <a:ext cx="6231115" cy="0"/>
          </a:xfrm>
          <a:prstGeom prst="line">
            <a:avLst/>
          </a:prstGeom>
          <a:ln w="57150">
            <a:prstDash val="soli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Shape 12">
            <a:extLst>
              <a:ext uri="{FF2B5EF4-FFF2-40B4-BE49-F238E27FC236}">
                <a16:creationId xmlns:a16="http://schemas.microsoft.com/office/drawing/2014/main" id="{87ED66B6-430A-4D22-3A0F-23ED8970D52E}"/>
              </a:ext>
            </a:extLst>
          </p:cNvPr>
          <p:cNvSpPr/>
          <p:nvPr/>
        </p:nvSpPr>
        <p:spPr>
          <a:xfrm>
            <a:off x="0" y="0"/>
            <a:ext cx="12192000" cy="1419971"/>
          </a:xfrm>
          <a:prstGeom prst="roundRect">
            <a:avLst>
              <a:gd name="adj" fmla="val 0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AFF2370A-30BE-4E53-E715-2FE929872178}"/>
              </a:ext>
            </a:extLst>
          </p:cNvPr>
          <p:cNvGrpSpPr/>
          <p:nvPr/>
        </p:nvGrpSpPr>
        <p:grpSpPr>
          <a:xfrm>
            <a:off x="729394" y="404315"/>
            <a:ext cx="13154564" cy="658368"/>
            <a:chOff x="767079" y="434443"/>
            <a:chExt cx="13154564" cy="658368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3CCD7080-A84D-03F5-8DD3-FED1B42E9F26}"/>
                </a:ext>
              </a:extLst>
            </p:cNvPr>
            <p:cNvGrpSpPr/>
            <p:nvPr/>
          </p:nvGrpSpPr>
          <p:grpSpPr>
            <a:xfrm>
              <a:off x="767079" y="434443"/>
              <a:ext cx="13154564" cy="658368"/>
              <a:chOff x="767079" y="434443"/>
              <a:chExt cx="13154564" cy="658368"/>
            </a:xfrm>
          </p:grpSpPr>
          <p:sp>
            <p:nvSpPr>
              <p:cNvPr id="30" name="Text 2">
                <a:extLst>
                  <a:ext uri="{FF2B5EF4-FFF2-40B4-BE49-F238E27FC236}">
                    <a16:creationId xmlns:a16="http://schemas.microsoft.com/office/drawing/2014/main" id="{CA66DCE2-A8B4-5F90-61E6-F8452BB98F9F}"/>
                  </a:ext>
                </a:extLst>
              </p:cNvPr>
              <p:cNvSpPr/>
              <p:nvPr/>
            </p:nvSpPr>
            <p:spPr>
              <a:xfrm>
                <a:off x="3497483" y="434443"/>
                <a:ext cx="1042416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zh-TW" altLang="en-US" sz="3000" b="1" dirty="0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時間向量與多個弦波</a:t>
                </a:r>
                <a:endParaRPr lang="en-US" sz="3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31" name="矩形: 圓角 30">
                <a:extLst>
                  <a:ext uri="{FF2B5EF4-FFF2-40B4-BE49-F238E27FC236}">
                    <a16:creationId xmlns:a16="http://schemas.microsoft.com/office/drawing/2014/main" id="{00F0A398-B091-220C-6047-25546A816EEC}"/>
                  </a:ext>
                </a:extLst>
              </p:cNvPr>
              <p:cNvSpPr/>
              <p:nvPr/>
            </p:nvSpPr>
            <p:spPr>
              <a:xfrm>
                <a:off x="767079" y="478973"/>
                <a:ext cx="2463485" cy="59436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9" name="Text 2">
              <a:extLst>
                <a:ext uri="{FF2B5EF4-FFF2-40B4-BE49-F238E27FC236}">
                  <a16:creationId xmlns:a16="http://schemas.microsoft.com/office/drawing/2014/main" id="{19594E5C-4AB0-9DB3-70D4-B3EEB8328151}"/>
                </a:ext>
              </a:extLst>
            </p:cNvPr>
            <p:cNvSpPr/>
            <p:nvPr/>
          </p:nvSpPr>
          <p:spPr>
            <a:xfrm>
              <a:off x="767080" y="452157"/>
              <a:ext cx="246348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3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第二題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6226B27-8591-96D0-8D5F-6AD237FDE2F1}"/>
              </a:ext>
            </a:extLst>
          </p:cNvPr>
          <p:cNvSpPr txBox="1"/>
          <p:nvPr/>
        </p:nvSpPr>
        <p:spPr>
          <a:xfrm>
            <a:off x="920456" y="1763110"/>
            <a:ext cx="6231115" cy="60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50"/>
              </a:spcBef>
              <a:spcAft>
                <a:spcPts val="675"/>
              </a:spcAft>
              <a:buNone/>
            </a:pPr>
            <a:r>
              <a:rPr lang="zh-TW" altLang="zh-TW" sz="25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建立</a:t>
            </a:r>
            <a:r>
              <a:rPr lang="zh-TW" altLang="en-US" sz="25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圖形</a:t>
            </a:r>
            <a:endParaRPr lang="zh-TW" altLang="zh-TW" sz="2500" b="1" i="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720E9B-7A63-40CE-3633-7A0084B88145}"/>
              </a:ext>
            </a:extLst>
          </p:cNvPr>
          <p:cNvSpPr txBox="1"/>
          <p:nvPr/>
        </p:nvSpPr>
        <p:spPr>
          <a:xfrm>
            <a:off x="7832453" y="1945176"/>
            <a:ext cx="3535952" cy="1669688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675"/>
              </a:spcAft>
              <a:buNone/>
            </a:pP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完整的圖形須包含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</a:p>
          <a:p>
            <a:pPr algn="l">
              <a:spcBef>
                <a:spcPts val="150"/>
              </a:spcBef>
              <a:spcAft>
                <a:spcPts val="675"/>
              </a:spcAft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(1) X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軸標題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	(2)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軸標題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l">
              <a:spcBef>
                <a:spcPts val="150"/>
              </a:spcBef>
              <a:spcAft>
                <a:spcPts val="675"/>
              </a:spcAft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(3)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圖示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	(4)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圖標題 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l">
              <a:spcBef>
                <a:spcPts val="150"/>
              </a:spcBef>
              <a:spcAft>
                <a:spcPts val="675"/>
              </a:spcAft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(5)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格線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BE0E5707-0C70-409B-410F-FDCB243F2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24" y="2780020"/>
            <a:ext cx="5151467" cy="3253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05BF51-D299-3DF4-0804-41F20AF56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592" y="4066633"/>
            <a:ext cx="3891220" cy="2171844"/>
          </a:xfrm>
          <a:prstGeom prst="rect">
            <a:avLst/>
          </a:prstGeom>
        </p:spPr>
      </p:pic>
      <p:sp>
        <p:nvSpPr>
          <p:cNvPr id="7" name="Text 25">
            <a:extLst>
              <a:ext uri="{FF2B5EF4-FFF2-40B4-BE49-F238E27FC236}">
                <a16:creationId xmlns:a16="http://schemas.microsoft.com/office/drawing/2014/main" id="{F4744EDB-4D2A-0851-D206-EC64DE870328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2551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C33F5-8546-4674-A73C-AD48D598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">
            <a:extLst>
              <a:ext uri="{FF2B5EF4-FFF2-40B4-BE49-F238E27FC236}">
                <a16:creationId xmlns:a16="http://schemas.microsoft.com/office/drawing/2014/main" id="{277F41D7-5A82-DA0D-25C5-34F37DD16EB0}"/>
              </a:ext>
            </a:extLst>
          </p:cNvPr>
          <p:cNvSpPr/>
          <p:nvPr/>
        </p:nvSpPr>
        <p:spPr>
          <a:xfrm>
            <a:off x="565188" y="1724111"/>
            <a:ext cx="6865516" cy="4685044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5875">
            <a:solidFill>
              <a:srgbClr val="CFE8F3"/>
            </a:solidFill>
            <a:prstDash val="solid"/>
          </a:ln>
          <a:effectLst>
            <a:outerShdw blurRad="76200" dist="25400" dir="5400000" algn="bl" rotWithShape="0">
              <a:srgbClr val="1C2B3A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E8694D2F-7BC2-77EF-4477-8EE7C8CD0E72}"/>
              </a:ext>
            </a:extLst>
          </p:cNvPr>
          <p:cNvCxnSpPr>
            <a:cxnSpLocks/>
          </p:cNvCxnSpPr>
          <p:nvPr/>
        </p:nvCxnSpPr>
        <p:spPr>
          <a:xfrm>
            <a:off x="920456" y="2451201"/>
            <a:ext cx="6231115" cy="0"/>
          </a:xfrm>
          <a:prstGeom prst="line">
            <a:avLst/>
          </a:prstGeom>
          <a:ln w="57150">
            <a:prstDash val="soli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Shape 12">
            <a:extLst>
              <a:ext uri="{FF2B5EF4-FFF2-40B4-BE49-F238E27FC236}">
                <a16:creationId xmlns:a16="http://schemas.microsoft.com/office/drawing/2014/main" id="{4AA81480-01C1-C7BA-616B-CCE2024D6571}"/>
              </a:ext>
            </a:extLst>
          </p:cNvPr>
          <p:cNvSpPr/>
          <p:nvPr/>
        </p:nvSpPr>
        <p:spPr>
          <a:xfrm>
            <a:off x="0" y="0"/>
            <a:ext cx="12192000" cy="1419971"/>
          </a:xfrm>
          <a:prstGeom prst="roundRect">
            <a:avLst>
              <a:gd name="adj" fmla="val 0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00F6F0E1-E687-FBE4-19D8-07F24457CF69}"/>
              </a:ext>
            </a:extLst>
          </p:cNvPr>
          <p:cNvGrpSpPr/>
          <p:nvPr/>
        </p:nvGrpSpPr>
        <p:grpSpPr>
          <a:xfrm>
            <a:off x="729394" y="404315"/>
            <a:ext cx="13154564" cy="658368"/>
            <a:chOff x="767079" y="434443"/>
            <a:chExt cx="13154564" cy="658368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36097EF1-BB74-D119-D41A-FBB47D95F1F9}"/>
                </a:ext>
              </a:extLst>
            </p:cNvPr>
            <p:cNvGrpSpPr/>
            <p:nvPr/>
          </p:nvGrpSpPr>
          <p:grpSpPr>
            <a:xfrm>
              <a:off x="767079" y="434443"/>
              <a:ext cx="13154564" cy="658368"/>
              <a:chOff x="767079" y="434443"/>
              <a:chExt cx="13154564" cy="658368"/>
            </a:xfrm>
          </p:grpSpPr>
          <p:sp>
            <p:nvSpPr>
              <p:cNvPr id="30" name="Text 2">
                <a:extLst>
                  <a:ext uri="{FF2B5EF4-FFF2-40B4-BE49-F238E27FC236}">
                    <a16:creationId xmlns:a16="http://schemas.microsoft.com/office/drawing/2014/main" id="{A89BE7CA-37F4-C2C7-7418-869B7B7DB544}"/>
                  </a:ext>
                </a:extLst>
              </p:cNvPr>
              <p:cNvSpPr/>
              <p:nvPr/>
            </p:nvSpPr>
            <p:spPr>
              <a:xfrm>
                <a:off x="3497483" y="434443"/>
                <a:ext cx="1042416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zh-TW" altLang="en-US" sz="3000" b="1" dirty="0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時間向量與多個弦波</a:t>
                </a:r>
                <a:endParaRPr lang="en-US" sz="3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31" name="矩形: 圓角 30">
                <a:extLst>
                  <a:ext uri="{FF2B5EF4-FFF2-40B4-BE49-F238E27FC236}">
                    <a16:creationId xmlns:a16="http://schemas.microsoft.com/office/drawing/2014/main" id="{506DCD6E-4095-01E0-872B-F2BCE14BBD70}"/>
                  </a:ext>
                </a:extLst>
              </p:cNvPr>
              <p:cNvSpPr/>
              <p:nvPr/>
            </p:nvSpPr>
            <p:spPr>
              <a:xfrm>
                <a:off x="767079" y="478973"/>
                <a:ext cx="2463485" cy="59436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9" name="Text 2">
              <a:extLst>
                <a:ext uri="{FF2B5EF4-FFF2-40B4-BE49-F238E27FC236}">
                  <a16:creationId xmlns:a16="http://schemas.microsoft.com/office/drawing/2014/main" id="{BC816611-DE74-0E0F-4F2B-ACA21860FE3D}"/>
                </a:ext>
              </a:extLst>
            </p:cNvPr>
            <p:cNvSpPr/>
            <p:nvPr/>
          </p:nvSpPr>
          <p:spPr>
            <a:xfrm>
              <a:off x="767080" y="452157"/>
              <a:ext cx="246348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3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第二題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3A1946E-7DD1-E5C9-9CF1-569DDFD91EA2}"/>
              </a:ext>
            </a:extLst>
          </p:cNvPr>
          <p:cNvSpPr txBox="1"/>
          <p:nvPr/>
        </p:nvSpPr>
        <p:spPr>
          <a:xfrm>
            <a:off x="920456" y="1763110"/>
            <a:ext cx="6231115" cy="60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50"/>
              </a:spcBef>
              <a:spcAft>
                <a:spcPts val="675"/>
              </a:spcAft>
              <a:buNone/>
            </a:pPr>
            <a:r>
              <a:rPr lang="zh-TW" altLang="zh-TW" sz="25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建立</a:t>
            </a:r>
            <a:r>
              <a:rPr lang="zh-TW" altLang="en-US" sz="25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並列圖形</a:t>
            </a:r>
            <a:endParaRPr lang="zh-TW" altLang="zh-TW" sz="2500" b="1" i="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3865AA4A-08E9-AB4A-BF9D-B0AF45C6D8C8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0346C33-12E6-9DDA-D504-F07B9C4D61B8}"/>
              </a:ext>
            </a:extLst>
          </p:cNvPr>
          <p:cNvSpPr txBox="1"/>
          <p:nvPr/>
        </p:nvSpPr>
        <p:spPr>
          <a:xfrm>
            <a:off x="9020310" y="3930657"/>
            <a:ext cx="33060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subplot(</a:t>
            </a:r>
            <a:r>
              <a:rPr lang="en-US" altLang="zh-TW" sz="2000" b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m,n,k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):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建立一個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列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行的圖形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k: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表示第幾張圖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D9F476E4-1A12-8C46-5A9E-AA51EF6E9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183" y="2710192"/>
            <a:ext cx="5445526" cy="3369252"/>
          </a:xfrm>
          <a:prstGeom prst="rect">
            <a:avLst/>
          </a:prstGeom>
        </p:spPr>
      </p:pic>
      <p:grpSp>
        <p:nvGrpSpPr>
          <p:cNvPr id="40" name="群組 39">
            <a:extLst>
              <a:ext uri="{FF2B5EF4-FFF2-40B4-BE49-F238E27FC236}">
                <a16:creationId xmlns:a16="http://schemas.microsoft.com/office/drawing/2014/main" id="{EC4F1609-1669-E8F4-8D83-00F267B835A7}"/>
              </a:ext>
            </a:extLst>
          </p:cNvPr>
          <p:cNvGrpSpPr/>
          <p:nvPr/>
        </p:nvGrpSpPr>
        <p:grpSpPr>
          <a:xfrm>
            <a:off x="6553804" y="3695846"/>
            <a:ext cx="3796243" cy="400110"/>
            <a:chOff x="6528660" y="3291759"/>
            <a:chExt cx="3796243" cy="400110"/>
          </a:xfrm>
        </p:grpSpPr>
        <p:sp>
          <p:nvSpPr>
            <p:cNvPr id="19" name="箭號: 向右 18">
              <a:extLst>
                <a:ext uri="{FF2B5EF4-FFF2-40B4-BE49-F238E27FC236}">
                  <a16:creationId xmlns:a16="http://schemas.microsoft.com/office/drawing/2014/main" id="{15B13AFC-A831-B919-83FF-2ACC33DBBC87}"/>
                </a:ext>
              </a:extLst>
            </p:cNvPr>
            <p:cNvSpPr/>
            <p:nvPr/>
          </p:nvSpPr>
          <p:spPr>
            <a:xfrm rot="10800000">
              <a:off x="6528660" y="3336325"/>
              <a:ext cx="465263" cy="283871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6458456C-69F0-5C49-0066-CA94A57D8DEB}"/>
                </a:ext>
              </a:extLst>
            </p:cNvPr>
            <p:cNvSpPr txBox="1"/>
            <p:nvPr/>
          </p:nvSpPr>
          <p:spPr>
            <a:xfrm>
              <a:off x="7018853" y="3291759"/>
              <a:ext cx="330605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subplot(2,1,1)</a:t>
              </a:r>
            </a:p>
          </p:txBody>
        </p: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924F7D22-5F0C-82E7-7173-AFBE81436AB0}"/>
              </a:ext>
            </a:extLst>
          </p:cNvPr>
          <p:cNvGrpSpPr/>
          <p:nvPr/>
        </p:nvGrpSpPr>
        <p:grpSpPr>
          <a:xfrm>
            <a:off x="6553805" y="4674377"/>
            <a:ext cx="3771098" cy="400110"/>
            <a:chOff x="6553805" y="4873081"/>
            <a:chExt cx="3771098" cy="400110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E4423AE9-C370-02D3-DCB8-B8560A980767}"/>
                </a:ext>
              </a:extLst>
            </p:cNvPr>
            <p:cNvSpPr txBox="1"/>
            <p:nvPr/>
          </p:nvSpPr>
          <p:spPr>
            <a:xfrm>
              <a:off x="7018853" y="4873081"/>
              <a:ext cx="330605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subplot(2,1,2)</a:t>
              </a:r>
            </a:p>
          </p:txBody>
        </p:sp>
        <p:sp>
          <p:nvSpPr>
            <p:cNvPr id="26" name="箭號: 向右 25">
              <a:extLst>
                <a:ext uri="{FF2B5EF4-FFF2-40B4-BE49-F238E27FC236}">
                  <a16:creationId xmlns:a16="http://schemas.microsoft.com/office/drawing/2014/main" id="{8925DC83-E823-607B-35DE-4511FB8302A7}"/>
                </a:ext>
              </a:extLst>
            </p:cNvPr>
            <p:cNvSpPr/>
            <p:nvPr/>
          </p:nvSpPr>
          <p:spPr>
            <a:xfrm rot="10800000">
              <a:off x="6553805" y="4944413"/>
              <a:ext cx="465263" cy="283871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7329881E-9502-830F-88B9-A34B21C93134}"/>
              </a:ext>
            </a:extLst>
          </p:cNvPr>
          <p:cNvSpPr/>
          <p:nvPr/>
        </p:nvSpPr>
        <p:spPr>
          <a:xfrm>
            <a:off x="2757089" y="2668697"/>
            <a:ext cx="2557848" cy="26778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0BC1840A-2C1C-B999-7285-7D90EECFD093}"/>
              </a:ext>
            </a:extLst>
          </p:cNvPr>
          <p:cNvCxnSpPr>
            <a:cxnSpLocks/>
          </p:cNvCxnSpPr>
          <p:nvPr/>
        </p:nvCxnSpPr>
        <p:spPr>
          <a:xfrm flipH="1" flipV="1">
            <a:off x="5412259" y="2802588"/>
            <a:ext cx="3259619" cy="187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87FF61A-1853-2009-EAB2-ACC3657FBDCA}"/>
              </a:ext>
            </a:extLst>
          </p:cNvPr>
          <p:cNvSpPr txBox="1"/>
          <p:nvPr/>
        </p:nvSpPr>
        <p:spPr>
          <a:xfrm>
            <a:off x="9020310" y="2467361"/>
            <a:ext cx="33060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sgtitle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(‘…’):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建立一個大標題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5678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91B04-252C-6730-8CB6-865E593AE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6">
            <a:extLst>
              <a:ext uri="{FF2B5EF4-FFF2-40B4-BE49-F238E27FC236}">
                <a16:creationId xmlns:a16="http://schemas.microsoft.com/office/drawing/2014/main" id="{71D80CA0-B62D-03C2-18F9-57D91572DE21}"/>
              </a:ext>
            </a:extLst>
          </p:cNvPr>
          <p:cNvSpPr/>
          <p:nvPr/>
        </p:nvSpPr>
        <p:spPr>
          <a:xfrm>
            <a:off x="478558" y="1670301"/>
            <a:ext cx="10322791" cy="1419971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5875">
            <a:solidFill>
              <a:srgbClr val="CFE8F3"/>
            </a:solidFill>
            <a:prstDash val="solid"/>
          </a:ln>
          <a:effectLst>
            <a:outerShdw blurRad="76200" dist="25400" dir="5400000" algn="bl" rotWithShape="0">
              <a:srgbClr val="1C2B3A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CD48D106-6A8E-69BD-0A67-B3F231166812}"/>
              </a:ext>
            </a:extLst>
          </p:cNvPr>
          <p:cNvSpPr/>
          <p:nvPr/>
        </p:nvSpPr>
        <p:spPr>
          <a:xfrm>
            <a:off x="0" y="0"/>
            <a:ext cx="12192000" cy="1419971"/>
          </a:xfrm>
          <a:prstGeom prst="roundRect">
            <a:avLst>
              <a:gd name="adj" fmla="val 0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D5623336-95B9-60EE-B190-E0A69F3CAC7E}"/>
              </a:ext>
            </a:extLst>
          </p:cNvPr>
          <p:cNvGrpSpPr/>
          <p:nvPr/>
        </p:nvGrpSpPr>
        <p:grpSpPr>
          <a:xfrm>
            <a:off x="729394" y="404315"/>
            <a:ext cx="13154564" cy="658368"/>
            <a:chOff x="767079" y="434443"/>
            <a:chExt cx="13154564" cy="658368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AA2B8A78-7745-854E-AB4D-83D8663D11E7}"/>
                </a:ext>
              </a:extLst>
            </p:cNvPr>
            <p:cNvGrpSpPr/>
            <p:nvPr/>
          </p:nvGrpSpPr>
          <p:grpSpPr>
            <a:xfrm>
              <a:off x="767079" y="434443"/>
              <a:ext cx="13154564" cy="658368"/>
              <a:chOff x="767079" y="434443"/>
              <a:chExt cx="13154564" cy="65836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 2">
                    <a:extLst>
                      <a:ext uri="{FF2B5EF4-FFF2-40B4-BE49-F238E27FC236}">
                        <a16:creationId xmlns:a16="http://schemas.microsoft.com/office/drawing/2014/main" id="{9DBF7C48-48EF-3A5C-E8A1-2012EFCCFC78}"/>
                      </a:ext>
                    </a:extLst>
                  </p:cNvPr>
                  <p:cNvSpPr/>
                  <p:nvPr/>
                </p:nvSpPr>
                <p:spPr>
                  <a:xfrm>
                    <a:off x="3497483" y="434443"/>
                    <a:ext cx="10424160" cy="65836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altLang="zh-TW" sz="3000" b="1" dirty="0" err="1">
                        <a:solidFill>
                          <a:srgbClr val="21295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Cambria" pitchFamily="34" charset="-120"/>
                      </a:rPr>
                      <a:t>利用</a:t>
                    </a:r>
                    <a:r>
                      <a:rPr lang="en-US" altLang="zh-TW" sz="3000" b="1" dirty="0">
                        <a:solidFill>
                          <a:srgbClr val="21295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Cambria" pitchFamily="34" charset="-120"/>
                      </a:rPr>
                      <a:t> sin(</a:t>
                    </a:r>
                    <a14:m>
                      <m:oMath xmlns:m="http://schemas.openxmlformats.org/officeDocument/2006/math">
                        <m:r>
                          <a:rPr lang="zh-TW" altLang="en-US" sz="3000" b="1" i="1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Cambria" pitchFamily="34" charset="-120"/>
                          </a:rPr>
                          <m:t>𝝅</m:t>
                        </m:r>
                      </m:oMath>
                    </a14:m>
                    <a:r>
                      <a:rPr lang="en-US" altLang="zh-TW" sz="3000" b="1" dirty="0">
                        <a:solidFill>
                          <a:srgbClr val="21295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Cambria" pitchFamily="34" charset="-120"/>
                      </a:rPr>
                      <a:t>x)/</a:t>
                    </a:r>
                    <a14:m>
                      <m:oMath xmlns:m="http://schemas.openxmlformats.org/officeDocument/2006/math">
                        <m:r>
                          <a:rPr lang="zh-TW" altLang="en-US" sz="3000" b="1" i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Cambria" pitchFamily="34" charset="-120"/>
                          </a:rPr>
                          <m:t>𝝅</m:t>
                        </m:r>
                      </m:oMath>
                    </a14:m>
                    <a:r>
                      <a:rPr lang="en-US" altLang="zh-TW" sz="3000" b="1" dirty="0">
                        <a:solidFill>
                          <a:srgbClr val="21295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Cambria" pitchFamily="34" charset="-120"/>
                      </a:rPr>
                      <a:t>x </a:t>
                    </a:r>
                    <a:r>
                      <a:rPr lang="en-US" altLang="zh-TW" sz="3000" b="1" dirty="0" err="1">
                        <a:solidFill>
                          <a:srgbClr val="21295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Cambria" pitchFamily="34" charset="-120"/>
                      </a:rPr>
                      <a:t>製造多個</a:t>
                    </a:r>
                    <a:r>
                      <a:rPr lang="en-US" altLang="zh-TW" sz="3000" b="1" dirty="0">
                        <a:solidFill>
                          <a:srgbClr val="21295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Cambria" pitchFamily="34" charset="-120"/>
                      </a:rPr>
                      <a:t> </a:t>
                    </a:r>
                    <a:r>
                      <a:rPr lang="en-US" altLang="zh-TW" sz="3000" b="1" dirty="0" err="1">
                        <a:solidFill>
                          <a:srgbClr val="21295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Cambria" pitchFamily="34" charset="-120"/>
                      </a:rPr>
                      <a:t>sinc</a:t>
                    </a:r>
                    <a:r>
                      <a:rPr lang="en-US" altLang="zh-TW" sz="3000" b="1" dirty="0">
                        <a:solidFill>
                          <a:srgbClr val="21295C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Cambria" pitchFamily="34" charset="-120"/>
                      </a:rPr>
                      <a:t> 波</a:t>
                    </a:r>
                    <a:endParaRPr lang="en-US" altLang="zh-TW" sz="3000" dirty="0">
                      <a:latin typeface="Times New Roman" panose="02020603050405020304" pitchFamily="18" charset="0"/>
                      <a:ea typeface="標楷體" panose="03000509000000000000" pitchFamily="65" charset="-120"/>
                    </a:endParaRPr>
                  </a:p>
                </p:txBody>
              </p:sp>
            </mc:Choice>
            <mc:Fallback xmlns="">
              <p:sp>
                <p:nvSpPr>
                  <p:cNvPr id="30" name="Text 2">
                    <a:extLst>
                      <a:ext uri="{FF2B5EF4-FFF2-40B4-BE49-F238E27FC236}">
                        <a16:creationId xmlns:a16="http://schemas.microsoft.com/office/drawing/2014/main" id="{9DBF7C48-48EF-3A5C-E8A1-2012EFCCFC7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7483" y="434443"/>
                    <a:ext cx="10424160" cy="65836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281" t="-3704" b="-21296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矩形: 圓角 30">
                <a:extLst>
                  <a:ext uri="{FF2B5EF4-FFF2-40B4-BE49-F238E27FC236}">
                    <a16:creationId xmlns:a16="http://schemas.microsoft.com/office/drawing/2014/main" id="{D4ACE7B2-2450-EED6-57CA-6EB7DB53789F}"/>
                  </a:ext>
                </a:extLst>
              </p:cNvPr>
              <p:cNvSpPr/>
              <p:nvPr/>
            </p:nvSpPr>
            <p:spPr>
              <a:xfrm>
                <a:off x="767079" y="478973"/>
                <a:ext cx="2463485" cy="59436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9" name="Text 2">
              <a:extLst>
                <a:ext uri="{FF2B5EF4-FFF2-40B4-BE49-F238E27FC236}">
                  <a16:creationId xmlns:a16="http://schemas.microsoft.com/office/drawing/2014/main" id="{952A4A9B-D81D-045A-B453-F905E81EEF2D}"/>
                </a:ext>
              </a:extLst>
            </p:cNvPr>
            <p:cNvSpPr/>
            <p:nvPr/>
          </p:nvSpPr>
          <p:spPr>
            <a:xfrm>
              <a:off x="767080" y="452157"/>
              <a:ext cx="246348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3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第三題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7CD7844D-089C-0463-BBFF-923B461181C9}"/>
              </a:ext>
            </a:extLst>
          </p:cNvPr>
          <p:cNvSpPr txBox="1"/>
          <p:nvPr/>
        </p:nvSpPr>
        <p:spPr>
          <a:xfrm>
            <a:off x="679767" y="2551203"/>
            <a:ext cx="68986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75"/>
              </a:spcAft>
            </a:pPr>
            <a:r>
              <a:rPr lang="zh-TW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時間</a:t>
            </a:r>
            <a:r>
              <a:rPr lang="en-US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(t)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：-20 ~ 20 sec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</a:t>
            </a:r>
            <a:r>
              <a:rPr lang="zh-TW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取樣頻率</a:t>
            </a:r>
            <a:r>
              <a:rPr lang="en-US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(fs)</a:t>
            </a:r>
            <a:r>
              <a:rPr lang="zh-TW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：100 kHz</a:t>
            </a:r>
            <a:r>
              <a:rPr lang="zh-TW" altLang="en-US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endParaRPr lang="zh-TW" altLang="zh-TW" sz="2000" b="0" i="0" u="none" strike="noStrike" dirty="0">
              <a:solidFill>
                <a:srgbClr val="21212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82F91B-C309-74C6-8A06-EED9A42A6824}"/>
                  </a:ext>
                </a:extLst>
              </p:cNvPr>
              <p:cNvSpPr txBox="1"/>
              <p:nvPr/>
            </p:nvSpPr>
            <p:spPr>
              <a:xfrm>
                <a:off x="679767" y="1819669"/>
                <a:ext cx="96758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zh-TW" sz="2500" b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利用 </a:t>
                </a:r>
                <a14:m>
                  <m:oMath xmlns:m="http://schemas.openxmlformats.org/officeDocument/2006/math">
                    <m:r>
                      <a:rPr lang="en-US" altLang="zh-TW" sz="2800" b="1">
                        <a:latin typeface="Cambria Math" panose="02040503050406030204" pitchFamily="18" charset="0"/>
                      </a:rPr>
                      <m:t>𝐬𝐢𝐧</m:t>
                    </m:r>
                    <m:r>
                      <a:rPr lang="en-US" altLang="zh-TW" sz="2800" b="1" i="1">
                        <a:latin typeface="Cambria Math" panose="02040503050406030204" pitchFamily="18" charset="0"/>
                      </a:rPr>
                      <m:t>⁡</m:t>
                    </m:r>
                    <m:r>
                      <a:rPr lang="zh-TW" altLang="en-US" sz="2800" b="1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TW" sz="28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TW" sz="28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sz="2500" b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/</a:t>
                </a:r>
                <a:r>
                  <a:rPr lang="en-US" altLang="zh-TW" sz="2800" b="1" dirty="0"/>
                  <a:t> </a:t>
                </a:r>
                <a14:m>
                  <m:oMath xmlns:m="http://schemas.openxmlformats.org/officeDocument/2006/math">
                    <m:r>
                      <a:rPr lang="zh-TW" altLang="en-US" sz="2800" b="1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TW" sz="28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TW" sz="28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sz="2500" b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 產生多個 sinc 波形，並用 if else 處理 x =</a:t>
                </a:r>
                <a:r>
                  <a:rPr lang="zh-TW" altLang="en-US" sz="2500" b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zh-TW" altLang="zh-TW" sz="2500" b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0 的情況。</a:t>
                </a: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82F91B-C309-74C6-8A06-EED9A42A6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67" y="1819669"/>
                <a:ext cx="9675813" cy="523220"/>
              </a:xfrm>
              <a:prstGeom prst="rect">
                <a:avLst/>
              </a:prstGeom>
              <a:blipFill>
                <a:blip r:embed="rId4"/>
                <a:stretch>
                  <a:fillRect l="-1071" t="-4706" r="-4285" b="-247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EBEF2E65-0AF2-945F-CD27-04CE23664605}"/>
              </a:ext>
            </a:extLst>
          </p:cNvPr>
          <p:cNvCxnSpPr>
            <a:cxnSpLocks/>
          </p:cNvCxnSpPr>
          <p:nvPr/>
        </p:nvCxnSpPr>
        <p:spPr>
          <a:xfrm>
            <a:off x="747201" y="2422594"/>
            <a:ext cx="9791259" cy="0"/>
          </a:xfrm>
          <a:prstGeom prst="line">
            <a:avLst/>
          </a:prstGeom>
          <a:ln w="57150">
            <a:prstDash val="soli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C9CA3E2-6842-156D-55BA-B4DA7A63BB94}"/>
                  </a:ext>
                </a:extLst>
              </p:cNvPr>
              <p:cNvSpPr txBox="1"/>
              <p:nvPr/>
            </p:nvSpPr>
            <p:spPr>
              <a:xfrm>
                <a:off x="852825" y="3891805"/>
                <a:ext cx="2004331" cy="5794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𝒔𝒊𝒏𝒄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C9CA3E2-6842-156D-55BA-B4DA7A63B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825" y="3891805"/>
                <a:ext cx="2004331" cy="5794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B3D371A-1F1F-EE2B-75F8-D9BAFEA741AD}"/>
                  </a:ext>
                </a:extLst>
              </p:cNvPr>
              <p:cNvSpPr txBox="1"/>
              <p:nvPr/>
            </p:nvSpPr>
            <p:spPr>
              <a:xfrm>
                <a:off x="1595070" y="5224681"/>
                <a:ext cx="1746055" cy="5794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𝐥𝐢𝐦</m:t>
                              </m:r>
                            </m:e>
                            <m:li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r>
                                <a:rPr lang="zh-TW" altLang="en-US" sz="2000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num>
                            <m:den>
                              <m:r>
                                <a:rPr lang="zh-TW" altLang="en-US" sz="2000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B3D371A-1F1F-EE2B-75F8-D9BAFEA74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070" y="5224681"/>
                <a:ext cx="1746055" cy="5794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C4F3BE59-D7C6-3A2F-8448-D4FAC888E1B2}"/>
              </a:ext>
            </a:extLst>
          </p:cNvPr>
          <p:cNvSpPr/>
          <p:nvPr/>
        </p:nvSpPr>
        <p:spPr>
          <a:xfrm>
            <a:off x="571500" y="3605834"/>
            <a:ext cx="2925944" cy="2687877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536061-3D69-3D45-F749-5F16E871E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3386" y="3607523"/>
            <a:ext cx="4445228" cy="26861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664DB0B-06D8-30C7-680E-F826453EE641}"/>
              </a:ext>
            </a:extLst>
          </p:cNvPr>
          <p:cNvSpPr txBox="1"/>
          <p:nvPr/>
        </p:nvSpPr>
        <p:spPr>
          <a:xfrm>
            <a:off x="794368" y="4633009"/>
            <a:ext cx="2480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if  x = 0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則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7AF2DEF-E6A3-4D65-39ED-5B00BA07B0BA}"/>
              </a:ext>
            </a:extLst>
          </p:cNvPr>
          <p:cNvSpPr txBox="1"/>
          <p:nvPr/>
        </p:nvSpPr>
        <p:spPr>
          <a:xfrm>
            <a:off x="8694556" y="3876285"/>
            <a:ext cx="28040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zeros(</a:t>
            </a:r>
            <a:r>
              <a:rPr lang="en-US" altLang="zh-TW" sz="2000" b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m,n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建立一個大小為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m*n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的零矩陣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length(n):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設定陣列的長度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7F9645C3-1D74-8B6B-737D-31668B010FEC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23661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3B9FC-592F-EBF7-7B89-C5986448A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6">
            <a:extLst>
              <a:ext uri="{FF2B5EF4-FFF2-40B4-BE49-F238E27FC236}">
                <a16:creationId xmlns:a16="http://schemas.microsoft.com/office/drawing/2014/main" id="{51E7CB20-4DC3-CE17-F78F-924811CCE4A8}"/>
              </a:ext>
            </a:extLst>
          </p:cNvPr>
          <p:cNvSpPr/>
          <p:nvPr/>
        </p:nvSpPr>
        <p:spPr>
          <a:xfrm>
            <a:off x="478558" y="1670301"/>
            <a:ext cx="10517101" cy="1419971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5875">
            <a:solidFill>
              <a:srgbClr val="CFE8F3"/>
            </a:solidFill>
            <a:prstDash val="solid"/>
          </a:ln>
          <a:effectLst>
            <a:outerShdw blurRad="76200" dist="25400" dir="5400000" algn="bl" rotWithShape="0">
              <a:srgbClr val="1C2B3A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B8509B33-E74A-4DF5-4ACE-72277724C692}"/>
              </a:ext>
            </a:extLst>
          </p:cNvPr>
          <p:cNvSpPr/>
          <p:nvPr/>
        </p:nvSpPr>
        <p:spPr>
          <a:xfrm>
            <a:off x="0" y="0"/>
            <a:ext cx="12192000" cy="1419971"/>
          </a:xfrm>
          <a:prstGeom prst="roundRect">
            <a:avLst>
              <a:gd name="adj" fmla="val 0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2DB5376E-CA72-1385-EBA2-12EFC55A5C51}"/>
              </a:ext>
            </a:extLst>
          </p:cNvPr>
          <p:cNvGrpSpPr/>
          <p:nvPr/>
        </p:nvGrpSpPr>
        <p:grpSpPr>
          <a:xfrm>
            <a:off x="729394" y="404315"/>
            <a:ext cx="13154564" cy="658368"/>
            <a:chOff x="767079" y="434443"/>
            <a:chExt cx="13154564" cy="658368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FECD1BE7-602D-537E-BE9B-650256063BF5}"/>
                </a:ext>
              </a:extLst>
            </p:cNvPr>
            <p:cNvGrpSpPr/>
            <p:nvPr/>
          </p:nvGrpSpPr>
          <p:grpSpPr>
            <a:xfrm>
              <a:off x="767079" y="434443"/>
              <a:ext cx="13154564" cy="658368"/>
              <a:chOff x="767079" y="434443"/>
              <a:chExt cx="13154564" cy="658368"/>
            </a:xfrm>
          </p:grpSpPr>
          <p:sp>
            <p:nvSpPr>
              <p:cNvPr id="30" name="Text 2">
                <a:extLst>
                  <a:ext uri="{FF2B5EF4-FFF2-40B4-BE49-F238E27FC236}">
                    <a16:creationId xmlns:a16="http://schemas.microsoft.com/office/drawing/2014/main" id="{FB170795-9975-2E99-B3C5-E822812F882B}"/>
                  </a:ext>
                </a:extLst>
              </p:cNvPr>
              <p:cNvSpPr/>
              <p:nvPr/>
            </p:nvSpPr>
            <p:spPr>
              <a:xfrm>
                <a:off x="3497483" y="434443"/>
                <a:ext cx="1042416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altLang="zh-TW" sz="3000" b="1" dirty="0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mbria" pitchFamily="34" charset="-120"/>
                  </a:rPr>
                  <a:t>將 </a:t>
                </a:r>
                <a:r>
                  <a:rPr lang="en-US" altLang="zh-TW" sz="3000" b="1" dirty="0" err="1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mbria" pitchFamily="34" charset="-120"/>
                  </a:rPr>
                  <a:t>sinc</a:t>
                </a:r>
                <a:r>
                  <a:rPr lang="en-US" altLang="zh-TW" sz="3000" b="1" dirty="0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mbria" pitchFamily="34" charset="-120"/>
                  </a:rPr>
                  <a:t> </a:t>
                </a:r>
                <a:r>
                  <a:rPr lang="en-US" altLang="zh-TW" sz="3000" b="1" dirty="0" err="1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mbria" pitchFamily="34" charset="-120"/>
                  </a:rPr>
                  <a:t>波做傅立葉轉換</a:t>
                </a:r>
                <a:r>
                  <a:rPr lang="en-US" altLang="zh-TW" sz="3000" b="1" dirty="0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mbria" pitchFamily="34" charset="-120"/>
                  </a:rPr>
                  <a:t> (FFT)</a:t>
                </a:r>
                <a:endParaRPr lang="en-US" altLang="zh-TW" sz="3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31" name="矩形: 圓角 30">
                <a:extLst>
                  <a:ext uri="{FF2B5EF4-FFF2-40B4-BE49-F238E27FC236}">
                    <a16:creationId xmlns:a16="http://schemas.microsoft.com/office/drawing/2014/main" id="{B101C60C-0682-3BB8-23BB-FC5FE6DC6D55}"/>
                  </a:ext>
                </a:extLst>
              </p:cNvPr>
              <p:cNvSpPr/>
              <p:nvPr/>
            </p:nvSpPr>
            <p:spPr>
              <a:xfrm>
                <a:off x="767079" y="478973"/>
                <a:ext cx="2463485" cy="59436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9" name="Text 2">
              <a:extLst>
                <a:ext uri="{FF2B5EF4-FFF2-40B4-BE49-F238E27FC236}">
                  <a16:creationId xmlns:a16="http://schemas.microsoft.com/office/drawing/2014/main" id="{5BA6193A-10AB-1A95-F7BE-82199607256B}"/>
                </a:ext>
              </a:extLst>
            </p:cNvPr>
            <p:cNvSpPr/>
            <p:nvPr/>
          </p:nvSpPr>
          <p:spPr>
            <a:xfrm>
              <a:off x="767080" y="452157"/>
              <a:ext cx="246348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3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第四題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865B691-33D6-BB77-DB11-E06EC9539BA7}"/>
              </a:ext>
            </a:extLst>
          </p:cNvPr>
          <p:cNvSpPr txBox="1"/>
          <p:nvPr/>
        </p:nvSpPr>
        <p:spPr>
          <a:xfrm>
            <a:off x="679767" y="1819669"/>
            <a:ext cx="967581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將上一題三組 sinc 波形做 fft，並利用 fftshift 以及 abs 觀察頻譜大小。</a:t>
            </a: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87E0194C-AF2E-1349-3D3B-74CCA46ACD19}"/>
              </a:ext>
            </a:extLst>
          </p:cNvPr>
          <p:cNvCxnSpPr>
            <a:cxnSpLocks/>
          </p:cNvCxnSpPr>
          <p:nvPr/>
        </p:nvCxnSpPr>
        <p:spPr>
          <a:xfrm>
            <a:off x="747201" y="2422594"/>
            <a:ext cx="9836979" cy="0"/>
          </a:xfrm>
          <a:prstGeom prst="line">
            <a:avLst/>
          </a:prstGeom>
          <a:ln w="57150">
            <a:prstDash val="soli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22B23A81-C59A-4B12-B208-D63FFD70C7B7}"/>
              </a:ext>
            </a:extLst>
          </p:cNvPr>
          <p:cNvSpPr txBox="1"/>
          <p:nvPr/>
        </p:nvSpPr>
        <p:spPr>
          <a:xfrm>
            <a:off x="679767" y="2551203"/>
            <a:ext cx="68986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75"/>
              </a:spcAft>
            </a:pPr>
            <a:r>
              <a:rPr lang="zh-TW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頻率</a:t>
            </a:r>
            <a:r>
              <a:rPr lang="zh-TW" altLang="en-US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範圍</a:t>
            </a:r>
            <a:r>
              <a:rPr lang="zh-TW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0.5~0.5 </a:t>
            </a:r>
            <a:r>
              <a:rPr lang="zh-TW" altLang="zh-TW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Hz</a:t>
            </a:r>
            <a:r>
              <a:rPr lang="zh-TW" altLang="en-US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endParaRPr lang="zh-TW" altLang="zh-TW" sz="2000" b="0" i="0" u="none" strike="noStrike" dirty="0">
              <a:solidFill>
                <a:srgbClr val="21212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13A12427-3BBE-3E1B-CF77-2D14CFE5AE7A}"/>
              </a:ext>
            </a:extLst>
          </p:cNvPr>
          <p:cNvGrpSpPr/>
          <p:nvPr/>
        </p:nvGrpSpPr>
        <p:grpSpPr>
          <a:xfrm>
            <a:off x="1068693" y="4094768"/>
            <a:ext cx="2513112" cy="2395959"/>
            <a:chOff x="1468437" y="4057724"/>
            <a:chExt cx="2513112" cy="2395959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5C91AF2C-8FD3-E45C-397F-9563913DE403}"/>
                </a:ext>
              </a:extLst>
            </p:cNvPr>
            <p:cNvSpPr/>
            <p:nvPr/>
          </p:nvSpPr>
          <p:spPr>
            <a:xfrm>
              <a:off x="1468437" y="4057724"/>
              <a:ext cx="2513112" cy="7543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" name="Shape 14">
              <a:extLst>
                <a:ext uri="{FF2B5EF4-FFF2-40B4-BE49-F238E27FC236}">
                  <a16:creationId xmlns:a16="http://schemas.microsoft.com/office/drawing/2014/main" id="{A2ACE7DC-E2CD-B04F-0BD1-2C0BF0498256}"/>
                </a:ext>
              </a:extLst>
            </p:cNvPr>
            <p:cNvSpPr/>
            <p:nvPr/>
          </p:nvSpPr>
          <p:spPr>
            <a:xfrm>
              <a:off x="1468437" y="4952562"/>
              <a:ext cx="2513112" cy="1501121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5875">
              <a:solidFill>
                <a:srgbClr val="CFE8F3"/>
              </a:solidFill>
              <a:prstDash val="solid"/>
            </a:ln>
            <a:effectLst>
              <a:outerShdw blurRad="76200" dist="25400" dir="5400000" algn="bl" rotWithShape="0">
                <a:srgbClr val="1C2B3A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65362465-DC50-E731-D42C-B5762CD2C845}"/>
                </a:ext>
              </a:extLst>
            </p:cNvPr>
            <p:cNvSpPr txBox="1"/>
            <p:nvPr/>
          </p:nvSpPr>
          <p:spPr>
            <a:xfrm>
              <a:off x="1468437" y="4198182"/>
              <a:ext cx="2513112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150"/>
                </a:spcBef>
                <a:spcAft>
                  <a:spcPts val="675"/>
                </a:spcAft>
              </a:pPr>
              <a:r>
                <a:rPr lang="en-US" altLang="zh-TW" sz="2500" b="1" dirty="0" err="1">
                  <a:solidFill>
                    <a:srgbClr val="21212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fft</a:t>
              </a:r>
              <a:r>
                <a:rPr lang="en-US" altLang="zh-TW" sz="250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(…)</a:t>
              </a:r>
              <a:endParaRPr lang="zh-TW" altLang="zh-TW" sz="2500" b="1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6F27403B-0CAA-557C-7CE6-2D8ACB362BFD}"/>
              </a:ext>
            </a:extLst>
          </p:cNvPr>
          <p:cNvGrpSpPr/>
          <p:nvPr/>
        </p:nvGrpSpPr>
        <p:grpSpPr>
          <a:xfrm>
            <a:off x="3987092" y="4081485"/>
            <a:ext cx="3006572" cy="2409242"/>
            <a:chOff x="3987092" y="4081485"/>
            <a:chExt cx="3006572" cy="2409242"/>
          </a:xfrm>
        </p:grpSpPr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E8E13733-FD45-BCD8-2D93-EEF458C4C3FD}"/>
                </a:ext>
              </a:extLst>
            </p:cNvPr>
            <p:cNvSpPr/>
            <p:nvPr/>
          </p:nvSpPr>
          <p:spPr>
            <a:xfrm>
              <a:off x="3987092" y="4081485"/>
              <a:ext cx="3006571" cy="7543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Shape 14">
              <a:extLst>
                <a:ext uri="{FF2B5EF4-FFF2-40B4-BE49-F238E27FC236}">
                  <a16:creationId xmlns:a16="http://schemas.microsoft.com/office/drawing/2014/main" id="{79814B55-2335-EB30-C5C6-439DCDB49E18}"/>
                </a:ext>
              </a:extLst>
            </p:cNvPr>
            <p:cNvSpPr/>
            <p:nvPr/>
          </p:nvSpPr>
          <p:spPr>
            <a:xfrm>
              <a:off x="4017658" y="4989606"/>
              <a:ext cx="2976006" cy="1501121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5875">
              <a:solidFill>
                <a:srgbClr val="CFE8F3"/>
              </a:solidFill>
              <a:prstDash val="solid"/>
            </a:ln>
            <a:effectLst>
              <a:outerShdw blurRad="76200" dist="25400" dir="5400000" algn="bl" rotWithShape="0">
                <a:srgbClr val="1C2B3A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1B48D212-CF99-0B5C-99D0-AD8EA2D79099}"/>
                </a:ext>
              </a:extLst>
            </p:cNvPr>
            <p:cNvSpPr txBox="1"/>
            <p:nvPr/>
          </p:nvSpPr>
          <p:spPr>
            <a:xfrm>
              <a:off x="4312818" y="4244810"/>
              <a:ext cx="2513112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150"/>
                </a:spcBef>
                <a:spcAft>
                  <a:spcPts val="675"/>
                </a:spcAft>
              </a:pPr>
              <a:r>
                <a:rPr lang="en-US" altLang="zh-TW" sz="2500" b="1" dirty="0" err="1">
                  <a:solidFill>
                    <a:srgbClr val="21212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fftshift</a:t>
              </a:r>
              <a:r>
                <a:rPr lang="en-US" altLang="zh-TW" sz="250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(…)</a:t>
              </a:r>
              <a:endParaRPr lang="zh-TW" altLang="zh-TW" sz="2500" b="1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ABC32585-CAE5-2442-A0F3-233C312DB682}"/>
              </a:ext>
            </a:extLst>
          </p:cNvPr>
          <p:cNvGrpSpPr/>
          <p:nvPr/>
        </p:nvGrpSpPr>
        <p:grpSpPr>
          <a:xfrm>
            <a:off x="7231217" y="4068552"/>
            <a:ext cx="2513112" cy="2439730"/>
            <a:chOff x="7231217" y="4068552"/>
            <a:chExt cx="2513112" cy="2439730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6931683F-13A1-A0F6-A69F-CFA1C96FCDF5}"/>
                </a:ext>
              </a:extLst>
            </p:cNvPr>
            <p:cNvSpPr/>
            <p:nvPr/>
          </p:nvSpPr>
          <p:spPr>
            <a:xfrm>
              <a:off x="7376357" y="4068552"/>
              <a:ext cx="2222833" cy="7543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Shape 14">
              <a:extLst>
                <a:ext uri="{FF2B5EF4-FFF2-40B4-BE49-F238E27FC236}">
                  <a16:creationId xmlns:a16="http://schemas.microsoft.com/office/drawing/2014/main" id="{0C132749-DEC1-7A25-C274-98E8B8387EA9}"/>
                </a:ext>
              </a:extLst>
            </p:cNvPr>
            <p:cNvSpPr/>
            <p:nvPr/>
          </p:nvSpPr>
          <p:spPr>
            <a:xfrm>
              <a:off x="7376357" y="5007162"/>
              <a:ext cx="2222833" cy="150112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5875">
              <a:solidFill>
                <a:srgbClr val="CFE8F3"/>
              </a:solidFill>
              <a:prstDash val="solid"/>
            </a:ln>
            <a:effectLst>
              <a:outerShdw blurRad="76200" dist="25400" dir="5400000" algn="bl" rotWithShape="0">
                <a:srgbClr val="1C2B3A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41FC78E7-99FA-17E9-8FEF-71692B0346F7}"/>
                </a:ext>
              </a:extLst>
            </p:cNvPr>
            <p:cNvSpPr txBox="1"/>
            <p:nvPr/>
          </p:nvSpPr>
          <p:spPr>
            <a:xfrm>
              <a:off x="7231217" y="4199466"/>
              <a:ext cx="2513112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150"/>
                </a:spcBef>
                <a:spcAft>
                  <a:spcPts val="675"/>
                </a:spcAft>
              </a:pPr>
              <a:r>
                <a:rPr lang="en-US" altLang="zh-TW" sz="250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abs(…)</a:t>
              </a:r>
              <a:endParaRPr lang="zh-TW" altLang="zh-TW" sz="2500" b="1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3C3AD73-BC86-E56C-E2B1-0F9DB4C6CDED}"/>
              </a:ext>
            </a:extLst>
          </p:cNvPr>
          <p:cNvSpPr txBox="1"/>
          <p:nvPr/>
        </p:nvSpPr>
        <p:spPr>
          <a:xfrm>
            <a:off x="1383443" y="5215107"/>
            <a:ext cx="202596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zh-TW" sz="2000" dirty="0" err="1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計算離散傅立葉轉換</a:t>
            </a:r>
            <a:r>
              <a:rPr lang="en-US" altLang="zh-TW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 (DFT)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22AB0D2-6627-8B15-D9C0-596C9CF76839}"/>
              </a:ext>
            </a:extLst>
          </p:cNvPr>
          <p:cNvSpPr txBox="1"/>
          <p:nvPr/>
        </p:nvSpPr>
        <p:spPr>
          <a:xfrm>
            <a:off x="4236864" y="5028689"/>
            <a:ext cx="2658429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把零頻</a:t>
            </a: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分量</a:t>
            </a:r>
            <a:r>
              <a:rPr lang="en-US" altLang="zh-TW" sz="2000" dirty="0" err="1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移到頻譜中心</a:t>
            </a: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，重新排列傅立葉轉換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F9D93CA-B132-70BC-1A58-E463B9CCAF48}"/>
              </a:ext>
            </a:extLst>
          </p:cNvPr>
          <p:cNvSpPr txBox="1"/>
          <p:nvPr/>
        </p:nvSpPr>
        <p:spPr>
          <a:xfrm>
            <a:off x="7871178" y="5237286"/>
            <a:ext cx="1750098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取絕對值</a:t>
            </a:r>
            <a:endParaRPr lang="en-US" altLang="zh-TW" sz="2000" dirty="0">
              <a:solidFill>
                <a:srgbClr val="16233B"/>
              </a:solidFill>
              <a:latin typeface="Times New Roman" panose="02020603050405020304" pitchFamily="18" charset="0"/>
              <a:ea typeface="標楷體" panose="03000509000000000000" pitchFamily="65" charset="-120"/>
              <a:cs typeface="Calibri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得到大小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BEAF5609-FC22-64C3-3CD0-027E0E5775C3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DBD7E19-863A-E4F6-A85F-E97900F0A217}"/>
              </a:ext>
            </a:extLst>
          </p:cNvPr>
          <p:cNvSpPr txBox="1"/>
          <p:nvPr/>
        </p:nvSpPr>
        <p:spPr>
          <a:xfrm>
            <a:off x="10083124" y="4800875"/>
            <a:ext cx="1986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xlim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([…])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限制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軸範圍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D674EC21-8400-A847-F79E-46AD36F29813}"/>
              </a:ext>
            </a:extLst>
          </p:cNvPr>
          <p:cNvGrpSpPr/>
          <p:nvPr/>
        </p:nvGrpSpPr>
        <p:grpSpPr>
          <a:xfrm>
            <a:off x="596721" y="3317451"/>
            <a:ext cx="10907231" cy="492112"/>
            <a:chOff x="660331" y="3328921"/>
            <a:chExt cx="10907231" cy="492112"/>
          </a:xfrm>
        </p:grpSpPr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8E775DF4-1625-FCDC-5979-6004546BDDF5}"/>
                </a:ext>
              </a:extLst>
            </p:cNvPr>
            <p:cNvSpPr/>
            <p:nvPr/>
          </p:nvSpPr>
          <p:spPr>
            <a:xfrm>
              <a:off x="765143" y="3340973"/>
              <a:ext cx="1567291" cy="480060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1D30A259-0385-2988-22C0-89F60FF4C9FD}"/>
                </a:ext>
              </a:extLst>
            </p:cNvPr>
            <p:cNvCxnSpPr>
              <a:cxnSpLocks/>
              <a:stCxn id="13" idx="3"/>
              <a:endCxn id="17" idx="1"/>
            </p:cNvCxnSpPr>
            <p:nvPr/>
          </p:nvCxnSpPr>
          <p:spPr>
            <a:xfrm>
              <a:off x="2332434" y="3581003"/>
              <a:ext cx="69921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C953D184-B4E0-0026-25F2-20D4750EBD69}"/>
                </a:ext>
              </a:extLst>
            </p:cNvPr>
            <p:cNvSpPr/>
            <p:nvPr/>
          </p:nvSpPr>
          <p:spPr>
            <a:xfrm>
              <a:off x="3031645" y="3340973"/>
              <a:ext cx="1567291" cy="480060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6D59D68E-8041-202A-1F63-F630400EAA0C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4598936" y="3581003"/>
              <a:ext cx="62592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Shape 12">
              <a:extLst>
                <a:ext uri="{FF2B5EF4-FFF2-40B4-BE49-F238E27FC236}">
                  <a16:creationId xmlns:a16="http://schemas.microsoft.com/office/drawing/2014/main" id="{480B85A8-8C7C-D85B-9A86-C1F8F554E0A6}"/>
                </a:ext>
              </a:extLst>
            </p:cNvPr>
            <p:cNvSpPr/>
            <p:nvPr/>
          </p:nvSpPr>
          <p:spPr>
            <a:xfrm>
              <a:off x="5224865" y="3328921"/>
              <a:ext cx="1705927" cy="480060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 dirty="0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D7ACA4FA-0A0D-66F9-0EFB-6BEF59BFF376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6930792" y="3568951"/>
              <a:ext cx="739752" cy="66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Shape 12">
              <a:extLst>
                <a:ext uri="{FF2B5EF4-FFF2-40B4-BE49-F238E27FC236}">
                  <a16:creationId xmlns:a16="http://schemas.microsoft.com/office/drawing/2014/main" id="{684E2FAB-7F04-66F2-967F-821B55AFA1CC}"/>
                </a:ext>
              </a:extLst>
            </p:cNvPr>
            <p:cNvSpPr/>
            <p:nvPr/>
          </p:nvSpPr>
          <p:spPr>
            <a:xfrm>
              <a:off x="9958506" y="3328921"/>
              <a:ext cx="1567292" cy="480060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0C277799-1725-2318-C0B9-CE3ECDE9343C}"/>
                </a:ext>
              </a:extLst>
            </p:cNvPr>
            <p:cNvSpPr txBox="1"/>
            <p:nvPr/>
          </p:nvSpPr>
          <p:spPr>
            <a:xfrm>
              <a:off x="660331" y="3380151"/>
              <a:ext cx="17059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800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Calibri" pitchFamily="34" charset="-120"/>
                </a:rPr>
                <a:t>建立 </a:t>
              </a:r>
              <a:r>
                <a:rPr lang="en-US" altLang="zh-TW" sz="1800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Calibri" pitchFamily="34" charset="-120"/>
                </a:rPr>
                <a:t>fs</a:t>
              </a:r>
              <a:endParaRPr lang="zh-TW" altLang="en-US" dirty="0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29E44382-933A-7DDD-EA3B-5AA99FC53CF5}"/>
                </a:ext>
              </a:extLst>
            </p:cNvPr>
            <p:cNvSpPr txBox="1"/>
            <p:nvPr/>
          </p:nvSpPr>
          <p:spPr>
            <a:xfrm>
              <a:off x="2993991" y="3395025"/>
              <a:ext cx="17059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800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Calibri" pitchFamily="34" charset="-120"/>
                </a:rPr>
                <a:t>建立 </a:t>
              </a:r>
              <a:r>
                <a:rPr lang="en-US" altLang="zh-TW" sz="1800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Calibri" pitchFamily="34" charset="-120"/>
                </a:rPr>
                <a:t>t</a:t>
              </a:r>
              <a:endParaRPr lang="zh-TW" altLang="en-US" dirty="0"/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5AD3FBD0-6470-67D8-F536-AD20544F75CE}"/>
                </a:ext>
              </a:extLst>
            </p:cNvPr>
            <p:cNvSpPr txBox="1"/>
            <p:nvPr/>
          </p:nvSpPr>
          <p:spPr>
            <a:xfrm>
              <a:off x="9861635" y="3382694"/>
              <a:ext cx="17059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800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Calibri" pitchFamily="34" charset="-120"/>
                </a:rPr>
                <a:t>畫圖</a:t>
              </a:r>
              <a:endParaRPr lang="zh-TW" altLang="en-US" dirty="0"/>
            </a:p>
          </p:txBody>
        </p:sp>
        <p:sp>
          <p:nvSpPr>
            <p:cNvPr id="45" name="Shape 12">
              <a:extLst>
                <a:ext uri="{FF2B5EF4-FFF2-40B4-BE49-F238E27FC236}">
                  <a16:creationId xmlns:a16="http://schemas.microsoft.com/office/drawing/2014/main" id="{E905D18E-0D89-D4B1-490E-FC8C19B9EFE7}"/>
                </a:ext>
              </a:extLst>
            </p:cNvPr>
            <p:cNvSpPr/>
            <p:nvPr/>
          </p:nvSpPr>
          <p:spPr>
            <a:xfrm>
              <a:off x="7670544" y="3329503"/>
              <a:ext cx="1567291" cy="480060"/>
            </a:xfrm>
            <a:prstGeom prst="roundRect">
              <a:avLst>
                <a:gd name="adj" fmla="val 9524"/>
              </a:avLst>
            </a:prstGeom>
            <a:solidFill>
              <a:srgbClr val="CFE8F3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CC20713A-09C0-7198-EDF2-A5D6B3B17119}"/>
                </a:ext>
              </a:extLst>
            </p:cNvPr>
            <p:cNvSpPr txBox="1"/>
            <p:nvPr/>
          </p:nvSpPr>
          <p:spPr>
            <a:xfrm>
              <a:off x="5245747" y="3368578"/>
              <a:ext cx="17059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800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Calibri" pitchFamily="34" charset="-120"/>
                </a:rPr>
                <a:t>建立</a:t>
              </a:r>
              <a:r>
                <a:rPr lang="zh-TW" altLang="en-US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Calibri" pitchFamily="34" charset="-120"/>
                </a:rPr>
                <a:t>頻域</a:t>
              </a:r>
              <a:endParaRPr lang="zh-TW" altLang="en-US" dirty="0"/>
            </a:p>
          </p:txBody>
        </p:sp>
        <p:cxnSp>
          <p:nvCxnSpPr>
            <p:cNvPr id="56" name="直線單箭頭接點 55">
              <a:extLst>
                <a:ext uri="{FF2B5EF4-FFF2-40B4-BE49-F238E27FC236}">
                  <a16:creationId xmlns:a16="http://schemas.microsoft.com/office/drawing/2014/main" id="{3E975F74-FCED-F2F9-6B49-7504F8FC66B4}"/>
                </a:ext>
              </a:extLst>
            </p:cNvPr>
            <p:cNvCxnSpPr>
              <a:cxnSpLocks/>
            </p:cNvCxnSpPr>
            <p:nvPr/>
          </p:nvCxnSpPr>
          <p:spPr>
            <a:xfrm>
              <a:off x="9198009" y="3537663"/>
              <a:ext cx="739752" cy="66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2C97DB59-2CFC-B641-CFE1-B76398C52E33}"/>
                </a:ext>
              </a:extLst>
            </p:cNvPr>
            <p:cNvSpPr txBox="1"/>
            <p:nvPr/>
          </p:nvSpPr>
          <p:spPr>
            <a:xfrm>
              <a:off x="7656998" y="3384285"/>
              <a:ext cx="17059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800" b="1" dirty="0">
                  <a:solidFill>
                    <a:srgbClr val="16233B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Calibri" pitchFamily="34" charset="-120"/>
                </a:rPr>
                <a:t>建立弦波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01325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81765-81EF-8BE7-9857-361BDB73A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6">
            <a:extLst>
              <a:ext uri="{FF2B5EF4-FFF2-40B4-BE49-F238E27FC236}">
                <a16:creationId xmlns:a16="http://schemas.microsoft.com/office/drawing/2014/main" id="{A069B9C0-5FB3-38BB-F179-09BBEBF24511}"/>
              </a:ext>
            </a:extLst>
          </p:cNvPr>
          <p:cNvSpPr/>
          <p:nvPr/>
        </p:nvSpPr>
        <p:spPr>
          <a:xfrm>
            <a:off x="478559" y="1670302"/>
            <a:ext cx="9601106" cy="1491604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5875">
            <a:solidFill>
              <a:srgbClr val="CFE8F3"/>
            </a:solidFill>
            <a:prstDash val="solid"/>
          </a:ln>
          <a:effectLst>
            <a:outerShdw blurRad="76200" dist="25400" dir="5400000" algn="bl" rotWithShape="0">
              <a:srgbClr val="1C2B3A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8FC1ECAF-E231-42BE-0A20-CAEE34D942AA}"/>
              </a:ext>
            </a:extLst>
          </p:cNvPr>
          <p:cNvSpPr/>
          <p:nvPr/>
        </p:nvSpPr>
        <p:spPr>
          <a:xfrm>
            <a:off x="0" y="0"/>
            <a:ext cx="12192000" cy="1419971"/>
          </a:xfrm>
          <a:prstGeom prst="roundRect">
            <a:avLst>
              <a:gd name="adj" fmla="val 0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E353DE2C-B8A5-271A-3707-384668087FBB}"/>
              </a:ext>
            </a:extLst>
          </p:cNvPr>
          <p:cNvGrpSpPr/>
          <p:nvPr/>
        </p:nvGrpSpPr>
        <p:grpSpPr>
          <a:xfrm>
            <a:off x="729394" y="404315"/>
            <a:ext cx="13154564" cy="658368"/>
            <a:chOff x="767079" y="434443"/>
            <a:chExt cx="13154564" cy="658368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AC563067-DC44-C4C7-D7E2-3D8A2505C2DF}"/>
                </a:ext>
              </a:extLst>
            </p:cNvPr>
            <p:cNvGrpSpPr/>
            <p:nvPr/>
          </p:nvGrpSpPr>
          <p:grpSpPr>
            <a:xfrm>
              <a:off x="767079" y="434443"/>
              <a:ext cx="13154564" cy="658368"/>
              <a:chOff x="767079" y="434443"/>
              <a:chExt cx="13154564" cy="658368"/>
            </a:xfrm>
          </p:grpSpPr>
          <p:sp>
            <p:nvSpPr>
              <p:cNvPr id="30" name="Text 2">
                <a:extLst>
                  <a:ext uri="{FF2B5EF4-FFF2-40B4-BE49-F238E27FC236}">
                    <a16:creationId xmlns:a16="http://schemas.microsoft.com/office/drawing/2014/main" id="{46FF5B20-5FD6-A482-7E71-5F2BA2450AA7}"/>
                  </a:ext>
                </a:extLst>
              </p:cNvPr>
              <p:cNvSpPr/>
              <p:nvPr/>
            </p:nvSpPr>
            <p:spPr>
              <a:xfrm>
                <a:off x="3497483" y="434443"/>
                <a:ext cx="1042416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altLang="zh-TW" sz="3000" b="1" dirty="0" err="1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mbria" pitchFamily="34" charset="-120"/>
                  </a:rPr>
                  <a:t>conv、conv</a:t>
                </a:r>
                <a:r>
                  <a:rPr lang="en-US" altLang="zh-TW" sz="3000" b="1" dirty="0">
                    <a:solidFill>
                      <a:srgbClr val="21295C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Cambria" pitchFamily="34" charset="-120"/>
                  </a:rPr>
                  <a:t>(...,'same') 與 filter</a:t>
                </a:r>
                <a:endParaRPr lang="en-US" altLang="zh-TW" sz="3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31" name="矩形: 圓角 30">
                <a:extLst>
                  <a:ext uri="{FF2B5EF4-FFF2-40B4-BE49-F238E27FC236}">
                    <a16:creationId xmlns:a16="http://schemas.microsoft.com/office/drawing/2014/main" id="{4CA52241-56BE-E097-02FE-C8867073351A}"/>
                  </a:ext>
                </a:extLst>
              </p:cNvPr>
              <p:cNvSpPr/>
              <p:nvPr/>
            </p:nvSpPr>
            <p:spPr>
              <a:xfrm>
                <a:off x="767079" y="478973"/>
                <a:ext cx="2463485" cy="59436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9" name="Text 2">
              <a:extLst>
                <a:ext uri="{FF2B5EF4-FFF2-40B4-BE49-F238E27FC236}">
                  <a16:creationId xmlns:a16="http://schemas.microsoft.com/office/drawing/2014/main" id="{57652412-FD14-64F4-DAD6-1E759C403151}"/>
                </a:ext>
              </a:extLst>
            </p:cNvPr>
            <p:cNvSpPr/>
            <p:nvPr/>
          </p:nvSpPr>
          <p:spPr>
            <a:xfrm>
              <a:off x="767080" y="452157"/>
              <a:ext cx="246348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3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第五題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9CC62396-D22D-3EE9-0146-188F30866423}"/>
              </a:ext>
            </a:extLst>
          </p:cNvPr>
          <p:cNvSpPr txBox="1"/>
          <p:nvPr/>
        </p:nvSpPr>
        <p:spPr>
          <a:xfrm>
            <a:off x="679767" y="1819669"/>
            <a:ext cx="967581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用小向量觀察 conv、conv(...,'same') 與 filter 的差異。</a:t>
            </a: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27198182-25EA-DC72-0A6B-09A6EEC0E642}"/>
              </a:ext>
            </a:extLst>
          </p:cNvPr>
          <p:cNvCxnSpPr>
            <a:cxnSpLocks/>
          </p:cNvCxnSpPr>
          <p:nvPr/>
        </p:nvCxnSpPr>
        <p:spPr>
          <a:xfrm>
            <a:off x="747201" y="2422594"/>
            <a:ext cx="8949692" cy="0"/>
          </a:xfrm>
          <a:prstGeom prst="line">
            <a:avLst/>
          </a:prstGeom>
          <a:ln w="57150">
            <a:prstDash val="soli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" name="群組 1">
            <a:extLst>
              <a:ext uri="{FF2B5EF4-FFF2-40B4-BE49-F238E27FC236}">
                <a16:creationId xmlns:a16="http://schemas.microsoft.com/office/drawing/2014/main" id="{FC4D1BA6-E49D-76E9-20BC-9B3D4F2B22BA}"/>
              </a:ext>
            </a:extLst>
          </p:cNvPr>
          <p:cNvGrpSpPr/>
          <p:nvPr/>
        </p:nvGrpSpPr>
        <p:grpSpPr>
          <a:xfrm>
            <a:off x="1056144" y="3429000"/>
            <a:ext cx="2525661" cy="2575226"/>
            <a:chOff x="1455888" y="3429000"/>
            <a:chExt cx="2525661" cy="2575226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1F94CBB8-7BC8-80BA-97C8-D817096A8A50}"/>
                </a:ext>
              </a:extLst>
            </p:cNvPr>
            <p:cNvSpPr/>
            <p:nvPr/>
          </p:nvSpPr>
          <p:spPr>
            <a:xfrm>
              <a:off x="1468437" y="3429000"/>
              <a:ext cx="2513112" cy="7543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Shape 14">
              <a:extLst>
                <a:ext uri="{FF2B5EF4-FFF2-40B4-BE49-F238E27FC236}">
                  <a16:creationId xmlns:a16="http://schemas.microsoft.com/office/drawing/2014/main" id="{9F5D896F-BD1E-5013-C269-863DFD347118}"/>
                </a:ext>
              </a:extLst>
            </p:cNvPr>
            <p:cNvSpPr/>
            <p:nvPr/>
          </p:nvSpPr>
          <p:spPr>
            <a:xfrm>
              <a:off x="1468437" y="4320540"/>
              <a:ext cx="2513112" cy="1683686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5875">
              <a:solidFill>
                <a:srgbClr val="CFE8F3"/>
              </a:solidFill>
              <a:prstDash val="solid"/>
            </a:ln>
            <a:effectLst>
              <a:outerShdw blurRad="76200" dist="25400" dir="5400000" algn="bl" rotWithShape="0">
                <a:srgbClr val="1C2B3A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DB69C032-A0B6-C297-2306-3BA1883A86B5}"/>
                </a:ext>
              </a:extLst>
            </p:cNvPr>
            <p:cNvSpPr txBox="1"/>
            <p:nvPr/>
          </p:nvSpPr>
          <p:spPr>
            <a:xfrm>
              <a:off x="1455888" y="3544450"/>
              <a:ext cx="2513112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150"/>
                </a:spcBef>
                <a:spcAft>
                  <a:spcPts val="675"/>
                </a:spcAft>
              </a:pPr>
              <a:r>
                <a:rPr lang="en-US" altLang="zh-TW" sz="250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conv(</a:t>
              </a:r>
              <a:r>
                <a:rPr lang="en-US" altLang="zh-TW" sz="2500" b="1" dirty="0" err="1">
                  <a:solidFill>
                    <a:srgbClr val="21212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a,h</a:t>
              </a:r>
              <a:r>
                <a:rPr lang="en-US" altLang="zh-TW" sz="250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)</a:t>
              </a:r>
              <a:endParaRPr lang="zh-TW" altLang="zh-TW" sz="2500" b="1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8FCAC27F-2691-56A3-436A-53C544EE6A6A}"/>
              </a:ext>
            </a:extLst>
          </p:cNvPr>
          <p:cNvGrpSpPr/>
          <p:nvPr/>
        </p:nvGrpSpPr>
        <p:grpSpPr>
          <a:xfrm>
            <a:off x="4080808" y="3429000"/>
            <a:ext cx="3158192" cy="2575225"/>
            <a:chOff x="4080808" y="3429000"/>
            <a:chExt cx="3158192" cy="2575225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C9FBB3CB-A64B-5861-6D86-AF9379416ACC}"/>
                </a:ext>
              </a:extLst>
            </p:cNvPr>
            <p:cNvSpPr/>
            <p:nvPr/>
          </p:nvSpPr>
          <p:spPr>
            <a:xfrm>
              <a:off x="4080808" y="3429000"/>
              <a:ext cx="3158192" cy="7543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Shape 14">
              <a:extLst>
                <a:ext uri="{FF2B5EF4-FFF2-40B4-BE49-F238E27FC236}">
                  <a16:creationId xmlns:a16="http://schemas.microsoft.com/office/drawing/2014/main" id="{E868F605-6B38-77C3-7359-3026B03736CB}"/>
                </a:ext>
              </a:extLst>
            </p:cNvPr>
            <p:cNvSpPr/>
            <p:nvPr/>
          </p:nvSpPr>
          <p:spPr>
            <a:xfrm>
              <a:off x="4080808" y="4320538"/>
              <a:ext cx="3158192" cy="1683687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5875">
              <a:solidFill>
                <a:srgbClr val="CFE8F3"/>
              </a:solidFill>
              <a:prstDash val="solid"/>
            </a:ln>
            <a:effectLst>
              <a:outerShdw blurRad="76200" dist="25400" dir="5400000" algn="bl" rotWithShape="0">
                <a:srgbClr val="1C2B3A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76C235E5-4DB2-A49D-4177-0E394430BF4F}"/>
                </a:ext>
              </a:extLst>
            </p:cNvPr>
            <p:cNvSpPr txBox="1"/>
            <p:nvPr/>
          </p:nvSpPr>
          <p:spPr>
            <a:xfrm>
              <a:off x="4403348" y="3536378"/>
              <a:ext cx="2513112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150"/>
                </a:spcBef>
                <a:spcAft>
                  <a:spcPts val="675"/>
                </a:spcAft>
              </a:pPr>
              <a:r>
                <a:rPr lang="en-US" altLang="zh-TW" sz="250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conv(a, h, ‘same’)</a:t>
              </a:r>
              <a:endParaRPr lang="zh-TW" altLang="zh-TW" sz="2500" b="1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E16FB773-82A8-1584-88A5-545D026914F0}"/>
              </a:ext>
            </a:extLst>
          </p:cNvPr>
          <p:cNvGrpSpPr/>
          <p:nvPr/>
        </p:nvGrpSpPr>
        <p:grpSpPr>
          <a:xfrm>
            <a:off x="7738003" y="3429000"/>
            <a:ext cx="2825948" cy="2575226"/>
            <a:chOff x="7492667" y="3429000"/>
            <a:chExt cx="2825948" cy="2575226"/>
          </a:xfrm>
        </p:grpSpPr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220E7DF7-7165-AAAD-42A6-3E135D677BCC}"/>
                </a:ext>
              </a:extLst>
            </p:cNvPr>
            <p:cNvSpPr/>
            <p:nvPr/>
          </p:nvSpPr>
          <p:spPr>
            <a:xfrm>
              <a:off x="7492667" y="3429000"/>
              <a:ext cx="2825948" cy="754380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Shape 14">
              <a:extLst>
                <a:ext uri="{FF2B5EF4-FFF2-40B4-BE49-F238E27FC236}">
                  <a16:creationId xmlns:a16="http://schemas.microsoft.com/office/drawing/2014/main" id="{683597A5-ECB9-4E37-65F6-4A73FC3A90BE}"/>
                </a:ext>
              </a:extLst>
            </p:cNvPr>
            <p:cNvSpPr/>
            <p:nvPr/>
          </p:nvSpPr>
          <p:spPr>
            <a:xfrm>
              <a:off x="7492667" y="4320540"/>
              <a:ext cx="2825948" cy="1683686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5875">
              <a:solidFill>
                <a:srgbClr val="CFE8F3"/>
              </a:solidFill>
              <a:prstDash val="solid"/>
            </a:ln>
            <a:effectLst>
              <a:outerShdw blurRad="76200" dist="25400" dir="5400000" algn="bl" rotWithShape="0">
                <a:srgbClr val="1C2B3A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DBC3E2C-3BBF-4ECB-0BAF-07EB17D32B06}"/>
                </a:ext>
              </a:extLst>
            </p:cNvPr>
            <p:cNvSpPr txBox="1"/>
            <p:nvPr/>
          </p:nvSpPr>
          <p:spPr>
            <a:xfrm>
              <a:off x="7670435" y="3554872"/>
              <a:ext cx="2513112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150"/>
                </a:spcBef>
                <a:spcAft>
                  <a:spcPts val="675"/>
                </a:spcAft>
              </a:pPr>
              <a:r>
                <a:rPr lang="en-US" altLang="zh-TW" sz="2500" b="1" dirty="0">
                  <a:solidFill>
                    <a:srgbClr val="21212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Filter(h,1,a)</a:t>
              </a:r>
              <a:endParaRPr lang="zh-TW" altLang="zh-TW" sz="2500" b="1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1A918CD-0665-47BB-884B-5A29BAB36D56}"/>
              </a:ext>
            </a:extLst>
          </p:cNvPr>
          <p:cNvSpPr txBox="1"/>
          <p:nvPr/>
        </p:nvSpPr>
        <p:spPr>
          <a:xfrm>
            <a:off x="1628049" y="4832119"/>
            <a:ext cx="2025967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做卷積運算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9467F00-282D-8B47-38CD-31E85637DC78}"/>
              </a:ext>
            </a:extLst>
          </p:cNvPr>
          <p:cNvSpPr txBox="1"/>
          <p:nvPr/>
        </p:nvSpPr>
        <p:spPr>
          <a:xfrm>
            <a:off x="4249738" y="4609662"/>
            <a:ext cx="2835652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做卷積運算，並取與輸入長度相同的中心段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AB7E221-E107-27CF-4D32-63F5685A5782}"/>
              </a:ext>
            </a:extLst>
          </p:cNvPr>
          <p:cNvSpPr txBox="1"/>
          <p:nvPr/>
        </p:nvSpPr>
        <p:spPr>
          <a:xfrm>
            <a:off x="8001363" y="4600805"/>
            <a:ext cx="2505935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以濾波器逐點運算，輸出長度與</a:t>
            </a:r>
            <a:r>
              <a:rPr lang="en-US" altLang="zh-TW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a</a:t>
            </a:r>
            <a:r>
              <a:rPr lang="zh-TW" altLang="en-US" sz="2000" dirty="0">
                <a:solidFill>
                  <a:srgbClr val="16233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libri" pitchFamily="34" charset="-120"/>
              </a:rPr>
              <a:t>相同</a:t>
            </a:r>
            <a:endParaRPr lang="en-US" altLang="zh-TW" sz="2000" dirty="0">
              <a:solidFill>
                <a:srgbClr val="16233B"/>
              </a:solidFill>
              <a:latin typeface="Times New Roman" panose="02020603050405020304" pitchFamily="18" charset="0"/>
              <a:ea typeface="標楷體" panose="03000509000000000000" pitchFamily="65" charset="-120"/>
              <a:cs typeface="Calibri" pitchFamily="34" charset="-120"/>
            </a:endParaRPr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36840797-CCAB-4A86-1290-3AC86649CA23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D387A29-D4F8-1810-E31D-C7AF826CF11D}"/>
                  </a:ext>
                </a:extLst>
              </p:cNvPr>
              <p:cNvSpPr txBox="1"/>
              <p:nvPr/>
            </p:nvSpPr>
            <p:spPr>
              <a:xfrm>
                <a:off x="825906" y="2601939"/>
                <a:ext cx="2168542" cy="353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300" dirty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3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D387A29-D4F8-1810-E31D-C7AF826CF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06" y="2601939"/>
                <a:ext cx="2168542" cy="353943"/>
              </a:xfrm>
              <a:prstGeom prst="rect">
                <a:avLst/>
              </a:prstGeom>
              <a:blipFill>
                <a:blip r:embed="rId3"/>
                <a:stretch>
                  <a:fillRect l="-8146" t="-25862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5D102BF-459A-1058-91B2-9311A4C798B6}"/>
                  </a:ext>
                </a:extLst>
              </p:cNvPr>
              <p:cNvSpPr txBox="1"/>
              <p:nvPr/>
            </p:nvSpPr>
            <p:spPr>
              <a:xfrm>
                <a:off x="3341795" y="2591960"/>
                <a:ext cx="1724511" cy="353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2300" dirty="0"/>
                  <a:t>h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TW" altLang="en-US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sz="23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5D102BF-459A-1058-91B2-9311A4C79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795" y="2591960"/>
                <a:ext cx="1724511" cy="353943"/>
              </a:xfrm>
              <a:prstGeom prst="rect">
                <a:avLst/>
              </a:prstGeom>
              <a:blipFill>
                <a:blip r:embed="rId4"/>
                <a:stretch>
                  <a:fillRect l="-10247" t="-25862" b="-517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E228D8F9-CE0B-A04F-503B-69D130884A71}"/>
              </a:ext>
            </a:extLst>
          </p:cNvPr>
          <p:cNvSpPr txBox="1"/>
          <p:nvPr/>
        </p:nvSpPr>
        <p:spPr>
          <a:xfrm>
            <a:off x="10079665" y="3150920"/>
            <a:ext cx="250123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75"/>
              </a:spcAft>
            </a:pPr>
            <a:r>
              <a:rPr lang="zh-TW" altLang="en-US" sz="15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反饋係數，通常為</a:t>
            </a:r>
            <a:r>
              <a:rPr lang="en-US" altLang="zh-TW" sz="15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</a:t>
            </a:r>
            <a:endParaRPr lang="zh-TW" altLang="zh-TW" sz="1500" b="0" i="0" u="none" strike="noStrike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BA90FA9D-A31D-A218-2147-AF5842465565}"/>
              </a:ext>
            </a:extLst>
          </p:cNvPr>
          <p:cNvCxnSpPr>
            <a:cxnSpLocks/>
          </p:cNvCxnSpPr>
          <p:nvPr/>
        </p:nvCxnSpPr>
        <p:spPr>
          <a:xfrm rot="10800000" flipV="1">
            <a:off x="9551075" y="3327386"/>
            <a:ext cx="501324" cy="281291"/>
          </a:xfrm>
          <a:prstGeom prst="bentConnector3">
            <a:avLst>
              <a:gd name="adj1" fmla="val 9971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543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91589" y="3429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5" name="Shape 3"/>
          <p:cNvSpPr/>
          <p:nvPr/>
        </p:nvSpPr>
        <p:spPr>
          <a:xfrm>
            <a:off x="718029" y="1058636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ADEAD300-8BA3-664E-72F8-CC2BBBC8C797}"/>
              </a:ext>
            </a:extLst>
          </p:cNvPr>
          <p:cNvSpPr/>
          <p:nvPr/>
        </p:nvSpPr>
        <p:spPr>
          <a:xfrm>
            <a:off x="822960" y="347053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Cambria" pitchFamily="34" charset="-120"/>
              </a:rPr>
              <a:t>回家作業</a:t>
            </a:r>
            <a:endParaRPr lang="en-US" altLang="zh-TW" sz="3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04C1F21C-FDF6-5667-B4B6-834A10C540B3}"/>
              </a:ext>
            </a:extLst>
          </p:cNvPr>
          <p:cNvSpPr/>
          <p:nvPr/>
        </p:nvSpPr>
        <p:spPr>
          <a:xfrm>
            <a:off x="718029" y="1468647"/>
            <a:ext cx="10517101" cy="4632488"/>
          </a:xfrm>
          <a:prstGeom prst="roundRect">
            <a:avLst>
              <a:gd name="adj" fmla="val 9804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5875">
            <a:solidFill>
              <a:srgbClr val="CFE8F3"/>
            </a:solidFill>
            <a:prstDash val="solid"/>
          </a:ln>
          <a:effectLst>
            <a:outerShdw blurRad="76200" dist="25400" dir="5400000" algn="bl" rotWithShape="0">
              <a:srgbClr val="1C2B3A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22A72D3-681A-F310-EC90-0CF31E7D6724}"/>
              </a:ext>
            </a:extLst>
          </p:cNvPr>
          <p:cNvSpPr txBox="1"/>
          <p:nvPr/>
        </p:nvSpPr>
        <p:spPr>
          <a:xfrm>
            <a:off x="1138672" y="1853819"/>
            <a:ext cx="9675813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1.</a:t>
            </a: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請說明矩陣運算中「 </a:t>
            </a:r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.* </a:t>
            </a: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」與 「*</a:t>
            </a:r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」的差異為何</a:t>
            </a:r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?</a:t>
            </a:r>
          </a:p>
          <a:p>
            <a:endParaRPr lang="en-US" altLang="zh-TW" sz="25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2.</a:t>
            </a:r>
            <a:r>
              <a:rPr lang="zh-TW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建立時間向量，產生三個弦波，畫出相</a:t>
            </a: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減</a:t>
            </a:r>
            <a:r>
              <a:rPr lang="zh-TW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後</a:t>
            </a:r>
            <a:r>
              <a:rPr lang="zh-TW" altLang="en-US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之</a:t>
            </a:r>
            <a:r>
              <a:rPr lang="zh-TW" altLang="zh-TW" sz="25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波形。</a:t>
            </a:r>
          </a:p>
          <a:p>
            <a:pPr marL="360363"/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時間：-0.</a:t>
            </a:r>
            <a:r>
              <a:rPr lang="en-US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0</a:t>
            </a:r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2 ~ 0.</a:t>
            </a:r>
            <a:r>
              <a:rPr lang="en-US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0</a:t>
            </a:r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2 sec</a:t>
            </a:r>
            <a:endParaRPr lang="en-US" altLang="zh-TW" sz="25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60363"/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取樣頻率：10 kHz</a:t>
            </a:r>
            <a:endParaRPr lang="en-US" altLang="zh-TW" sz="25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60363"/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弦波1：x1 = </a:t>
            </a:r>
            <a:r>
              <a:rPr lang="en-US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4</a:t>
            </a:r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*sin(2pi </a:t>
            </a:r>
            <a:r>
              <a:rPr lang="en-US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6</a:t>
            </a:r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 t)</a:t>
            </a:r>
            <a:endParaRPr lang="en-US" altLang="zh-TW" sz="25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60363"/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弦波2：x2 = </a:t>
            </a:r>
            <a:r>
              <a:rPr lang="en-US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*sin(2pi </a:t>
            </a:r>
            <a:r>
              <a:rPr lang="en-US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4</a:t>
            </a:r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 t)</a:t>
            </a:r>
            <a:endParaRPr lang="en-US" altLang="zh-TW" sz="25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60363"/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弦波3：x3 =</a:t>
            </a:r>
            <a:r>
              <a:rPr lang="en-US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 1</a:t>
            </a:r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*sin(2pi </a:t>
            </a:r>
            <a:r>
              <a:rPr lang="en-US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2 </a:t>
            </a:r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t)</a:t>
            </a:r>
            <a:endParaRPr lang="en-US" altLang="zh-TW" sz="25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60363"/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弦波4：x_sum = x1 </a:t>
            </a:r>
            <a:r>
              <a:rPr lang="en-US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-</a:t>
            </a:r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 x2 </a:t>
            </a:r>
            <a:r>
              <a:rPr lang="en-US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-</a:t>
            </a:r>
            <a:r>
              <a:rPr lang="zh-TW" altLang="zh-TW" sz="2500" dirty="0">
                <a:latin typeface="Times New Roman" panose="02020603050405020304" pitchFamily="18" charset="0"/>
                <a:ea typeface="標楷體" panose="03000509000000000000" pitchFamily="65" charset="-120"/>
              </a:rPr>
              <a:t> x3</a:t>
            </a:r>
          </a:p>
          <a:p>
            <a:endParaRPr lang="zh-TW" altLang="zh-TW" sz="30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843</Words>
  <Application>Microsoft Office PowerPoint</Application>
  <PresentationFormat>寬螢幕</PresentationFormat>
  <Paragraphs>171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標楷體</vt:lpstr>
      <vt:lpstr>Arial</vt:lpstr>
      <vt:lpstr>Calibri</vt:lpstr>
      <vt:lpstr>Cambria Math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yunchen lo</cp:lastModifiedBy>
  <cp:revision>26</cp:revision>
  <dcterms:created xsi:type="dcterms:W3CDTF">2026-09-09T00:47:19Z</dcterms:created>
  <dcterms:modified xsi:type="dcterms:W3CDTF">2026-09-15T07:25:59Z</dcterms:modified>
</cp:coreProperties>
</file>