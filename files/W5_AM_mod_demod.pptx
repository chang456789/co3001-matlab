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1" r:id="rId5"/>
    <p:sldId id="259" r:id="rId6"/>
    <p:sldId id="290" r:id="rId7"/>
    <p:sldId id="292" r:id="rId8"/>
    <p:sldId id="297" r:id="rId9"/>
    <p:sldId id="260" r:id="rId10"/>
    <p:sldId id="270" r:id="rId11"/>
    <p:sldId id="289" r:id="rId12"/>
    <p:sldId id="263" r:id="rId13"/>
    <p:sldId id="283" r:id="rId14"/>
    <p:sldId id="298" r:id="rId15"/>
    <p:sldId id="300" r:id="rId16"/>
    <p:sldId id="284" r:id="rId17"/>
    <p:sldId id="291" r:id="rId18"/>
    <p:sldId id="285" r:id="rId19"/>
    <p:sldId id="299" r:id="rId20"/>
    <p:sldId id="295" r:id="rId21"/>
    <p:sldId id="293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D26"/>
    <a:srgbClr val="F4F7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2280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5558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開場：本堂課用實驗四的 MATLAB Live Script 說明 AM 調變與解調。三個重點：原理、失真與不失真的判斷條件、程式碼逐步拆解。畫面右側是 Ka = 0.2 時的 AM 訊號 s(t)，琥珀色曲線就是「包絡」。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先建立地圖：第一部分講原理，第二部分講失真的判斷，第三部分逐行拆解程式。底下是整個實驗使用的參數，Ka 會從 0.2（不失真）改成 0.6（過度調變）。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為什麼要調變？第一，天線尺寸與波長同量級，4 kHz 的波長約 75 公里，100 kHz 約 3 公里。第二，多個電台需要分頻共用媒介。調變的本質是把訊息的頻譜搬到載波頻率附近。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同步解調三步驟：乘上載波、低通濾波、去掉直流。乘完載波後，基頻成分帶著 DC 加上訊息，另一項落在 2fc。注意載波的相位必須對齊，否則輸出振幅會被 cos φ 衰減。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 的公式：先把訊息乘上 Ka 再加 1，得到包絡；再乘上載波。注意「加 1」很重要，它讓載波保留下來，也讓包絡在 Ka·m 不太大時保持為正。課本的 c(t) 已含 Ac，因此程式中 s(t) 的實際振幅是 Ac 的平方。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A909D-33B8-E1DA-67DC-F5FBFEA04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D9E10-991C-8553-C9A8-BB0AF0F05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6BB229-6230-DAB5-DFB2-C406FF07C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 的公式：先把訊息乘上 Ka 再加 1，得到包絡；再乘上載波。注意「加 1」很重要，它讓載波保留下來，也讓包絡在 Ka·m 不太大時保持為正。課本的 c(t) 已含 Ac，因此程式中 s(t) 的實際振幅是 Ac 的平方。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52C52-E04C-6146-C944-0AA5F61F75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29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03B9B-8832-1143-4B59-3A102157F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FB5C6-3C0C-9187-7DE8-DF32F2207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6EA6E-003D-1C42-F1D8-5C0BDBA58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 的公式：先把訊息乘上 Ka 再加 1，得到包絡；再乘上載波。注意「加 1」很重要，它讓載波保留下來，也讓包絡在 Ka·m 不太大時保持為正。課本的 c(t) 已含 Ac，因此程式中 s(t) 的實際振幅是 Ac 的平方。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4A4A8-53B8-7BB4-6E5D-012205BEB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923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A95BF-20A2-86E3-0D42-E6D12D842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77001-C95C-75DE-5966-60087EFD7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0C320E-EA77-1578-FD51-D0CC7B8EE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 的公式：先把訊息乘上 Ka 再加 1，得到包絡；再乘上載波。注意「加 1」很重要，它讓載波保留下來，也讓包絡在 Ka·m 不太大時保持為正。課本的 c(t) 已含 Ac，因此程式中 s(t) 的實際振幅是 Ac 的平方。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AAC3A-1AF2-AC43-7FCB-937271490C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01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圖中上方是訊息頻譜，只有 ±4 kHz 與 ±8 kHz 四條線；下方是 AM 訊號在 100 kHz 附近的頻譜：中間是載波，兩側是邊帶。數學上，載波乘以弦波會產生和頻與差頻。頻寬是最高訊息頻率的兩倍，也就是 16 kHz。這裡的頻率軸已經修正為正確位置。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步驟一：設定取樣率與時間軸。時間軸從 -0.5 ms 到 0.5 ms 共 1000 點，所以頻率解析度剛好是 1 kHz，這也是後面頻譜看起來很乾淨的原因。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75502-47BC-9A8A-BFB3-BB790AF7D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ADC4D-A27D-C54D-DA8D-85CE09F71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3A934-7BFB-6ADE-7EE7-5773EF306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步驟一：設定取樣率與時間軸。時間軸從 -0.5 ms 到 0.5 ms 共 1000 點，所以頻率解析度剛好是 1 kHz，這也是後面頻譜看起來很乾淨的原因。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9F21C-F5FE-3ACF-836E-95163AAE08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25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整堂課最重要的一頁。1 + Ka·m(t) 就是包絡的高度，只要它不小於 0，包絡就不會反折。這次的 m(t) 最大值是 3.49，所以 Ka = 0.2 對應 70%，Ka = 0.6 對應 210%，臨界值約 0.286。注意判斷時要用實際的 max|m|，不是把兩個振幅相加。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7FBA5-F4B0-4577-46EC-B85F998E8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6AB8A-73D7-E961-15F5-7565F03EB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F6809-F554-BCD9-B801-1012E5FA6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 的公式：先把訊息乘上 Ka 再加 1，得到包絡；再乘上載波。注意「加 1」很重要，它讓載波保留下來，也讓包絡在 Ka·m 不太大時保持為正。課本的 c(t) 已含 Ac，因此程式中 s(t) 的實際振幅是 Ac 的平方。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27979-F36A-B93F-CC03-AFE211BD6D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992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8A0BC-7043-BE55-A030-683438522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0BE9D-BE87-CF92-DFDE-AA41E9A2B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998DCC-EADB-C6F7-DAE1-556B3579F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 的公式：先把訊息乘上 Ka 再加 1，得到包絡；再乘上載波。注意「加 1」很重要，它讓載波保留下來，也讓包絡在 Ka·m 不太大時保持為正。課本的 c(t) 已含 Ac，因此程式中 s(t) 的實際振幅是 Ac 的平方。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D1A2F-DB80-9AAF-A576-3B8FD5BCD0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253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1011F-1D8B-8D2C-F75B-8C3EB9939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73CE5-E1EE-DC00-7B98-E3E50789E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12873C-BFEA-9738-6065-59FDDE659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 的公式：先把訊息乘上 Ka 再加 1，得到包絡；再乘上載波。注意「加 1」很重要，它讓載波保留下來，也讓包絡在 Ka·m 不太大時保持為正。課本的 c(t) 已含 Ac，因此程式中 s(t) 的實際振幅是 Ac 的平方。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C0789-D6D5-C3EF-120F-793409C934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040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F6708-5C53-67FA-ADDF-D9533B7DF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A720C-0A72-CF8D-2BB6-047E5CD41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E6D9E8-C443-F06B-9041-C1B157E3C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步驟一：設定取樣率與時間軸。時間軸從 -0.5 ms 到 0.5 ms 共 1000 點，所以頻率解析度剛好是 1 kHz，這也是後面頻譜看起來很乾淨的原因。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03496-826A-D87A-32B9-528DFE2609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74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122BA-1FFF-208E-57FA-007F38CE0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DFB82-8B13-79D2-B7C9-766B6CFA0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B14DC-C0A5-511B-7F95-71A57DEB7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步驟一：設定取樣率與時間軸。時間軸從 -0.5 ms 到 0.5 ms 共 1000 點，所以頻率解析度剛好是 1 kHz，這也是後面頻譜看起來很乾淨的原因。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90843-70D4-E787-BDF5-1EE36FD1C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075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D9091-E097-E0FB-EC76-7F46E4E95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44DC3-CFC9-F8DD-2274-CEF28D2D8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242900-DDD3-1C96-0C52-705DC04B5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步驟一：設定取樣率與時間軸。時間軸從 -0.5 ms 到 0.5 ms 共 1000 點，所以頻率解析度剛好是 1 kHz，這也是後面頻譜看起來很乾淨的原因。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0C2C1-AD56-60EB-FB1B-C4AE0713CB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55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F3964-9FBD-A431-C406-6B6FAA46F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58C6C-6535-CDE0-7E42-F12592658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54D38-27E1-7BF5-7DCC-368E538E4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步驟一：設定取樣率與時間軸。時間軸從 -0.5 ms 到 0.5 ms 共 1000 點，所以頻率解析度剛好是 1 kHz，這也是後面頻譜看起來很乾淨的原因。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91F52-570D-7F77-E59B-2F3AEC9794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03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14FBB-CC56-1CEE-F9B7-BCDCC1189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A8C603-19A1-B314-198D-CFB8877CF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79EF0-88D3-DF48-A6D7-9EEF85846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步驟一：設定取樣率與時間軸。時間軸從 -0.5 ms 到 0.5 ms 共 1000 點，所以頻率解析度剛好是 1 kHz，這也是後面頻譜看起來很乾淨的原因。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EC4D6-518F-329E-012A-5204CE464A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887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57ED6-639E-3AE8-857F-4A090D230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B4BCD-1ABB-7348-62C3-EEA231466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D1E202-3111-235D-93BA-9B0524860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步驟一：設定取樣率與時間軸。時間軸從 -0.5 ms 到 0.5 ms 共 1000 點，所以頻率解析度剛好是 1 kHz，這也是後面頻譜看起來很乾淨的原因。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C4DCD-8EEE-88AC-46CC-39BC01B71B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14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7" Type="http://schemas.openxmlformats.org/officeDocument/2006/relationships/image" Target="../media/image2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0.png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96340"/>
            <a:ext cx="5486400" cy="76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 err="1">
                <a:solidFill>
                  <a:srgbClr val="E39A1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實驗四</a:t>
            </a:r>
            <a:endParaRPr lang="en-US" sz="5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50900" y="2530125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AM 調變與解調</a:t>
            </a:r>
            <a:endParaRPr lang="en-US" sz="5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50900" y="4942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200" dirty="0">
                <a:solidFill>
                  <a:srgbClr val="BFD3D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日期：</a:t>
            </a:r>
            <a:r>
              <a:rPr lang="en-US" altLang="zh-TW" sz="2200" dirty="0">
                <a:solidFill>
                  <a:srgbClr val="BFD3D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10/6		</a:t>
            </a:r>
            <a:r>
              <a:rPr lang="zh-TW" altLang="en-US" sz="2200" dirty="0">
                <a:solidFill>
                  <a:srgbClr val="BFD3D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週數：第</a:t>
            </a:r>
            <a:r>
              <a:rPr lang="en-US" altLang="zh-TW" sz="2200" dirty="0">
                <a:solidFill>
                  <a:srgbClr val="BFD3D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5</a:t>
            </a:r>
            <a:r>
              <a:rPr lang="zh-TW" altLang="en-US" sz="2200" dirty="0">
                <a:solidFill>
                  <a:srgbClr val="BFD3D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週</a:t>
            </a:r>
            <a:endParaRPr lang="en-US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4199915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0B1D26"/>
          </a:solidFill>
          <a:ln w="15875">
            <a:solidFill>
              <a:srgbClr val="5BB5A9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4206907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B5A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調變原理</a:t>
            </a:r>
            <a:endParaRPr lang="en-US" sz="13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14600" y="4199915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0B1D26"/>
          </a:solidFill>
          <a:ln w="15875">
            <a:solidFill>
              <a:srgbClr val="F08A6C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514600" y="4206907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8A6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失真的關鍵</a:t>
            </a:r>
            <a:endParaRPr lang="en-US" sz="13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97680" y="4199915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0B1D26"/>
          </a:solidFill>
          <a:ln w="15875">
            <a:solidFill>
              <a:srgbClr val="8FA0F2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297680" y="4206907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8FA0F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程式拆解</a:t>
            </a:r>
            <a:endParaRPr lang="en-US" sz="13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2" name="Image 0" descr="/home/claude/work/fig/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25880"/>
            <a:ext cx="5212080" cy="358218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583680" y="5001527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0" i="1" dirty="0">
                <a:solidFill>
                  <a:srgbClr val="E39A1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s(t) = A</a:t>
            </a:r>
            <a:r>
              <a:rPr lang="en-US" sz="2500" i="1" baseline="-40000" dirty="0">
                <a:solidFill>
                  <a:srgbClr val="E39A1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c</a:t>
            </a:r>
            <a:r>
              <a:rPr lang="en-US" sz="2500" i="1" dirty="0">
                <a:solidFill>
                  <a:srgbClr val="E39A1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[1 + K</a:t>
            </a:r>
            <a:r>
              <a:rPr lang="en-US" sz="2500" i="1" baseline="-40000" dirty="0">
                <a:solidFill>
                  <a:srgbClr val="E39A1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a</a:t>
            </a:r>
            <a:r>
              <a:rPr lang="en-US" sz="2500" i="1" dirty="0">
                <a:solidFill>
                  <a:srgbClr val="E39A1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m(t)]·c(t)</a:t>
            </a:r>
            <a:endParaRPr lang="en-US" sz="25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C89ED024-086D-1BB8-5E21-C732FE62E42B}"/>
              </a:ext>
            </a:extLst>
          </p:cNvPr>
          <p:cNvSpPr/>
          <p:nvPr/>
        </p:nvSpPr>
        <p:spPr>
          <a:xfrm>
            <a:off x="731520" y="2172217"/>
            <a:ext cx="20116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2947" y="660401"/>
            <a:ext cx="10041388" cy="541669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1123809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5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目錄</a:t>
            </a:r>
            <a:endParaRPr lang="en-US" sz="35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523314" y="369788"/>
            <a:ext cx="5942041" cy="5827811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22960" y="1922727"/>
            <a:ext cx="8371840" cy="415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757738" algn="l"/>
              </a:tabLst>
            </a:pPr>
            <a:r>
              <a:rPr lang="zh-TW" altLang="en-US" sz="28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介紹</a:t>
            </a:r>
            <a:r>
              <a:rPr lang="en-US" altLang="zh-TW" sz="28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AM </a:t>
            </a:r>
            <a:r>
              <a:rPr lang="zh-TW" altLang="en-US" sz="28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調變</a:t>
            </a:r>
            <a:endParaRPr lang="en-US" altLang="zh-TW" sz="2800" b="1" dirty="0">
              <a:solidFill>
                <a:srgbClr val="0B1D26"/>
              </a:solidFill>
              <a:latin typeface="Times New Roman" panose="02020603050405020304" pitchFamily="18" charset="0"/>
              <a:ea typeface="標楷體" panose="03000509000000000000" pitchFamily="65" charset="-120"/>
              <a:cs typeface="Microsoft JhengHei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757738" algn="l"/>
              </a:tabLst>
            </a:pPr>
            <a:r>
              <a:rPr lang="zh-TW" altLang="zh-TW" sz="28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AM調變</a:t>
            </a:r>
            <a:r>
              <a:rPr lang="zh-TW" altLang="en-US" sz="28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實作</a:t>
            </a:r>
            <a:endParaRPr lang="en-US" altLang="zh-TW" sz="2800" b="1" dirty="0">
              <a:solidFill>
                <a:srgbClr val="0B1D26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757738" algn="l"/>
              </a:tabLst>
            </a:pPr>
            <a:r>
              <a:rPr lang="en-US" altLang="zh-TW" sz="28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AM</a:t>
            </a:r>
            <a:r>
              <a:rPr lang="zh-TW" altLang="en-US" sz="28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解調實作</a:t>
            </a:r>
            <a:endParaRPr lang="en-US" altLang="zh-TW" sz="2800" b="1" dirty="0">
              <a:solidFill>
                <a:srgbClr val="0B1D26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757738" algn="l"/>
              </a:tabLst>
            </a:pPr>
            <a:r>
              <a:rPr lang="zh-TW" altLang="en-US" sz="28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包絡檢測</a:t>
            </a:r>
            <a:endParaRPr lang="en-US" altLang="zh-TW" sz="2800" b="1" dirty="0">
              <a:solidFill>
                <a:srgbClr val="0B1D26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757738" algn="l"/>
              </a:tabLst>
            </a:pPr>
            <a:r>
              <a:rPr lang="zh-TW" altLang="en-US" sz="28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回家作業練習</a:t>
            </a:r>
            <a:endParaRPr lang="en-US" altLang="zh-TW" sz="2800" b="1" dirty="0">
              <a:solidFill>
                <a:srgbClr val="0B1D26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757738" algn="l"/>
              </a:tabLst>
            </a:pPr>
            <a:endParaRPr lang="en-US" altLang="zh-TW" sz="28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4">
            <a:extLst>
              <a:ext uri="{FF2B5EF4-FFF2-40B4-BE49-F238E27FC236}">
                <a16:creationId xmlns:a16="http://schemas.microsoft.com/office/drawing/2014/main" id="{99D45AEA-635E-F80E-17D4-A07E617C131F}"/>
              </a:ext>
            </a:extLst>
          </p:cNvPr>
          <p:cNvSpPr/>
          <p:nvPr/>
        </p:nvSpPr>
        <p:spPr>
          <a:xfrm>
            <a:off x="660399" y="1341296"/>
            <a:ext cx="11181079" cy="1643429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749807" y="4699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什麼是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AM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調變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?</a:t>
            </a:r>
            <a:endParaRPr 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C2FAB2EE-A480-9019-6F07-EF2728B1B854}"/>
              </a:ext>
            </a:extLst>
          </p:cNvPr>
          <p:cNvSpPr txBox="1"/>
          <p:nvPr/>
        </p:nvSpPr>
        <p:spPr>
          <a:xfrm>
            <a:off x="938611" y="1497534"/>
            <a:ext cx="10592990" cy="1382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zh-TW" altLang="en-US" sz="2500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振幅調變</a:t>
            </a:r>
            <a:r>
              <a:rPr lang="en-US" altLang="zh-TW" sz="2500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(Amplitude Modulation, AM)</a:t>
            </a:r>
            <a:r>
              <a:rPr lang="zh-TW" altLang="en-US" sz="2500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，</a:t>
            </a:r>
            <a:r>
              <a:rPr lang="zh-TW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把原本低頻、不能有效遠距離傳輸的訊息，放到高頻載波上，利用「載波的振幅大小」來攜帶訊息。</a:t>
            </a:r>
            <a:endParaRPr lang="en-US" altLang="zh-TW" sz="2500" dirty="0">
              <a:solidFill>
                <a:srgbClr val="0B1D26"/>
              </a:solidFill>
              <a:latin typeface="Times New Roman" panose="02020603050405020304" pitchFamily="18" charset="0"/>
              <a:ea typeface="標楷體" panose="03000509000000000000" pitchFamily="65" charset="-120"/>
              <a:cs typeface="Microsoft JhengHei" pitchFamily="34" charset="-120"/>
            </a:endParaRPr>
          </a:p>
        </p:txBody>
      </p:sp>
      <p:sp>
        <p:nvSpPr>
          <p:cNvPr id="48" name="Text 1">
            <a:extLst>
              <a:ext uri="{FF2B5EF4-FFF2-40B4-BE49-F238E27FC236}">
                <a16:creationId xmlns:a16="http://schemas.microsoft.com/office/drawing/2014/main" id="{47B339FE-CA2C-7EB1-9D8A-9A2A929388FD}"/>
              </a:ext>
            </a:extLst>
          </p:cNvPr>
          <p:cNvSpPr txBox="1"/>
          <p:nvPr/>
        </p:nvSpPr>
        <p:spPr>
          <a:xfrm>
            <a:off x="749806" y="318747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為什麼要搬到高頻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?</a:t>
            </a:r>
            <a:endParaRPr 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2" name="Shape 4">
            <a:extLst>
              <a:ext uri="{FF2B5EF4-FFF2-40B4-BE49-F238E27FC236}">
                <a16:creationId xmlns:a16="http://schemas.microsoft.com/office/drawing/2014/main" id="{E5450BEA-C84F-5D74-A1D8-C8F580D5D634}"/>
              </a:ext>
            </a:extLst>
          </p:cNvPr>
          <p:cNvSpPr/>
          <p:nvPr/>
        </p:nvSpPr>
        <p:spPr>
          <a:xfrm>
            <a:off x="8602134" y="4076027"/>
            <a:ext cx="3144860" cy="2312064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A6DF8BDF-81D3-A5DE-4644-DF179B032603}"/>
              </a:ext>
            </a:extLst>
          </p:cNvPr>
          <p:cNvGrpSpPr/>
          <p:nvPr/>
        </p:nvGrpSpPr>
        <p:grpSpPr>
          <a:xfrm>
            <a:off x="9785944" y="4338139"/>
            <a:ext cx="777240" cy="777240"/>
            <a:chOff x="548640" y="4846320"/>
            <a:chExt cx="777240" cy="777240"/>
          </a:xfrm>
        </p:grpSpPr>
        <p:sp>
          <p:nvSpPr>
            <p:cNvPr id="60" name="Shape 10">
              <a:extLst>
                <a:ext uri="{FF2B5EF4-FFF2-40B4-BE49-F238E27FC236}">
                  <a16:creationId xmlns:a16="http://schemas.microsoft.com/office/drawing/2014/main" id="{634542E8-8897-0AB4-93EB-EFF39BBC42A3}"/>
                </a:ext>
              </a:extLst>
            </p:cNvPr>
            <p:cNvSpPr/>
            <p:nvPr/>
          </p:nvSpPr>
          <p:spPr>
            <a:xfrm>
              <a:off x="548640" y="4846320"/>
              <a:ext cx="777240" cy="777240"/>
            </a:xfrm>
            <a:prstGeom prst="ellipse">
              <a:avLst/>
            </a:prstGeom>
            <a:solidFill>
              <a:srgbClr val="E4572E"/>
            </a:solidFill>
            <a:ln w="12700">
              <a:solidFill>
                <a:srgbClr val="E4572E"/>
              </a:solidFill>
              <a:prstDash val="solid"/>
            </a:ln>
          </p:spPr>
          <p:txBody>
            <a:bodyPr/>
            <a:lstStyle/>
            <a:p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pic>
          <p:nvPicPr>
            <p:cNvPr id="61" name="Image 2" descr="preencoded.png">
              <a:extLst>
                <a:ext uri="{FF2B5EF4-FFF2-40B4-BE49-F238E27FC236}">
                  <a16:creationId xmlns:a16="http://schemas.microsoft.com/office/drawing/2014/main" id="{269874D9-CA88-ACD7-CAE9-9C7AC18D17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9808" y="5047488"/>
              <a:ext cx="374904" cy="374904"/>
            </a:xfrm>
            <a:prstGeom prst="rect">
              <a:avLst/>
            </a:prstGeom>
          </p:spPr>
        </p:pic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77DDA7B0-3B0A-D19B-8D0E-B87B372FCD9B}"/>
              </a:ext>
            </a:extLst>
          </p:cNvPr>
          <p:cNvGrpSpPr/>
          <p:nvPr/>
        </p:nvGrpSpPr>
        <p:grpSpPr>
          <a:xfrm>
            <a:off x="4599770" y="4076027"/>
            <a:ext cx="3144860" cy="2312064"/>
            <a:chOff x="4599770" y="4076027"/>
            <a:chExt cx="3144860" cy="2312064"/>
          </a:xfrm>
        </p:grpSpPr>
        <p:sp>
          <p:nvSpPr>
            <p:cNvPr id="50" name="Shape 4">
              <a:extLst>
                <a:ext uri="{FF2B5EF4-FFF2-40B4-BE49-F238E27FC236}">
                  <a16:creationId xmlns:a16="http://schemas.microsoft.com/office/drawing/2014/main" id="{FAEE05C4-394A-E35C-CB68-15B60EC34A71}"/>
                </a:ext>
              </a:extLst>
            </p:cNvPr>
            <p:cNvSpPr/>
            <p:nvPr/>
          </p:nvSpPr>
          <p:spPr>
            <a:xfrm>
              <a:off x="4599770" y="4076027"/>
              <a:ext cx="3144860" cy="2312064"/>
            </a:xfrm>
            <a:prstGeom prst="roundRect">
              <a:avLst>
                <a:gd name="adj" fmla="val 1731"/>
              </a:avLst>
            </a:prstGeom>
            <a:solidFill>
              <a:srgbClr val="FFFFFF"/>
            </a:solidFill>
            <a:ln w="9525">
              <a:solidFill>
                <a:srgbClr val="DCE4E8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56" name="群組 55">
              <a:extLst>
                <a:ext uri="{FF2B5EF4-FFF2-40B4-BE49-F238E27FC236}">
                  <a16:creationId xmlns:a16="http://schemas.microsoft.com/office/drawing/2014/main" id="{63E9ED21-2332-6EE9-4834-6513ACA5B1D5}"/>
                </a:ext>
              </a:extLst>
            </p:cNvPr>
            <p:cNvGrpSpPr/>
            <p:nvPr/>
          </p:nvGrpSpPr>
          <p:grpSpPr>
            <a:xfrm>
              <a:off x="5783580" y="4309136"/>
              <a:ext cx="777240" cy="777240"/>
              <a:chOff x="578839" y="3291840"/>
              <a:chExt cx="777240" cy="777240"/>
            </a:xfrm>
          </p:grpSpPr>
          <p:sp>
            <p:nvSpPr>
              <p:cNvPr id="57" name="Shape 7">
                <a:extLst>
                  <a:ext uri="{FF2B5EF4-FFF2-40B4-BE49-F238E27FC236}">
                    <a16:creationId xmlns:a16="http://schemas.microsoft.com/office/drawing/2014/main" id="{861B794C-BACA-3D10-E3C4-A9C2B69527DF}"/>
                  </a:ext>
                </a:extLst>
              </p:cNvPr>
              <p:cNvSpPr/>
              <p:nvPr/>
            </p:nvSpPr>
            <p:spPr>
              <a:xfrm>
                <a:off x="578839" y="3291840"/>
                <a:ext cx="777240" cy="777240"/>
              </a:xfrm>
              <a:prstGeom prst="ellipse">
                <a:avLst/>
              </a:prstGeom>
              <a:solidFill>
                <a:srgbClr val="4B5FBF"/>
              </a:solidFill>
              <a:ln w="12700">
                <a:solidFill>
                  <a:srgbClr val="4B5FBF"/>
                </a:solidFill>
                <a:prstDash val="solid"/>
              </a:ln>
            </p:spPr>
            <p:txBody>
              <a:bodyPr/>
              <a:lstStyle/>
              <a:p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  <p:pic>
            <p:nvPicPr>
              <p:cNvPr id="58" name="Image 1" descr="preencoded.png">
                <a:extLst>
                  <a:ext uri="{FF2B5EF4-FFF2-40B4-BE49-F238E27FC236}">
                    <a16:creationId xmlns:a16="http://schemas.microsoft.com/office/drawing/2014/main" id="{19427FFD-52C8-8761-DFC4-0803AF26C1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0007" y="3493008"/>
                <a:ext cx="374904" cy="374904"/>
              </a:xfrm>
              <a:prstGeom prst="rect">
                <a:avLst/>
              </a:prstGeom>
            </p:spPr>
          </p:pic>
        </p:grpSp>
        <p:sp>
          <p:nvSpPr>
            <p:cNvPr id="70" name="Text 5">
              <a:extLst>
                <a:ext uri="{FF2B5EF4-FFF2-40B4-BE49-F238E27FC236}">
                  <a16:creationId xmlns:a16="http://schemas.microsoft.com/office/drawing/2014/main" id="{F39F122D-A82B-E6EE-9886-05784ADC05C9}"/>
                </a:ext>
              </a:extLst>
            </p:cNvPr>
            <p:cNvSpPr txBox="1"/>
            <p:nvPr/>
          </p:nvSpPr>
          <p:spPr>
            <a:xfrm>
              <a:off x="5033628" y="5101700"/>
              <a:ext cx="2524027" cy="10507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50000"/>
                </a:lnSpc>
              </a:pPr>
              <a:r>
                <a:rPr lang="zh-TW" altLang="zh-TW" sz="23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高頻段能提供更大的頻寬與傳輸容量</a:t>
              </a:r>
              <a:endParaRPr lang="en-US" sz="23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72" name="Text 5">
            <a:extLst>
              <a:ext uri="{FF2B5EF4-FFF2-40B4-BE49-F238E27FC236}">
                <a16:creationId xmlns:a16="http://schemas.microsoft.com/office/drawing/2014/main" id="{A1F2A59D-6EAE-88D3-3292-A44DACAFE144}"/>
              </a:ext>
            </a:extLst>
          </p:cNvPr>
          <p:cNvSpPr txBox="1"/>
          <p:nvPr/>
        </p:nvSpPr>
        <p:spPr>
          <a:xfrm>
            <a:off x="9189720" y="5473703"/>
            <a:ext cx="2252473" cy="777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300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提升抗干擾能力</a:t>
            </a:r>
            <a:endParaRPr lang="en-US" sz="23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7371CAC3-9299-BC83-D562-353AED76A383}"/>
              </a:ext>
            </a:extLst>
          </p:cNvPr>
          <p:cNvGrpSpPr/>
          <p:nvPr/>
        </p:nvGrpSpPr>
        <p:grpSpPr>
          <a:xfrm>
            <a:off x="749807" y="4076027"/>
            <a:ext cx="3144860" cy="2312064"/>
            <a:chOff x="749807" y="4076027"/>
            <a:chExt cx="3144860" cy="2312064"/>
          </a:xfrm>
        </p:grpSpPr>
        <p:sp>
          <p:nvSpPr>
            <p:cNvPr id="46" name="Shape 4">
              <a:extLst>
                <a:ext uri="{FF2B5EF4-FFF2-40B4-BE49-F238E27FC236}">
                  <a16:creationId xmlns:a16="http://schemas.microsoft.com/office/drawing/2014/main" id="{E6F9A4B2-9BC5-4C6E-5892-25323C03A79D}"/>
                </a:ext>
              </a:extLst>
            </p:cNvPr>
            <p:cNvSpPr/>
            <p:nvPr/>
          </p:nvSpPr>
          <p:spPr>
            <a:xfrm>
              <a:off x="749807" y="4076027"/>
              <a:ext cx="3144860" cy="2312064"/>
            </a:xfrm>
            <a:prstGeom prst="roundRect">
              <a:avLst>
                <a:gd name="adj" fmla="val 1731"/>
              </a:avLst>
            </a:prstGeom>
            <a:solidFill>
              <a:srgbClr val="FFFFFF"/>
            </a:solidFill>
            <a:ln w="9525">
              <a:solidFill>
                <a:srgbClr val="DCE4E8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7865A1F3-F64F-7DC7-DC3D-104F5B73F459}"/>
                </a:ext>
              </a:extLst>
            </p:cNvPr>
            <p:cNvGrpSpPr/>
            <p:nvPr/>
          </p:nvGrpSpPr>
          <p:grpSpPr>
            <a:xfrm>
              <a:off x="1933617" y="4323784"/>
              <a:ext cx="777240" cy="777240"/>
              <a:chOff x="937260" y="1904946"/>
              <a:chExt cx="777240" cy="777240"/>
            </a:xfrm>
          </p:grpSpPr>
          <p:sp>
            <p:nvSpPr>
              <p:cNvPr id="54" name="Shape 4">
                <a:extLst>
                  <a:ext uri="{FF2B5EF4-FFF2-40B4-BE49-F238E27FC236}">
                    <a16:creationId xmlns:a16="http://schemas.microsoft.com/office/drawing/2014/main" id="{02D662A6-6F9F-591F-3A14-0E5B62E08939}"/>
                  </a:ext>
                </a:extLst>
              </p:cNvPr>
              <p:cNvSpPr/>
              <p:nvPr/>
            </p:nvSpPr>
            <p:spPr>
              <a:xfrm>
                <a:off x="937260" y="1904946"/>
                <a:ext cx="777240" cy="777240"/>
              </a:xfrm>
              <a:prstGeom prst="ellipse">
                <a:avLst/>
              </a:prstGeom>
              <a:solidFill>
                <a:srgbClr val="0F766E"/>
              </a:solidFill>
              <a:ln w="12700">
                <a:solidFill>
                  <a:srgbClr val="0F766E"/>
                </a:solidFill>
                <a:prstDash val="solid"/>
              </a:ln>
            </p:spPr>
            <p:txBody>
              <a:bodyPr/>
              <a:lstStyle/>
              <a:p>
                <a:endParaRPr lang="zh-TW" altLang="en-US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  <p:pic>
            <p:nvPicPr>
              <p:cNvPr id="55" name="Image 0" descr="preencoded.png">
                <a:extLst>
                  <a:ext uri="{FF2B5EF4-FFF2-40B4-BE49-F238E27FC236}">
                    <a16:creationId xmlns:a16="http://schemas.microsoft.com/office/drawing/2014/main" id="{8A951D8B-6340-1AFE-1AC5-2DF62AB8E0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38428" y="2106114"/>
                <a:ext cx="374904" cy="374904"/>
              </a:xfrm>
              <a:prstGeom prst="rect">
                <a:avLst/>
              </a:prstGeom>
            </p:spPr>
          </p:pic>
        </p:grpSp>
        <p:sp>
          <p:nvSpPr>
            <p:cNvPr id="65" name="Text 5">
              <a:extLst>
                <a:ext uri="{FF2B5EF4-FFF2-40B4-BE49-F238E27FC236}">
                  <a16:creationId xmlns:a16="http://schemas.microsoft.com/office/drawing/2014/main" id="{5DD9F6F6-A0FE-FFA5-2298-10177A5F705B}"/>
                </a:ext>
              </a:extLst>
            </p:cNvPr>
            <p:cNvSpPr txBox="1"/>
            <p:nvPr/>
          </p:nvSpPr>
          <p:spPr>
            <a:xfrm>
              <a:off x="1429490" y="5328635"/>
              <a:ext cx="1924058" cy="5336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300" dirty="0" err="1">
                  <a:solidFill>
                    <a:srgbClr val="0B1D26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Microsoft JhengHei" pitchFamily="34" charset="-120"/>
                </a:rPr>
                <a:t>天線</a:t>
              </a:r>
              <a:r>
                <a:rPr lang="zh-TW" altLang="en-US" sz="2300" dirty="0">
                  <a:solidFill>
                    <a:srgbClr val="0B1D26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Microsoft JhengHei" pitchFamily="34" charset="-120"/>
                </a:rPr>
                <a:t>尺寸限制</a:t>
              </a:r>
              <a:endParaRPr lang="en-US" sz="2300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 5">
                  <a:extLst>
                    <a:ext uri="{FF2B5EF4-FFF2-40B4-BE49-F238E27FC236}">
                      <a16:creationId xmlns:a16="http://schemas.microsoft.com/office/drawing/2014/main" id="{51F36294-C76D-D7AE-E087-84B0C47A9068}"/>
                    </a:ext>
                  </a:extLst>
                </p:cNvPr>
                <p:cNvSpPr txBox="1"/>
                <p:nvPr/>
              </p:nvSpPr>
              <p:spPr>
                <a:xfrm>
                  <a:off x="1156409" y="5720150"/>
                  <a:ext cx="2242693" cy="43231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sz="2500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𝑐</m:t>
                        </m:r>
                        <m:r>
                          <a:rPr lang="en-US" sz="2500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=</m:t>
                        </m:r>
                        <m:r>
                          <a:rPr lang="en-US" sz="2500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𝑓</m:t>
                        </m:r>
                        <m:r>
                          <a:rPr lang="en-US" sz="2500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 </m:t>
                        </m:r>
                        <m:r>
                          <a:rPr lang="en-US" sz="2500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𝜆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4" name="Text 5">
                  <a:extLst>
                    <a:ext uri="{FF2B5EF4-FFF2-40B4-BE49-F238E27FC236}">
                      <a16:creationId xmlns:a16="http://schemas.microsoft.com/office/drawing/2014/main" id="{51F36294-C76D-D7AE-E087-84B0C47A90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6409" y="5720150"/>
                  <a:ext cx="2242693" cy="43231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17452598-264A-6829-85B5-028D10B6581A}"/>
              </a:ext>
            </a:extLst>
          </p:cNvPr>
          <p:cNvGrpSpPr/>
          <p:nvPr/>
        </p:nvGrpSpPr>
        <p:grpSpPr>
          <a:xfrm>
            <a:off x="3802542" y="2268196"/>
            <a:ext cx="1286483" cy="685795"/>
            <a:chOff x="548640" y="1508760"/>
            <a:chExt cx="1371600" cy="731520"/>
          </a:xfrm>
        </p:grpSpPr>
        <p:sp>
          <p:nvSpPr>
            <p:cNvPr id="6" name="Shape 4"/>
            <p:cNvSpPr/>
            <p:nvPr/>
          </p:nvSpPr>
          <p:spPr>
            <a:xfrm>
              <a:off x="548640" y="1508760"/>
              <a:ext cx="1325880" cy="731520"/>
            </a:xfrm>
            <a:prstGeom prst="roundRect">
              <a:avLst>
                <a:gd name="adj" fmla="val 12500"/>
              </a:avLst>
            </a:prstGeom>
            <a:solidFill>
              <a:schemeClr val="bg1"/>
            </a:solidFill>
            <a:ln w="12700">
              <a:solidFill>
                <a:srgbClr val="4B5FB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5"/>
                <p:cNvSpPr txBox="1"/>
                <p:nvPr/>
              </p:nvSpPr>
              <p:spPr>
                <a:xfrm>
                  <a:off x="594360" y="1508760"/>
                  <a:ext cx="1325880" cy="7315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r>
                        <a:rPr lang="en-US" sz="2500" b="1" i="1" dirty="0" smtClean="0"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𝒔</m:t>
                      </m:r>
                    </m:oMath>
                  </a14:m>
                  <a:r>
                    <a:rPr lang="en-US" sz="2500" b="1" dirty="0"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(t)</a:t>
                  </a:r>
                  <a:endParaRPr lang="en-US" sz="2500" dirty="0"/>
                </a:p>
              </p:txBody>
            </p:sp>
          </mc:Choice>
          <mc:Fallback xmlns="">
            <p:sp>
              <p:nvSpPr>
                <p:cNvPr id="7" name="Tex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60" y="1508760"/>
                  <a:ext cx="1325880" cy="731520"/>
                </a:xfrm>
                <a:prstGeom prst="rect">
                  <a:avLst/>
                </a:prstGeom>
                <a:blipFill>
                  <a:blip r:embed="rId3"/>
                  <a:stretch>
                    <a:fillRect b="-833"/>
                  </a:stretch>
                </a:blipFill>
                <a:ln/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Shape 12"/>
          <p:cNvSpPr/>
          <p:nvPr/>
        </p:nvSpPr>
        <p:spPr>
          <a:xfrm flipV="1">
            <a:off x="2780166" y="2977753"/>
            <a:ext cx="0" cy="770467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7B953EF6-0923-EA19-9C00-1FB34F3049E9}"/>
              </a:ext>
            </a:extLst>
          </p:cNvPr>
          <p:cNvSpPr txBox="1"/>
          <p:nvPr/>
        </p:nvSpPr>
        <p:spPr>
          <a:xfrm>
            <a:off x="523036" y="531029"/>
            <a:ext cx="41569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AM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調變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/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解調示意圖</a:t>
            </a:r>
            <a:endParaRPr 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B0E66940-D597-3827-A964-1F4A2D3B4013}"/>
              </a:ext>
            </a:extLst>
          </p:cNvPr>
          <p:cNvGrpSpPr/>
          <p:nvPr/>
        </p:nvGrpSpPr>
        <p:grpSpPr>
          <a:xfrm>
            <a:off x="2237103" y="3732085"/>
            <a:ext cx="1119061" cy="716726"/>
            <a:chOff x="548640" y="1508760"/>
            <a:chExt cx="1371600" cy="731520"/>
          </a:xfrm>
        </p:grpSpPr>
        <p:sp>
          <p:nvSpPr>
            <p:cNvPr id="37" name="Shape 4">
              <a:extLst>
                <a:ext uri="{FF2B5EF4-FFF2-40B4-BE49-F238E27FC236}">
                  <a16:creationId xmlns:a16="http://schemas.microsoft.com/office/drawing/2014/main" id="{5B214F2B-ADD7-D1A8-701B-F0798EB3B294}"/>
                </a:ext>
              </a:extLst>
            </p:cNvPr>
            <p:cNvSpPr/>
            <p:nvPr/>
          </p:nvSpPr>
          <p:spPr>
            <a:xfrm>
              <a:off x="548640" y="1508760"/>
              <a:ext cx="1325880" cy="731520"/>
            </a:xfrm>
            <a:prstGeom prst="roundRect">
              <a:avLst>
                <a:gd name="adj" fmla="val 12500"/>
              </a:avLst>
            </a:prstGeom>
            <a:solidFill>
              <a:schemeClr val="bg1"/>
            </a:solidFill>
            <a:ln w="12700">
              <a:solidFill>
                <a:srgbClr val="4B5FB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 5">
                  <a:extLst>
                    <a:ext uri="{FF2B5EF4-FFF2-40B4-BE49-F238E27FC236}">
                      <a16:creationId xmlns:a16="http://schemas.microsoft.com/office/drawing/2014/main" id="{2215A8AA-C6FE-30E9-87F3-C97E571DE3E8}"/>
                    </a:ext>
                  </a:extLst>
                </p:cNvPr>
                <p:cNvSpPr txBox="1"/>
                <p:nvPr/>
              </p:nvSpPr>
              <p:spPr>
                <a:xfrm>
                  <a:off x="594360" y="1508760"/>
                  <a:ext cx="1325880" cy="7315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r>
                        <a:rPr lang="en-US" sz="2500" b="1" i="1" dirty="0" smtClean="0"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𝒄</m:t>
                      </m:r>
                    </m:oMath>
                  </a14:m>
                  <a:r>
                    <a:rPr lang="en-US" sz="2500" b="1" dirty="0"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(t)</a:t>
                  </a:r>
                  <a:endParaRPr lang="en-US" sz="2500" dirty="0"/>
                </a:p>
              </p:txBody>
            </p:sp>
          </mc:Choice>
          <mc:Fallback xmlns="">
            <p:sp>
              <p:nvSpPr>
                <p:cNvPr id="38" name="Text 5">
                  <a:extLst>
                    <a:ext uri="{FF2B5EF4-FFF2-40B4-BE49-F238E27FC236}">
                      <a16:creationId xmlns:a16="http://schemas.microsoft.com/office/drawing/2014/main" id="{2215A8AA-C6FE-30E9-87F3-C97E571DE3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60" y="1508760"/>
                  <a:ext cx="1325880" cy="731520"/>
                </a:xfrm>
                <a:prstGeom prst="rect">
                  <a:avLst/>
                </a:prstGeom>
                <a:blipFill>
                  <a:blip r:embed="rId4"/>
                  <a:stretch>
                    <a:fillRect b="-833"/>
                  </a:stretch>
                </a:blipFill>
                <a:ln/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40F5AD13-C30E-79FE-BA35-BC2098066012}"/>
              </a:ext>
            </a:extLst>
          </p:cNvPr>
          <p:cNvGrpSpPr/>
          <p:nvPr/>
        </p:nvGrpSpPr>
        <p:grpSpPr>
          <a:xfrm>
            <a:off x="2414406" y="2261378"/>
            <a:ext cx="731520" cy="731520"/>
            <a:chOff x="3155594" y="2240280"/>
            <a:chExt cx="731520" cy="731520"/>
          </a:xfrm>
        </p:grpSpPr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731D108D-B993-E87C-90CC-91D2DC73E446}"/>
                </a:ext>
              </a:extLst>
            </p:cNvPr>
            <p:cNvSpPr/>
            <p:nvPr/>
          </p:nvSpPr>
          <p:spPr>
            <a:xfrm>
              <a:off x="3155594" y="2240280"/>
              <a:ext cx="731520" cy="731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DC8A27CF-2010-D93C-DAAA-C1DA484646A7}"/>
                </a:ext>
              </a:extLst>
            </p:cNvPr>
            <p:cNvCxnSpPr>
              <a:stCxn id="35" idx="1"/>
              <a:endCxn id="35" idx="5"/>
            </p:cNvCxnSpPr>
            <p:nvPr/>
          </p:nvCxnSpPr>
          <p:spPr>
            <a:xfrm>
              <a:off x="3262723" y="2347409"/>
              <a:ext cx="517262" cy="5172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8C72B036-B43D-54D4-0C44-EB83E1AEC4F1}"/>
                </a:ext>
              </a:extLst>
            </p:cNvPr>
            <p:cNvCxnSpPr>
              <a:stCxn id="35" idx="3"/>
              <a:endCxn id="35" idx="7"/>
            </p:cNvCxnSpPr>
            <p:nvPr/>
          </p:nvCxnSpPr>
          <p:spPr>
            <a:xfrm flipV="1">
              <a:off x="3262723" y="2347409"/>
              <a:ext cx="517262" cy="5172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9EB18FFB-77AF-2F68-1093-53F36D13D777}"/>
              </a:ext>
            </a:extLst>
          </p:cNvPr>
          <p:cNvGrpSpPr/>
          <p:nvPr/>
        </p:nvGrpSpPr>
        <p:grpSpPr>
          <a:xfrm>
            <a:off x="5701765" y="2255872"/>
            <a:ext cx="731520" cy="731520"/>
            <a:chOff x="3155594" y="2240280"/>
            <a:chExt cx="731520" cy="731520"/>
          </a:xfrm>
        </p:grpSpPr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660A171D-7623-431C-EDF2-6CF3BFA4EBBB}"/>
                </a:ext>
              </a:extLst>
            </p:cNvPr>
            <p:cNvSpPr/>
            <p:nvPr/>
          </p:nvSpPr>
          <p:spPr>
            <a:xfrm>
              <a:off x="3155594" y="2240280"/>
              <a:ext cx="731520" cy="731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1F54CB9A-117F-427D-EEE7-E3085496D319}"/>
                </a:ext>
              </a:extLst>
            </p:cNvPr>
            <p:cNvCxnSpPr>
              <a:stCxn id="49" idx="1"/>
              <a:endCxn id="49" idx="5"/>
            </p:cNvCxnSpPr>
            <p:nvPr/>
          </p:nvCxnSpPr>
          <p:spPr>
            <a:xfrm>
              <a:off x="3262723" y="2347409"/>
              <a:ext cx="517262" cy="517262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EB4E42D1-A9C2-DE33-C028-F9D5D1501433}"/>
                </a:ext>
              </a:extLst>
            </p:cNvPr>
            <p:cNvCxnSpPr>
              <a:stCxn id="49" idx="3"/>
              <a:endCxn id="49" idx="7"/>
            </p:cNvCxnSpPr>
            <p:nvPr/>
          </p:nvCxnSpPr>
          <p:spPr>
            <a:xfrm flipV="1">
              <a:off x="3262723" y="2347409"/>
              <a:ext cx="517262" cy="517262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Shape 6">
            <a:extLst>
              <a:ext uri="{FF2B5EF4-FFF2-40B4-BE49-F238E27FC236}">
                <a16:creationId xmlns:a16="http://schemas.microsoft.com/office/drawing/2014/main" id="{FC8045FA-C587-9487-02EF-CDD915ABEA9C}"/>
              </a:ext>
            </a:extLst>
          </p:cNvPr>
          <p:cNvSpPr/>
          <p:nvPr/>
        </p:nvSpPr>
        <p:spPr>
          <a:xfrm flipV="1">
            <a:off x="3145926" y="2647481"/>
            <a:ext cx="6726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6">
            <a:extLst>
              <a:ext uri="{FF2B5EF4-FFF2-40B4-BE49-F238E27FC236}">
                <a16:creationId xmlns:a16="http://schemas.microsoft.com/office/drawing/2014/main" id="{F017A9EF-0985-E947-02E8-C5466C4C6089}"/>
              </a:ext>
            </a:extLst>
          </p:cNvPr>
          <p:cNvSpPr/>
          <p:nvPr/>
        </p:nvSpPr>
        <p:spPr>
          <a:xfrm>
            <a:off x="5046143" y="2621632"/>
            <a:ext cx="667054" cy="0"/>
          </a:xfrm>
          <a:prstGeom prst="line">
            <a:avLst/>
          </a:prstGeom>
          <a:noFill/>
          <a:ln w="25400">
            <a:solidFill>
              <a:srgbClr val="5F728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Shape 12">
            <a:extLst>
              <a:ext uri="{FF2B5EF4-FFF2-40B4-BE49-F238E27FC236}">
                <a16:creationId xmlns:a16="http://schemas.microsoft.com/office/drawing/2014/main" id="{2A72ABF7-4B18-090F-5ABB-E81228567E5B}"/>
              </a:ext>
            </a:extLst>
          </p:cNvPr>
          <p:cNvSpPr/>
          <p:nvPr/>
        </p:nvSpPr>
        <p:spPr>
          <a:xfrm flipV="1">
            <a:off x="6096000" y="2977753"/>
            <a:ext cx="0" cy="770467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6DCF2907-0679-D966-CF20-A2AC1E57DDA9}"/>
              </a:ext>
            </a:extLst>
          </p:cNvPr>
          <p:cNvGrpSpPr/>
          <p:nvPr/>
        </p:nvGrpSpPr>
        <p:grpSpPr>
          <a:xfrm>
            <a:off x="5567232" y="3732339"/>
            <a:ext cx="1104087" cy="700588"/>
            <a:chOff x="548640" y="1508760"/>
            <a:chExt cx="1371600" cy="731520"/>
          </a:xfrm>
        </p:grpSpPr>
        <p:sp>
          <p:nvSpPr>
            <p:cNvPr id="62" name="Shape 4">
              <a:extLst>
                <a:ext uri="{FF2B5EF4-FFF2-40B4-BE49-F238E27FC236}">
                  <a16:creationId xmlns:a16="http://schemas.microsoft.com/office/drawing/2014/main" id="{E5A6C562-1026-7213-2C0A-70CF766B026A}"/>
                </a:ext>
              </a:extLst>
            </p:cNvPr>
            <p:cNvSpPr/>
            <p:nvPr/>
          </p:nvSpPr>
          <p:spPr>
            <a:xfrm>
              <a:off x="548640" y="1508760"/>
              <a:ext cx="1325880" cy="731520"/>
            </a:xfrm>
            <a:prstGeom prst="roundRect">
              <a:avLst>
                <a:gd name="adj" fmla="val 12500"/>
              </a:avLst>
            </a:prstGeom>
            <a:solidFill>
              <a:schemeClr val="bg1"/>
            </a:solidFill>
            <a:ln w="1270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 5">
                  <a:extLst>
                    <a:ext uri="{FF2B5EF4-FFF2-40B4-BE49-F238E27FC236}">
                      <a16:creationId xmlns:a16="http://schemas.microsoft.com/office/drawing/2014/main" id="{13DA87AA-05B3-4186-355E-E030AE092B10}"/>
                    </a:ext>
                  </a:extLst>
                </p:cNvPr>
                <p:cNvSpPr txBox="1"/>
                <p:nvPr/>
              </p:nvSpPr>
              <p:spPr>
                <a:xfrm>
                  <a:off x="594360" y="1508760"/>
                  <a:ext cx="1325880" cy="7315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r>
                        <a:rPr lang="en-US" sz="2500" b="1" i="1" dirty="0" smtClean="0"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𝒄</m:t>
                      </m:r>
                    </m:oMath>
                  </a14:m>
                  <a:r>
                    <a:rPr lang="en-US" sz="2500" b="1" dirty="0"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(t)</a:t>
                  </a:r>
                  <a:endParaRPr lang="en-US" sz="2500" dirty="0"/>
                </a:p>
              </p:txBody>
            </p:sp>
          </mc:Choice>
          <mc:Fallback xmlns="">
            <p:sp>
              <p:nvSpPr>
                <p:cNvPr id="63" name="Text 5">
                  <a:extLst>
                    <a:ext uri="{FF2B5EF4-FFF2-40B4-BE49-F238E27FC236}">
                      <a16:creationId xmlns:a16="http://schemas.microsoft.com/office/drawing/2014/main" id="{13DA87AA-05B3-4186-355E-E030AE092B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60" y="1508760"/>
                  <a:ext cx="1325880" cy="731520"/>
                </a:xfrm>
                <a:prstGeom prst="rect">
                  <a:avLst/>
                </a:prstGeom>
                <a:blipFill>
                  <a:blip r:embed="rId5"/>
                  <a:stretch>
                    <a:fillRect b="-8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群組 63">
            <a:extLst>
              <a:ext uri="{FF2B5EF4-FFF2-40B4-BE49-F238E27FC236}">
                <a16:creationId xmlns:a16="http://schemas.microsoft.com/office/drawing/2014/main" id="{3BD6375D-DBB3-1EFF-CA56-8B4E9349AD41}"/>
              </a:ext>
            </a:extLst>
          </p:cNvPr>
          <p:cNvGrpSpPr/>
          <p:nvPr/>
        </p:nvGrpSpPr>
        <p:grpSpPr>
          <a:xfrm>
            <a:off x="8682016" y="2254821"/>
            <a:ext cx="1260521" cy="711749"/>
            <a:chOff x="548640" y="1508760"/>
            <a:chExt cx="1371600" cy="731520"/>
          </a:xfrm>
        </p:grpSpPr>
        <p:sp>
          <p:nvSpPr>
            <p:cNvPr id="65" name="Shape 4">
              <a:extLst>
                <a:ext uri="{FF2B5EF4-FFF2-40B4-BE49-F238E27FC236}">
                  <a16:creationId xmlns:a16="http://schemas.microsoft.com/office/drawing/2014/main" id="{31B91F8B-8B52-7AEE-4215-21BF1F9681F6}"/>
                </a:ext>
              </a:extLst>
            </p:cNvPr>
            <p:cNvSpPr/>
            <p:nvPr/>
          </p:nvSpPr>
          <p:spPr>
            <a:xfrm>
              <a:off x="548640" y="1508760"/>
              <a:ext cx="1325880" cy="731520"/>
            </a:xfrm>
            <a:prstGeom prst="roundRect">
              <a:avLst>
                <a:gd name="adj" fmla="val 125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6" name="Text 5">
              <a:extLst>
                <a:ext uri="{FF2B5EF4-FFF2-40B4-BE49-F238E27FC236}">
                  <a16:creationId xmlns:a16="http://schemas.microsoft.com/office/drawing/2014/main" id="{12BB0DB1-6C14-C31F-707F-7EE9931221CE}"/>
                </a:ext>
              </a:extLst>
            </p:cNvPr>
            <p:cNvSpPr txBox="1"/>
            <p:nvPr/>
          </p:nvSpPr>
          <p:spPr>
            <a:xfrm>
              <a:off x="594360" y="1508760"/>
              <a:ext cx="13258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500" b="1" dirty="0">
                  <a:latin typeface="Cambria" pitchFamily="34" charset="0"/>
                  <a:ea typeface="Cambria" pitchFamily="34" charset="-122"/>
                </a:rPr>
                <a:t>LPF</a:t>
              </a:r>
              <a:endParaRPr lang="en-US" sz="2500" dirty="0"/>
            </a:p>
          </p:txBody>
        </p:sp>
      </p:grpSp>
      <p:sp>
        <p:nvSpPr>
          <p:cNvPr id="67" name="Shape 6">
            <a:extLst>
              <a:ext uri="{FF2B5EF4-FFF2-40B4-BE49-F238E27FC236}">
                <a16:creationId xmlns:a16="http://schemas.microsoft.com/office/drawing/2014/main" id="{1C3585DD-2DA0-E0BB-3CF8-06C2243DD590}"/>
              </a:ext>
            </a:extLst>
          </p:cNvPr>
          <p:cNvSpPr/>
          <p:nvPr/>
        </p:nvSpPr>
        <p:spPr>
          <a:xfrm flipV="1">
            <a:off x="8037737" y="2621632"/>
            <a:ext cx="644279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68" name="群組 67">
            <a:extLst>
              <a:ext uri="{FF2B5EF4-FFF2-40B4-BE49-F238E27FC236}">
                <a16:creationId xmlns:a16="http://schemas.microsoft.com/office/drawing/2014/main" id="{4E0520E0-CFD2-A377-B957-C814D544F938}"/>
              </a:ext>
            </a:extLst>
          </p:cNvPr>
          <p:cNvGrpSpPr/>
          <p:nvPr/>
        </p:nvGrpSpPr>
        <p:grpSpPr>
          <a:xfrm>
            <a:off x="662037" y="2246233"/>
            <a:ext cx="1119061" cy="707362"/>
            <a:chOff x="548640" y="1508760"/>
            <a:chExt cx="1371600" cy="731520"/>
          </a:xfrm>
        </p:grpSpPr>
        <p:sp>
          <p:nvSpPr>
            <p:cNvPr id="69" name="Shape 4">
              <a:extLst>
                <a:ext uri="{FF2B5EF4-FFF2-40B4-BE49-F238E27FC236}">
                  <a16:creationId xmlns:a16="http://schemas.microsoft.com/office/drawing/2014/main" id="{2F6E19FB-2037-274B-8167-4A06983A2FB3}"/>
                </a:ext>
              </a:extLst>
            </p:cNvPr>
            <p:cNvSpPr/>
            <p:nvPr/>
          </p:nvSpPr>
          <p:spPr>
            <a:xfrm>
              <a:off x="548640" y="1508760"/>
              <a:ext cx="1325880" cy="731520"/>
            </a:xfrm>
            <a:prstGeom prst="roundRect">
              <a:avLst>
                <a:gd name="adj" fmla="val 12500"/>
              </a:avLst>
            </a:prstGeom>
            <a:solidFill>
              <a:schemeClr val="bg1"/>
            </a:solidFill>
            <a:ln w="12700">
              <a:solidFill>
                <a:srgbClr val="4B5FB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 5">
                  <a:extLst>
                    <a:ext uri="{FF2B5EF4-FFF2-40B4-BE49-F238E27FC236}">
                      <a16:creationId xmlns:a16="http://schemas.microsoft.com/office/drawing/2014/main" id="{D653A420-AA64-4649-9FB8-B5705763F32B}"/>
                    </a:ext>
                  </a:extLst>
                </p:cNvPr>
                <p:cNvSpPr txBox="1"/>
                <p:nvPr/>
              </p:nvSpPr>
              <p:spPr>
                <a:xfrm>
                  <a:off x="594360" y="1508760"/>
                  <a:ext cx="1325880" cy="7315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r>
                        <a:rPr lang="en-US" sz="2500" b="1" i="1" dirty="0" smtClean="0"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𝒎</m:t>
                      </m:r>
                    </m:oMath>
                  </a14:m>
                  <a:r>
                    <a:rPr lang="en-US" sz="2500" b="1" dirty="0"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(t)</a:t>
                  </a:r>
                  <a:endParaRPr lang="en-US" sz="2500" dirty="0"/>
                </a:p>
              </p:txBody>
            </p:sp>
          </mc:Choice>
          <mc:Fallback xmlns="">
            <p:sp>
              <p:nvSpPr>
                <p:cNvPr id="70" name="Text 5">
                  <a:extLst>
                    <a:ext uri="{FF2B5EF4-FFF2-40B4-BE49-F238E27FC236}">
                      <a16:creationId xmlns:a16="http://schemas.microsoft.com/office/drawing/2014/main" id="{D653A420-AA64-4649-9FB8-B5705763F3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60" y="1508760"/>
                  <a:ext cx="1325880" cy="731520"/>
                </a:xfrm>
                <a:prstGeom prst="rect">
                  <a:avLst/>
                </a:prstGeom>
                <a:blipFill>
                  <a:blip r:embed="rId6"/>
                  <a:stretch>
                    <a:fillRect b="-1667"/>
                  </a:stretch>
                </a:blipFill>
                <a:ln/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1" name="Shape 6">
            <a:extLst>
              <a:ext uri="{FF2B5EF4-FFF2-40B4-BE49-F238E27FC236}">
                <a16:creationId xmlns:a16="http://schemas.microsoft.com/office/drawing/2014/main" id="{C81EEABD-6062-9E90-8AF9-57F4791E8618}"/>
              </a:ext>
            </a:extLst>
          </p:cNvPr>
          <p:cNvSpPr/>
          <p:nvPr/>
        </p:nvSpPr>
        <p:spPr>
          <a:xfrm flipV="1">
            <a:off x="1743324" y="2636943"/>
            <a:ext cx="6726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EAD6E787-CB48-EE3B-6D7E-534C077DB941}"/>
              </a:ext>
            </a:extLst>
          </p:cNvPr>
          <p:cNvGrpSpPr/>
          <p:nvPr/>
        </p:nvGrpSpPr>
        <p:grpSpPr>
          <a:xfrm>
            <a:off x="10524691" y="2215307"/>
            <a:ext cx="1204222" cy="731517"/>
            <a:chOff x="548640" y="1508760"/>
            <a:chExt cx="1371600" cy="731520"/>
          </a:xfrm>
        </p:grpSpPr>
        <p:sp>
          <p:nvSpPr>
            <p:cNvPr id="73" name="Shape 4">
              <a:extLst>
                <a:ext uri="{FF2B5EF4-FFF2-40B4-BE49-F238E27FC236}">
                  <a16:creationId xmlns:a16="http://schemas.microsoft.com/office/drawing/2014/main" id="{2FCBCD9E-FD7E-16B8-BAD8-86568A065D94}"/>
                </a:ext>
              </a:extLst>
            </p:cNvPr>
            <p:cNvSpPr/>
            <p:nvPr/>
          </p:nvSpPr>
          <p:spPr>
            <a:xfrm>
              <a:off x="548640" y="1508760"/>
              <a:ext cx="1325880" cy="731520"/>
            </a:xfrm>
            <a:prstGeom prst="roundRect">
              <a:avLst>
                <a:gd name="adj" fmla="val 12500"/>
              </a:avLst>
            </a:prstGeom>
            <a:solidFill>
              <a:schemeClr val="bg1"/>
            </a:solidFill>
            <a:ln w="1270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 5">
                  <a:extLst>
                    <a:ext uri="{FF2B5EF4-FFF2-40B4-BE49-F238E27FC236}">
                      <a16:creationId xmlns:a16="http://schemas.microsoft.com/office/drawing/2014/main" id="{762C1914-2039-81E3-75D9-5C4DFAD29C7E}"/>
                    </a:ext>
                  </a:extLst>
                </p:cNvPr>
                <p:cNvSpPr txBox="1"/>
                <p:nvPr/>
              </p:nvSpPr>
              <p:spPr>
                <a:xfrm>
                  <a:off x="594360" y="1508760"/>
                  <a:ext cx="1325880" cy="7315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500" b="1" i="1" smtClean="0">
                              <a:latin typeface="Cambria Math" panose="02040503050406030204" pitchFamily="18" charset="0"/>
                              <a:ea typeface="Cambria" pitchFamily="34" charset="-122"/>
                            </a:rPr>
                          </m:ctrlPr>
                        </m:accPr>
                        <m:e>
                          <m:r>
                            <a:rPr lang="en-US" altLang="zh-TW" sz="2500" b="1" i="1" smtClean="0">
                              <a:latin typeface="Cambria Math" panose="02040503050406030204" pitchFamily="18" charset="0"/>
                              <a:ea typeface="Cambria" pitchFamily="34" charset="-122"/>
                            </a:rPr>
                            <m:t>𝒎</m:t>
                          </m:r>
                        </m:e>
                      </m:acc>
                    </m:oMath>
                  </a14:m>
                  <a:r>
                    <a:rPr lang="en-US" sz="2500" b="1" dirty="0"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(t)</a:t>
                  </a:r>
                  <a:endParaRPr lang="en-US" sz="2500" dirty="0"/>
                </a:p>
              </p:txBody>
            </p:sp>
          </mc:Choice>
          <mc:Fallback xmlns="">
            <p:sp>
              <p:nvSpPr>
                <p:cNvPr id="74" name="Text 5">
                  <a:extLst>
                    <a:ext uri="{FF2B5EF4-FFF2-40B4-BE49-F238E27FC236}">
                      <a16:creationId xmlns:a16="http://schemas.microsoft.com/office/drawing/2014/main" id="{762C1914-2039-81E3-75D9-5C4DFAD29C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60" y="1508760"/>
                  <a:ext cx="1325880" cy="731520"/>
                </a:xfrm>
                <a:prstGeom prst="rect">
                  <a:avLst/>
                </a:prstGeom>
                <a:blipFill>
                  <a:blip r:embed="rId7"/>
                  <a:stretch>
                    <a:fillRect b="-1667"/>
                  </a:stretch>
                </a:blipFill>
                <a:ln/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5" name="Shape 6">
            <a:extLst>
              <a:ext uri="{FF2B5EF4-FFF2-40B4-BE49-F238E27FC236}">
                <a16:creationId xmlns:a16="http://schemas.microsoft.com/office/drawing/2014/main" id="{DAD82C42-CDDD-8A3F-A2C7-FFC0E1BA30CB}"/>
              </a:ext>
            </a:extLst>
          </p:cNvPr>
          <p:cNvSpPr/>
          <p:nvPr/>
        </p:nvSpPr>
        <p:spPr>
          <a:xfrm flipV="1">
            <a:off x="9900519" y="2596519"/>
            <a:ext cx="624171" cy="14171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CB8A45A-87E9-B58A-930F-3186470FEA0B}"/>
              </a:ext>
            </a:extLst>
          </p:cNvPr>
          <p:cNvCxnSpPr>
            <a:cxnSpLocks/>
          </p:cNvCxnSpPr>
          <p:nvPr/>
        </p:nvCxnSpPr>
        <p:spPr>
          <a:xfrm>
            <a:off x="5379670" y="1543735"/>
            <a:ext cx="0" cy="4709160"/>
          </a:xfrm>
          <a:prstGeom prst="line">
            <a:avLst/>
          </a:prstGeom>
          <a:ln w="19050">
            <a:solidFill>
              <a:srgbClr val="0B1D2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>
            <a:extLst>
              <a:ext uri="{FF2B5EF4-FFF2-40B4-BE49-F238E27FC236}">
                <a16:creationId xmlns:a16="http://schemas.microsoft.com/office/drawing/2014/main" id="{F08A4AB3-0E5B-F0B3-29D0-255E63A07D63}"/>
              </a:ext>
            </a:extLst>
          </p:cNvPr>
          <p:cNvCxnSpPr>
            <a:cxnSpLocks/>
          </p:cNvCxnSpPr>
          <p:nvPr/>
        </p:nvCxnSpPr>
        <p:spPr>
          <a:xfrm>
            <a:off x="620615" y="4930987"/>
            <a:ext cx="4680331" cy="0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138039BB-8BEA-B806-36D3-3BD7D62FAAAA}"/>
              </a:ext>
            </a:extLst>
          </p:cNvPr>
          <p:cNvCxnSpPr>
            <a:cxnSpLocks/>
          </p:cNvCxnSpPr>
          <p:nvPr/>
        </p:nvCxnSpPr>
        <p:spPr>
          <a:xfrm>
            <a:off x="5451751" y="4930987"/>
            <a:ext cx="5926536" cy="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: 圓角 81">
            <a:extLst>
              <a:ext uri="{FF2B5EF4-FFF2-40B4-BE49-F238E27FC236}">
                <a16:creationId xmlns:a16="http://schemas.microsoft.com/office/drawing/2014/main" id="{2372FA14-A229-CAAD-D5A3-23E645776611}"/>
              </a:ext>
            </a:extLst>
          </p:cNvPr>
          <p:cNvSpPr/>
          <p:nvPr/>
        </p:nvSpPr>
        <p:spPr>
          <a:xfrm>
            <a:off x="2119020" y="5276403"/>
            <a:ext cx="1683522" cy="6462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矩形: 圓角 83">
            <a:extLst>
              <a:ext uri="{FF2B5EF4-FFF2-40B4-BE49-F238E27FC236}">
                <a16:creationId xmlns:a16="http://schemas.microsoft.com/office/drawing/2014/main" id="{C37C310F-9BD6-7901-FC99-3DA1FFD36E1B}"/>
              </a:ext>
            </a:extLst>
          </p:cNvPr>
          <p:cNvSpPr/>
          <p:nvPr/>
        </p:nvSpPr>
        <p:spPr>
          <a:xfrm>
            <a:off x="7613415" y="5220504"/>
            <a:ext cx="1937528" cy="6462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Text 1">
            <a:extLst>
              <a:ext uri="{FF2B5EF4-FFF2-40B4-BE49-F238E27FC236}">
                <a16:creationId xmlns:a16="http://schemas.microsoft.com/office/drawing/2014/main" id="{A4109458-F564-2A62-3F52-2FDBE38B65D5}"/>
              </a:ext>
            </a:extLst>
          </p:cNvPr>
          <p:cNvSpPr txBox="1"/>
          <p:nvPr/>
        </p:nvSpPr>
        <p:spPr>
          <a:xfrm>
            <a:off x="2254917" y="5272991"/>
            <a:ext cx="160425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Modulation</a:t>
            </a:r>
          </a:p>
        </p:txBody>
      </p:sp>
      <p:sp>
        <p:nvSpPr>
          <p:cNvPr id="88" name="Text 1">
            <a:extLst>
              <a:ext uri="{FF2B5EF4-FFF2-40B4-BE49-F238E27FC236}">
                <a16:creationId xmlns:a16="http://schemas.microsoft.com/office/drawing/2014/main" id="{E62DB907-8ADE-5153-72D4-6D06BD1EAFB6}"/>
              </a:ext>
            </a:extLst>
          </p:cNvPr>
          <p:cNvSpPr txBox="1"/>
          <p:nvPr/>
        </p:nvSpPr>
        <p:spPr>
          <a:xfrm>
            <a:off x="7702428" y="5200734"/>
            <a:ext cx="18027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23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Demodulation</a:t>
            </a:r>
            <a:endParaRPr lang="en-US" sz="23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1A187B5D-A86D-9670-CF24-1BC966753DA9}"/>
              </a:ext>
            </a:extLst>
          </p:cNvPr>
          <p:cNvGrpSpPr/>
          <p:nvPr/>
        </p:nvGrpSpPr>
        <p:grpSpPr>
          <a:xfrm>
            <a:off x="6946620" y="2256872"/>
            <a:ext cx="1104087" cy="700588"/>
            <a:chOff x="548640" y="1508760"/>
            <a:chExt cx="1371600" cy="731520"/>
          </a:xfrm>
        </p:grpSpPr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034C02B2-5577-6F63-BF49-99E495BA0276}"/>
                </a:ext>
              </a:extLst>
            </p:cNvPr>
            <p:cNvSpPr/>
            <p:nvPr/>
          </p:nvSpPr>
          <p:spPr>
            <a:xfrm>
              <a:off x="548640" y="1508760"/>
              <a:ext cx="1325880" cy="731520"/>
            </a:xfrm>
            <a:prstGeom prst="roundRect">
              <a:avLst>
                <a:gd name="adj" fmla="val 12500"/>
              </a:avLst>
            </a:prstGeom>
            <a:solidFill>
              <a:schemeClr val="bg1"/>
            </a:solidFill>
            <a:ln w="1270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Text 5">
              <a:extLst>
                <a:ext uri="{FF2B5EF4-FFF2-40B4-BE49-F238E27FC236}">
                  <a16:creationId xmlns:a16="http://schemas.microsoft.com/office/drawing/2014/main" id="{CE7D9CCF-CBD6-B542-8EEC-B43CF6B12202}"/>
                </a:ext>
              </a:extLst>
            </p:cNvPr>
            <p:cNvSpPr txBox="1"/>
            <p:nvPr/>
          </p:nvSpPr>
          <p:spPr>
            <a:xfrm>
              <a:off x="594360" y="1508760"/>
              <a:ext cx="132588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500" b="1" dirty="0"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e(t)</a:t>
              </a:r>
              <a:endParaRPr lang="en-US" sz="2500" dirty="0"/>
            </a:p>
          </p:txBody>
        </p:sp>
      </p:grpSp>
      <p:sp>
        <p:nvSpPr>
          <p:cNvPr id="20" name="Shape 6">
            <a:extLst>
              <a:ext uri="{FF2B5EF4-FFF2-40B4-BE49-F238E27FC236}">
                <a16:creationId xmlns:a16="http://schemas.microsoft.com/office/drawing/2014/main" id="{99AF9EC0-6F53-3E38-6926-64EB2D14017A}"/>
              </a:ext>
            </a:extLst>
          </p:cNvPr>
          <p:cNvSpPr/>
          <p:nvPr/>
        </p:nvSpPr>
        <p:spPr>
          <a:xfrm>
            <a:off x="6449957" y="2621632"/>
            <a:ext cx="491449" cy="1531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50164" y="728133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AM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調變</a:t>
            </a:r>
            <a:r>
              <a:rPr lang="zh-TW" altLang="en-US" sz="3000" b="1" dirty="0"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基本公式</a:t>
            </a:r>
            <a:endParaRPr 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5">
                <a:extLst>
                  <a:ext uri="{FF2B5EF4-FFF2-40B4-BE49-F238E27FC236}">
                    <a16:creationId xmlns:a16="http://schemas.microsoft.com/office/drawing/2014/main" id="{9E0BBC50-C6C6-036B-0904-F8747BEC0636}"/>
                  </a:ext>
                </a:extLst>
              </p:cNvPr>
              <p:cNvSpPr txBox="1"/>
              <p:nvPr/>
            </p:nvSpPr>
            <p:spPr>
              <a:xfrm>
                <a:off x="6474630" y="3845991"/>
                <a:ext cx="5292429" cy="208399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500" b="1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m(t) </a:t>
                </a:r>
                <a:r>
                  <a:rPr lang="zh-TW" altLang="en-US" sz="2500" b="1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：原本要送的訊息</a:t>
                </a:r>
                <a:endParaRPr lang="en-US" altLang="zh-TW" sz="2500" b="1" dirty="0">
                  <a:solidFill>
                    <a:srgbClr val="0B1D26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Microsoft JhengHei" pitchFamily="34" charset="-12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500" b="1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c(t)</a:t>
                </a:r>
                <a:r>
                  <a:rPr lang="zh-TW" altLang="en-US" sz="2500" b="1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：載波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500" b="1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Microsoft JhengHei" pitchFamily="34" charset="-120"/>
                          </a:rPr>
                        </m:ctrlPr>
                      </m:dPr>
                      <m:e>
                        <m:r>
                          <a:rPr lang="en-US" altLang="zh-TW" sz="2500" b="1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Microsoft JhengHei" pitchFamily="34" charset="-120"/>
                          </a:rPr>
                          <m:t>𝒄𝒐𝒔</m:t>
                        </m:r>
                        <m:d>
                          <m:dPr>
                            <m:ctrlPr>
                              <a:rPr lang="en-US" altLang="zh-TW" sz="2500" b="1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Microsoft JhengHei" pitchFamily="34" charset="-120"/>
                              </a:rPr>
                            </m:ctrlPr>
                          </m:dPr>
                          <m:e>
                            <m:r>
                              <a:rPr lang="en-US" altLang="zh-TW" sz="2500" b="1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Microsoft JhengHei" pitchFamily="34" charset="-120"/>
                              </a:rPr>
                              <m:t>𝟐</m:t>
                            </m:r>
                            <m:r>
                              <a:rPr lang="en-US" altLang="zh-TW" sz="25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Microsoft JhengHei" pitchFamily="34" charset="-120"/>
                              </a:rPr>
                              <m:t>𝝅</m:t>
                            </m:r>
                            <m:sSub>
                              <m:sSubPr>
                                <m:ctrlPr>
                                  <a:rPr lang="en-US" altLang="zh-TW" sz="25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5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en-US" altLang="zh-TW" sz="25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</m:sSub>
                            <m:r>
                              <a:rPr lang="en-US" altLang="zh-TW" sz="25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e>
                    </m:d>
                  </m:oMath>
                </a14:m>
                <a:endParaRPr lang="en-US" altLang="zh-TW" sz="2500" b="1" dirty="0">
                  <a:solidFill>
                    <a:srgbClr val="0B1D26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Microsoft JhengHei" pitchFamily="34" charset="-12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b="1" i="1" smtClean="0">
                            <a:solidFill>
                              <a:srgbClr val="0B1D26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sz="2500" b="1" i="1" smtClean="0">
                            <a:solidFill>
                              <a:srgbClr val="0B1D26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𝒇</m:t>
                        </m:r>
                      </m:e>
                      <m:sub>
                        <m:r>
                          <a:rPr lang="en-US" altLang="zh-TW" sz="2500" b="1" i="1">
                            <a:solidFill>
                              <a:srgbClr val="0B1D26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𝑪</m:t>
                        </m:r>
                        <m:r>
                          <a:rPr lang="en-US" altLang="zh-TW" sz="2500" b="1" i="1">
                            <a:solidFill>
                              <a:srgbClr val="0B1D26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 </m:t>
                        </m:r>
                      </m:sub>
                    </m:sSub>
                  </m:oMath>
                </a14:m>
                <a:r>
                  <a:rPr lang="zh-TW" altLang="en-US" sz="2500" b="1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：載波頻率</a:t>
                </a:r>
                <a:endParaRPr lang="en-US" altLang="zh-TW" sz="2500" b="1" dirty="0">
                  <a:solidFill>
                    <a:srgbClr val="0B1D26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Microsoft JhengHei" pitchFamily="34" charset="-120"/>
                </a:endParaRPr>
              </a:p>
            </p:txBody>
          </p:sp>
        </mc:Choice>
        <mc:Fallback xmlns="">
          <p:sp>
            <p:nvSpPr>
              <p:cNvPr id="42" name="Text 5">
                <a:extLst>
                  <a:ext uri="{FF2B5EF4-FFF2-40B4-BE49-F238E27FC236}">
                    <a16:creationId xmlns:a16="http://schemas.microsoft.com/office/drawing/2014/main" id="{9E0BBC50-C6C6-036B-0904-F8747BEC0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630" y="3845991"/>
                <a:ext cx="5292429" cy="2083991"/>
              </a:xfrm>
              <a:prstGeom prst="rect">
                <a:avLst/>
              </a:prstGeom>
              <a:blipFill>
                <a:blip r:embed="rId3"/>
                <a:stretch>
                  <a:fillRect l="-3341"/>
                </a:stretch>
              </a:blipFill>
              <a:ln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798CEC91-778E-F889-B141-7E4EF4436ECF}"/>
                  </a:ext>
                </a:extLst>
              </p:cNvPr>
              <p:cNvSpPr txBox="1"/>
              <p:nvPr/>
            </p:nvSpPr>
            <p:spPr>
              <a:xfrm>
                <a:off x="946735" y="3802640"/>
                <a:ext cx="5017631" cy="1755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500" b="1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s(t)</a:t>
                </a:r>
                <a:r>
                  <a:rPr lang="zh-TW" altLang="en-US" sz="2500" b="1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：調變後的訊號</a:t>
                </a:r>
                <a:endParaRPr lang="en-US" altLang="zh-TW" sz="2500" b="1" dirty="0">
                  <a:solidFill>
                    <a:srgbClr val="0B1D26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Microsoft JhengHei" pitchFamily="34" charset="-12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b="1" i="1">
                            <a:solidFill>
                              <a:srgbClr val="0B1D26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sz="2500" b="1" i="1">
                            <a:solidFill>
                              <a:srgbClr val="0B1D26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𝑨</m:t>
                        </m:r>
                      </m:e>
                      <m:sub>
                        <m:r>
                          <a:rPr lang="en-US" altLang="zh-TW" sz="2500" b="1" i="1">
                            <a:solidFill>
                              <a:srgbClr val="0B1D26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𝑪</m:t>
                        </m:r>
                        <m:r>
                          <a:rPr lang="en-US" altLang="zh-TW" sz="2500" b="1" i="1">
                            <a:solidFill>
                              <a:srgbClr val="0B1D26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 </m:t>
                        </m:r>
                      </m:sub>
                    </m:sSub>
                  </m:oMath>
                </a14:m>
                <a:r>
                  <a:rPr lang="zh-TW" altLang="en-US" sz="2500" b="1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：載波振幅</a:t>
                </a:r>
                <a:endParaRPr lang="en-US" altLang="zh-TW" sz="2500" b="1" dirty="0">
                  <a:solidFill>
                    <a:srgbClr val="0B1D26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Microsoft JhengHei" pitchFamily="34" charset="-12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b="1" i="1">
                            <a:solidFill>
                              <a:srgbClr val="0B1D26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sz="2500" b="1" i="1">
                            <a:solidFill>
                              <a:srgbClr val="0B1D26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𝑲</m:t>
                        </m:r>
                      </m:e>
                      <m:sub>
                        <m:r>
                          <a:rPr lang="en-US" altLang="zh-TW" sz="2500" b="1" i="1">
                            <a:solidFill>
                              <a:srgbClr val="0B1D26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𝒂</m:t>
                        </m:r>
                        <m:r>
                          <a:rPr lang="en-US" altLang="zh-TW" sz="2500" b="1" i="1">
                            <a:solidFill>
                              <a:srgbClr val="0B1D26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 </m:t>
                        </m:r>
                      </m:sub>
                    </m:sSub>
                    <m:r>
                      <a:rPr lang="zh-TW" altLang="en-US" sz="2500" b="1" i="1">
                        <a:solidFill>
                          <a:srgbClr val="0B1D26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：</m:t>
                    </m:r>
                  </m:oMath>
                </a14:m>
                <a:r>
                  <a:rPr lang="zh-TW" altLang="en-US" sz="2500" b="1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調變指數</a:t>
                </a:r>
                <a:endParaRPr lang="en-US" altLang="zh-TW" sz="2500" b="1" dirty="0">
                  <a:solidFill>
                    <a:srgbClr val="0B1D26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Microsoft JhengHei" pitchFamily="34" charset="-120"/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798CEC91-778E-F889-B141-7E4EF4436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735" y="3802640"/>
                <a:ext cx="5017631" cy="1755609"/>
              </a:xfrm>
              <a:prstGeom prst="rect">
                <a:avLst/>
              </a:prstGeom>
              <a:blipFill>
                <a:blip r:embed="rId4"/>
                <a:stretch>
                  <a:fillRect l="-1701" b="-7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A3CC7E8-3241-2312-5371-03838D0B391E}"/>
              </a:ext>
            </a:extLst>
          </p:cNvPr>
          <p:cNvCxnSpPr/>
          <p:nvPr/>
        </p:nvCxnSpPr>
        <p:spPr>
          <a:xfrm>
            <a:off x="5717371" y="3702651"/>
            <a:ext cx="0" cy="2404534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群組 3">
            <a:extLst>
              <a:ext uri="{FF2B5EF4-FFF2-40B4-BE49-F238E27FC236}">
                <a16:creationId xmlns:a16="http://schemas.microsoft.com/office/drawing/2014/main" id="{D96A30E0-4499-7249-329F-8603B266CDE2}"/>
              </a:ext>
            </a:extLst>
          </p:cNvPr>
          <p:cNvGrpSpPr/>
          <p:nvPr/>
        </p:nvGrpSpPr>
        <p:grpSpPr>
          <a:xfrm>
            <a:off x="550164" y="1914730"/>
            <a:ext cx="11091672" cy="1097280"/>
            <a:chOff x="550164" y="1914730"/>
            <a:chExt cx="11091672" cy="1097280"/>
          </a:xfrm>
        </p:grpSpPr>
        <p:sp>
          <p:nvSpPr>
            <p:cNvPr id="6" name="Shape 4"/>
            <p:cNvSpPr/>
            <p:nvPr/>
          </p:nvSpPr>
          <p:spPr>
            <a:xfrm>
              <a:off x="550164" y="1914730"/>
              <a:ext cx="11091672" cy="109728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DCE4E8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字方塊 1">
                  <a:extLst>
                    <a:ext uri="{FF2B5EF4-FFF2-40B4-BE49-F238E27FC236}">
                      <a16:creationId xmlns:a16="http://schemas.microsoft.com/office/drawing/2014/main" id="{670D8AD0-C48B-E2E2-E0F5-DAECA5AB3C17}"/>
                    </a:ext>
                  </a:extLst>
                </p:cNvPr>
                <p:cNvSpPr txBox="1"/>
                <p:nvPr/>
              </p:nvSpPr>
              <p:spPr>
                <a:xfrm>
                  <a:off x="3138972" y="2229259"/>
                  <a:ext cx="5914055" cy="46166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3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d>
                          <m:dPr>
                            <m:ctrlPr>
                              <a:rPr lang="en-US" altLang="zh-TW" sz="3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en-US" altLang="zh-TW" sz="3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3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TW" sz="3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TW" sz="3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TW" sz="3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3000" b="1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3000" b="1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e>
                              <m:sub>
                                <m:r>
                                  <a:rPr lang="en-US" altLang="zh-TW" sz="3000" b="1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b>
                            </m:sSub>
                            <m:r>
                              <a:rPr lang="en-US" altLang="zh-TW" sz="3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  <m:d>
                              <m:dPr>
                                <m:ctrlPr>
                                  <a:rPr lang="en-US" altLang="zh-TW" sz="3000" b="1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3000" b="1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</m:d>
                          </m:e>
                        </m:d>
                        <m:r>
                          <a:rPr lang="en-US" altLang="zh-TW" sz="3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𝒄𝒐𝒔</m:t>
                        </m:r>
                        <m:r>
                          <a:rPr lang="en-US" altLang="zh-TW" sz="3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3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zh-TW" altLang="en-US" sz="3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  <m:sSub>
                          <m:sSubPr>
                            <m:ctrlPr>
                              <a:rPr lang="en-US" altLang="zh-TW" sz="3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zh-TW" sz="3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  <m:r>
                          <a:rPr lang="en-US" altLang="zh-TW" sz="3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TW" sz="3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3000" b="1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" name="文字方塊 1">
                  <a:extLst>
                    <a:ext uri="{FF2B5EF4-FFF2-40B4-BE49-F238E27FC236}">
                      <a16:creationId xmlns:a16="http://schemas.microsoft.com/office/drawing/2014/main" id="{670D8AD0-C48B-E2E2-E0F5-DAECA5AB3C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8972" y="2229259"/>
                  <a:ext cx="5914055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970AE2-6BAA-CD85-1D7D-2087C0B78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B2295CA-D9A1-94BD-C903-3986BD68C303}"/>
              </a:ext>
            </a:extLst>
          </p:cNvPr>
          <p:cNvSpPr txBox="1"/>
          <p:nvPr/>
        </p:nvSpPr>
        <p:spPr>
          <a:xfrm>
            <a:off x="639064" y="696499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AM</a:t>
            </a:r>
            <a:r>
              <a:rPr lang="zh-TW" altLang="en-US" sz="3000" b="1" dirty="0"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 調變在做什麼</a:t>
            </a:r>
            <a:r>
              <a:rPr lang="en-US" altLang="zh-TW" sz="3000" b="1" dirty="0"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?</a:t>
            </a:r>
            <a:endParaRPr 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5322D0D-DF15-0263-7600-1F232664EFD3}"/>
              </a:ext>
            </a:extLst>
          </p:cNvPr>
          <p:cNvSpPr/>
          <p:nvPr/>
        </p:nvSpPr>
        <p:spPr>
          <a:xfrm>
            <a:off x="550164" y="1778806"/>
            <a:ext cx="5405793" cy="4090654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2BD9D55C-C6F8-E8D3-5C5D-6A00EDFB9F14}"/>
                  </a:ext>
                </a:extLst>
              </p:cNvPr>
              <p:cNvSpPr txBox="1"/>
              <p:nvPr/>
            </p:nvSpPr>
            <p:spPr>
              <a:xfrm>
                <a:off x="6499997" y="2893270"/>
                <a:ext cx="4925964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d>
                        <m:dPr>
                          <m:ctrlPr>
                            <a:rPr lang="en-US" altLang="zh-TW" sz="2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altLang="zh-TW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TW" sz="2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US" altLang="zh-TW" sz="2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altLang="zh-TW" sz="2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d>
                            <m:dPr>
                              <m:ctrlPr>
                                <a:rPr lang="en-US" altLang="zh-TW" sz="2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e>
                      </m:d>
                      <m:r>
                        <a:rPr lang="en-US" altLang="zh-TW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𝒄𝒐𝒔</m:t>
                      </m:r>
                      <m:r>
                        <a:rPr lang="en-US" altLang="zh-TW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zh-TW" altLang="en-US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sSub>
                        <m:sSubPr>
                          <m:ctrlPr>
                            <a:rPr lang="en-US" altLang="zh-TW" sz="2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TW" sz="2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altLang="zh-TW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TW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5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2BD9D55C-C6F8-E8D3-5C5D-6A00EDFB9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997" y="2893270"/>
                <a:ext cx="4925964" cy="384721"/>
              </a:xfrm>
              <a:prstGeom prst="rect">
                <a:avLst/>
              </a:prstGeom>
              <a:blipFill>
                <a:blip r:embed="rId3"/>
                <a:stretch>
                  <a:fillRect l="-371" t="-1587" r="-1980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 0" descr="/home/claude/work/fig/envelope_fold.png">
            <a:extLst>
              <a:ext uri="{FF2B5EF4-FFF2-40B4-BE49-F238E27FC236}">
                <a16:creationId xmlns:a16="http://schemas.microsoft.com/office/drawing/2014/main" id="{205026E0-77A9-8E56-B63A-B881D3F367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70" t="7233" r="47931" b="3585"/>
          <a:stretch>
            <a:fillRect/>
          </a:stretch>
        </p:blipFill>
        <p:spPr>
          <a:xfrm>
            <a:off x="827903" y="2509966"/>
            <a:ext cx="4812683" cy="2874834"/>
          </a:xfrm>
          <a:prstGeom prst="rect">
            <a:avLst/>
          </a:prstGeom>
          <a:ln>
            <a:noFill/>
          </a:ln>
        </p:spPr>
      </p:pic>
      <p:sp>
        <p:nvSpPr>
          <p:cNvPr id="12" name="右大括弧 11">
            <a:extLst>
              <a:ext uri="{FF2B5EF4-FFF2-40B4-BE49-F238E27FC236}">
                <a16:creationId xmlns:a16="http://schemas.microsoft.com/office/drawing/2014/main" id="{0A057495-532B-1201-E8B6-442EA0CFB336}"/>
              </a:ext>
            </a:extLst>
          </p:cNvPr>
          <p:cNvSpPr/>
          <p:nvPr/>
        </p:nvSpPr>
        <p:spPr>
          <a:xfrm rot="5400000">
            <a:off x="8515370" y="2369303"/>
            <a:ext cx="215900" cy="212553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41D76C54-5E59-2CBC-0A07-A5BE9421EA08}"/>
              </a:ext>
            </a:extLst>
          </p:cNvPr>
          <p:cNvSpPr txBox="1"/>
          <p:nvPr/>
        </p:nvSpPr>
        <p:spPr>
          <a:xfrm>
            <a:off x="7120824" y="3642863"/>
            <a:ext cx="4414743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zh-TW" altLang="en-US" sz="2000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載波的振幅跟隨訊號</a:t>
            </a:r>
            <a:r>
              <a:rPr lang="en-US" altLang="zh-TW" sz="2000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(m(t))</a:t>
            </a:r>
            <a:r>
              <a:rPr lang="zh-TW" altLang="en-US" sz="2000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改變</a:t>
            </a:r>
            <a:endParaRPr lang="en-US" sz="2000" dirty="0">
              <a:solidFill>
                <a:schemeClr val="accent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5" name="箭號: 向下 14">
            <a:extLst>
              <a:ext uri="{FF2B5EF4-FFF2-40B4-BE49-F238E27FC236}">
                <a16:creationId xmlns:a16="http://schemas.microsoft.com/office/drawing/2014/main" id="{6EE9E004-36D8-86A5-4A19-C518E4EDDD6A}"/>
              </a:ext>
            </a:extLst>
          </p:cNvPr>
          <p:cNvSpPr/>
          <p:nvPr/>
        </p:nvSpPr>
        <p:spPr>
          <a:xfrm rot="1492910">
            <a:off x="3581400" y="2720759"/>
            <a:ext cx="165100" cy="38472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0F069C8A-96D2-2A2B-2AD8-DC5659F425E1}"/>
              </a:ext>
            </a:extLst>
          </p:cNvPr>
          <p:cNvSpPr txBox="1"/>
          <p:nvPr/>
        </p:nvSpPr>
        <p:spPr>
          <a:xfrm>
            <a:off x="3750397" y="2270740"/>
            <a:ext cx="1365250" cy="42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zh-TW" altLang="en-US" sz="25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包絡線</a:t>
            </a:r>
            <a:endParaRPr lang="en-US" sz="2500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45F58695-3EE4-1B57-215A-B55E007C8D58}"/>
              </a:ext>
            </a:extLst>
          </p:cNvPr>
          <p:cNvSpPr txBox="1"/>
          <p:nvPr/>
        </p:nvSpPr>
        <p:spPr>
          <a:xfrm>
            <a:off x="6499997" y="4200095"/>
            <a:ext cx="5035570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包絡線 </a:t>
            </a:r>
            <a:r>
              <a:rPr lang="en-US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(envelope)</a:t>
            </a:r>
            <a:r>
              <a:rPr lang="zh-TW" altLang="en-US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zh-TW" altLang="en-US" sz="25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攜帶原本的訊息</a:t>
            </a:r>
            <a:endParaRPr lang="en-US" sz="2500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1" name="箭號: 向下 20">
            <a:extLst>
              <a:ext uri="{FF2B5EF4-FFF2-40B4-BE49-F238E27FC236}">
                <a16:creationId xmlns:a16="http://schemas.microsoft.com/office/drawing/2014/main" id="{F71852D2-757C-00F1-3534-961AFC331B57}"/>
              </a:ext>
            </a:extLst>
          </p:cNvPr>
          <p:cNvSpPr/>
          <p:nvPr/>
        </p:nvSpPr>
        <p:spPr>
          <a:xfrm rot="8380411">
            <a:off x="1597272" y="3955093"/>
            <a:ext cx="165100" cy="384721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36B135DE-6E0B-0C90-2C95-1AF85B778D55}"/>
              </a:ext>
            </a:extLst>
          </p:cNvPr>
          <p:cNvSpPr txBox="1"/>
          <p:nvPr/>
        </p:nvSpPr>
        <p:spPr>
          <a:xfrm>
            <a:off x="1867241" y="4444912"/>
            <a:ext cx="1365250" cy="42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zh-TW" altLang="en-US" sz="2500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高頻載波</a:t>
            </a:r>
            <a:endParaRPr lang="en-US" sz="2500" dirty="0">
              <a:solidFill>
                <a:schemeClr val="accent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9868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B025B-9797-453D-D1D8-2A6BD352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F6A38DBE-ACC3-AFEC-EBDA-C473DC26EC69}"/>
              </a:ext>
            </a:extLst>
          </p:cNvPr>
          <p:cNvSpPr/>
          <p:nvPr/>
        </p:nvSpPr>
        <p:spPr>
          <a:xfrm>
            <a:off x="680401" y="1273593"/>
            <a:ext cx="10831198" cy="5038927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218FEFF-E9C6-AF6F-41E5-EE1A24747592}"/>
              </a:ext>
            </a:extLst>
          </p:cNvPr>
          <p:cNvSpPr txBox="1"/>
          <p:nvPr/>
        </p:nvSpPr>
        <p:spPr>
          <a:xfrm>
            <a:off x="569619" y="434542"/>
            <a:ext cx="609924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《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複習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》cos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與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sin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的傅立葉轉換</a:t>
            </a:r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6EBD7FCE-185E-0390-6BFB-769802E1FD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17" t="21214" r="45302" b="19164"/>
          <a:stretch>
            <a:fillRect/>
          </a:stretch>
        </p:blipFill>
        <p:spPr>
          <a:xfrm>
            <a:off x="969497" y="1635543"/>
            <a:ext cx="5030576" cy="4282657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0B133DB9-C79F-EB83-D69F-0737D3162B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788" t="22742" r="16863" b="51935"/>
          <a:stretch>
            <a:fillRect/>
          </a:stretch>
        </p:blipFill>
        <p:spPr>
          <a:xfrm>
            <a:off x="6481505" y="1612900"/>
            <a:ext cx="3983295" cy="1864144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256C6D60-495E-09C0-CC7F-CE91320FFB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195" t="78760" r="45907" b="6432"/>
          <a:stretch>
            <a:fillRect/>
          </a:stretch>
        </p:blipFill>
        <p:spPr>
          <a:xfrm>
            <a:off x="7570907" y="4854762"/>
            <a:ext cx="3513065" cy="914788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C4466A7B-4E13-BAB2-CE60-E05F03DD7E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368" t="54529" r="19441" b="30633"/>
          <a:stretch>
            <a:fillRect/>
          </a:stretch>
        </p:blipFill>
        <p:spPr>
          <a:xfrm>
            <a:off x="5710496" y="4114024"/>
            <a:ext cx="2654300" cy="91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184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205653-825F-7DBB-0712-8FAFEF161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4">
            <a:extLst>
              <a:ext uri="{FF2B5EF4-FFF2-40B4-BE49-F238E27FC236}">
                <a16:creationId xmlns:a16="http://schemas.microsoft.com/office/drawing/2014/main" id="{007D20A9-BBE9-BC80-0C02-D7B8951E42C3}"/>
              </a:ext>
            </a:extLst>
          </p:cNvPr>
          <p:cNvSpPr/>
          <p:nvPr/>
        </p:nvSpPr>
        <p:spPr>
          <a:xfrm>
            <a:off x="7524885" y="1239546"/>
            <a:ext cx="4151814" cy="5038927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1A07B8A-2163-DA1E-57B3-11B92580FA35}"/>
              </a:ext>
            </a:extLst>
          </p:cNvPr>
          <p:cNvSpPr/>
          <p:nvPr/>
        </p:nvSpPr>
        <p:spPr>
          <a:xfrm>
            <a:off x="680401" y="1273593"/>
            <a:ext cx="6556172" cy="5038927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3D90AF5-7182-0100-DC51-D255449A5ADA}"/>
              </a:ext>
            </a:extLst>
          </p:cNvPr>
          <p:cNvSpPr txBox="1"/>
          <p:nvPr/>
        </p:nvSpPr>
        <p:spPr>
          <a:xfrm>
            <a:off x="569619" y="434542"/>
            <a:ext cx="609924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AM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 調變過程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6561030-C49D-6F51-5174-32AFE0CB39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84" t="1511" r="59583" b="9455"/>
          <a:stretch>
            <a:fillRect/>
          </a:stretch>
        </p:blipFill>
        <p:spPr>
          <a:xfrm>
            <a:off x="968713" y="1579033"/>
            <a:ext cx="4439252" cy="4508615"/>
          </a:xfrm>
          <a:prstGeom prst="rect">
            <a:avLst/>
          </a:prstGeom>
        </p:spPr>
      </p:pic>
      <p:grpSp>
        <p:nvGrpSpPr>
          <p:cNvPr id="14" name="群組 13">
            <a:extLst>
              <a:ext uri="{FF2B5EF4-FFF2-40B4-BE49-F238E27FC236}">
                <a16:creationId xmlns:a16="http://schemas.microsoft.com/office/drawing/2014/main" id="{55022016-BA2E-C797-76AF-B96A1D6EA1D1}"/>
              </a:ext>
            </a:extLst>
          </p:cNvPr>
          <p:cNvGrpSpPr/>
          <p:nvPr/>
        </p:nvGrpSpPr>
        <p:grpSpPr>
          <a:xfrm>
            <a:off x="4306365" y="1579033"/>
            <a:ext cx="2491512" cy="1378149"/>
            <a:chOff x="4130946" y="1542851"/>
            <a:chExt cx="2491512" cy="1378149"/>
          </a:xfrm>
        </p:grpSpPr>
        <p:sp>
          <p:nvSpPr>
            <p:cNvPr id="13" name="Shape 4">
              <a:extLst>
                <a:ext uri="{FF2B5EF4-FFF2-40B4-BE49-F238E27FC236}">
                  <a16:creationId xmlns:a16="http://schemas.microsoft.com/office/drawing/2014/main" id="{4BF6AE4D-75D2-724C-9C5F-B8726C35C289}"/>
                </a:ext>
              </a:extLst>
            </p:cNvPr>
            <p:cNvSpPr/>
            <p:nvPr/>
          </p:nvSpPr>
          <p:spPr>
            <a:xfrm>
              <a:off x="4130946" y="1542851"/>
              <a:ext cx="2491512" cy="137814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9050">
              <a:solidFill>
                <a:schemeClr val="tx1"/>
              </a:solidFill>
              <a:prstDash val="dash"/>
            </a:ln>
            <a:effectLst>
              <a:outerShdw blurRad="76200" dist="254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93AEF3D1-47CA-9AF2-4E4C-551155A32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3684" t="20220" r="36885" b="52588"/>
            <a:stretch>
              <a:fillRect/>
            </a:stretch>
          </p:blipFill>
          <p:spPr>
            <a:xfrm>
              <a:off x="4179399" y="1612900"/>
              <a:ext cx="2394605" cy="1274233"/>
            </a:xfrm>
            <a:prstGeom prst="rect">
              <a:avLst/>
            </a:prstGeom>
          </p:spPr>
        </p:pic>
      </p:grpSp>
      <p:pic>
        <p:nvPicPr>
          <p:cNvPr id="9" name="圖片 8">
            <a:extLst>
              <a:ext uri="{FF2B5EF4-FFF2-40B4-BE49-F238E27FC236}">
                <a16:creationId xmlns:a16="http://schemas.microsoft.com/office/drawing/2014/main" id="{6E3EC8C1-2E14-EA3D-FD8A-367B5E42FF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844" t="1424" r="7393" b="9692"/>
          <a:stretch>
            <a:fillRect/>
          </a:stretch>
        </p:blipFill>
        <p:spPr>
          <a:xfrm>
            <a:off x="7830358" y="1376746"/>
            <a:ext cx="3540867" cy="483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995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>
            <a:extLst>
              <a:ext uri="{FF2B5EF4-FFF2-40B4-BE49-F238E27FC236}">
                <a16:creationId xmlns:a16="http://schemas.microsoft.com/office/drawing/2014/main" id="{B1A94641-48DF-E6E9-0BE9-4799D41F0229}"/>
              </a:ext>
            </a:extLst>
          </p:cNvPr>
          <p:cNvSpPr/>
          <p:nvPr/>
        </p:nvSpPr>
        <p:spPr>
          <a:xfrm>
            <a:off x="7743571" y="1463040"/>
            <a:ext cx="3959352" cy="53721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頻譜：訊息被搬到載波兩側</a:t>
            </a:r>
            <a:endParaRPr 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858000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743571" y="3033650"/>
            <a:ext cx="395935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944739" y="314337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4572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載波 fc</a:t>
            </a:r>
            <a:endParaRPr lang="en-US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7944739" y="3539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±100 kHz </a:t>
            </a:r>
            <a:r>
              <a:rPr lang="en-US" sz="1500" dirty="0" err="1"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最高峰，本身不帶訊息</a:t>
            </a:r>
            <a:r>
              <a:rPr lang="en-US" sz="1500" dirty="0"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。</a:t>
            </a:r>
            <a:endParaRPr lang="en-US" sz="15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769860" y="4937760"/>
            <a:ext cx="395935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7966456" y="510921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邊帶 (sidebands)</a:t>
            </a:r>
            <a:endParaRPr lang="en-US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0"/>
              <p:cNvSpPr txBox="1"/>
              <p:nvPr/>
            </p:nvSpPr>
            <p:spPr>
              <a:xfrm>
                <a:off x="7958328" y="5510935"/>
                <a:ext cx="3681984" cy="5608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zh-TW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altLang="zh-TW" sz="1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1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1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TW" sz="15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TW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zh-TW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TW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TW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𝐻𝑧</m:t>
                    </m:r>
                  </m:oMath>
                </a14:m>
                <a:r>
                  <a:rPr lang="en-US" sz="1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、</a:t>
                </a:r>
                <a:r>
                  <a:rPr lang="en-US" altLang="zh-TW" sz="1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5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altLang="zh-TW" sz="15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5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15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15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TW" sz="15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TW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en-US" altLang="zh-TW" sz="15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TW" sz="15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TW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zh-TW" sz="15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TW" sz="15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：</a:t>
                </a:r>
                <a:r>
                  <a:rPr lang="en-US" sz="1500" dirty="0" err="1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頻譜被複製到載波兩側，上邊帶</a:t>
                </a:r>
                <a:r>
                  <a:rPr lang="en-US" sz="1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 </a:t>
                </a:r>
                <a:r>
                  <a:rPr lang="en-US" sz="1500" dirty="0" err="1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USB、下邊帶</a:t>
                </a:r>
                <a:r>
                  <a:rPr lang="en-US" sz="1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 LSB</a:t>
                </a:r>
                <a:endParaRPr lang="en-US" sz="1500" dirty="0">
                  <a:solidFill>
                    <a:srgbClr val="0B1D26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3" name="Tex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328" y="5510935"/>
                <a:ext cx="3681984" cy="560832"/>
              </a:xfrm>
              <a:prstGeom prst="rect">
                <a:avLst/>
              </a:prstGeom>
              <a:blipFill>
                <a:blip r:embed="rId3"/>
                <a:stretch>
                  <a:fillRect l="-3146" t="-9783" b="-6522"/>
                </a:stretch>
              </a:blipFill>
              <a:ln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BE5C28C-B4DB-4663-B2B4-1789E8307040}"/>
                  </a:ext>
                </a:extLst>
              </p:cNvPr>
              <p:cNvSpPr txBox="1"/>
              <p:nvPr/>
            </p:nvSpPr>
            <p:spPr>
              <a:xfrm>
                <a:off x="7863840" y="1574215"/>
                <a:ext cx="3839083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TW" sz="15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d>
                        <m:dPr>
                          <m:ctrlPr>
                            <a:rPr lang="en-US" altLang="zh-TW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altLang="zh-TW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𝒔𝒊𝒏</m:t>
                      </m:r>
                      <m:d>
                        <m:dPr>
                          <m:ctrlPr>
                            <a:rPr lang="en-US" altLang="zh-TW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zh-TW" altLang="en-US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altLang="zh-TW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TW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𝒌𝒕</m:t>
                          </m:r>
                        </m:e>
                      </m:d>
                      <m:r>
                        <a:rPr lang="en-US" altLang="zh-TW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en-US" altLang="zh-TW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zh-TW" altLang="en-US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altLang="zh-TW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altLang="zh-TW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𝒌𝒕</m:t>
                      </m:r>
                      <m:r>
                        <a:rPr lang="en-US" altLang="zh-TW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altLang="zh-TW" sz="1500" b="1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BE5C28C-B4DB-4663-B2B4-1789E8307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840" y="1574215"/>
                <a:ext cx="3839083" cy="323165"/>
              </a:xfrm>
              <a:prstGeom prst="rect">
                <a:avLst/>
              </a:prstGeom>
              <a:blipFill>
                <a:blip r:embed="rId4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5">
            <a:extLst>
              <a:ext uri="{FF2B5EF4-FFF2-40B4-BE49-F238E27FC236}">
                <a16:creationId xmlns:a16="http://schemas.microsoft.com/office/drawing/2014/main" id="{492970E5-BF13-9CF8-1C16-5527173C10CA}"/>
              </a:ext>
            </a:extLst>
          </p:cNvPr>
          <p:cNvSpPr/>
          <p:nvPr/>
        </p:nvSpPr>
        <p:spPr>
          <a:xfrm>
            <a:off x="7769860" y="2211705"/>
            <a:ext cx="3959352" cy="53721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39B637A1-83F4-DBB2-5EF0-905581CB5722}"/>
                  </a:ext>
                </a:extLst>
              </p:cNvPr>
              <p:cNvSpPr txBox="1"/>
              <p:nvPr/>
            </p:nvSpPr>
            <p:spPr>
              <a:xfrm>
                <a:off x="8092758" y="2322880"/>
                <a:ext cx="3610165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1500" dirty="0">
                    <a:ea typeface="標楷體" panose="03000509000000000000" pitchFamily="65" charset="-120"/>
                  </a:rPr>
                  <a:t>頻譜搬到 </a:t>
                </a:r>
                <a14:m>
                  <m:oMath xmlns:m="http://schemas.openxmlformats.org/officeDocument/2006/math">
                    <m:r>
                      <a:rPr lang="en-US" altLang="zh-TW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±4</m:t>
                    </m:r>
                    <m:r>
                      <a:rPr lang="en-US" altLang="zh-TW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𝑘𝐻𝑧</m:t>
                    </m:r>
                  </m:oMath>
                </a14:m>
                <a:r>
                  <a:rPr lang="zh-TW" altLang="en-US" sz="1500" dirty="0">
                    <a:ea typeface="標楷體" panose="03000509000000000000" pitchFamily="65" charset="-120"/>
                  </a:rPr>
                  <a:t>與</a:t>
                </a:r>
                <a14:m>
                  <m:oMath xmlns:m="http://schemas.openxmlformats.org/officeDocument/2006/math">
                    <m:r>
                      <a:rPr lang="en-US" altLang="zh-TW" sz="15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TW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en-US" altLang="zh-TW" sz="15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TW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zh-TW" sz="15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endParaRPr lang="en-US" altLang="zh-TW" sz="1500" dirty="0"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39B637A1-83F4-DBB2-5EF0-905581CB5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2758" y="2322880"/>
                <a:ext cx="3610165" cy="323165"/>
              </a:xfrm>
              <a:prstGeom prst="rect">
                <a:avLst/>
              </a:prstGeom>
              <a:blipFill>
                <a:blip r:embed="rId5"/>
                <a:stretch>
                  <a:fillRect l="-676" t="-5660" b="-188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hape 5">
            <a:extLst>
              <a:ext uri="{FF2B5EF4-FFF2-40B4-BE49-F238E27FC236}">
                <a16:creationId xmlns:a16="http://schemas.microsoft.com/office/drawing/2014/main" id="{8AC76D45-D5F2-6057-3C5B-7039ECB1A009}"/>
              </a:ext>
            </a:extLst>
          </p:cNvPr>
          <p:cNvSpPr/>
          <p:nvPr/>
        </p:nvSpPr>
        <p:spPr>
          <a:xfrm>
            <a:off x="7769860" y="4151440"/>
            <a:ext cx="3959352" cy="53721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37AB1456-891A-85E4-1E90-3EAA99AC25C7}"/>
                  </a:ext>
                </a:extLst>
              </p:cNvPr>
              <p:cNvSpPr txBox="1"/>
              <p:nvPr/>
            </p:nvSpPr>
            <p:spPr>
              <a:xfrm>
                <a:off x="7779893" y="4258462"/>
                <a:ext cx="3923030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zh-TW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d>
                        <m:dPr>
                          <m:ctrlPr>
                            <a:rPr lang="en-US" altLang="zh-TW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altLang="zh-TW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TW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US" altLang="zh-TW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altLang="zh-TW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d>
                            <m:dPr>
                              <m:ctrlPr>
                                <a:rPr lang="en-US" altLang="zh-TW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e>
                      </m:d>
                      <m:r>
                        <a:rPr lang="en-US" altLang="zh-TW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𝒄𝒐𝒔</m:t>
                      </m:r>
                      <m:r>
                        <a:rPr lang="en-US" altLang="zh-TW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zh-TW" altLang="en-US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sSub>
                        <m:sSubPr>
                          <m:ctrlPr>
                            <a:rPr lang="en-US" altLang="zh-TW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TW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altLang="zh-TW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TW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500" b="1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37AB1456-891A-85E4-1E90-3EAA99AC2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9893" y="4258462"/>
                <a:ext cx="3923030" cy="323165"/>
              </a:xfrm>
              <a:prstGeom prst="rect">
                <a:avLst/>
              </a:prstGeom>
              <a:blipFill>
                <a:blip r:embed="rId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箭號: 向下 21">
            <a:extLst>
              <a:ext uri="{FF2B5EF4-FFF2-40B4-BE49-F238E27FC236}">
                <a16:creationId xmlns:a16="http://schemas.microsoft.com/office/drawing/2014/main" id="{16B6CF46-2719-8DC9-633B-EEADA649767B}"/>
              </a:ext>
            </a:extLst>
          </p:cNvPr>
          <p:cNvSpPr/>
          <p:nvPr/>
        </p:nvSpPr>
        <p:spPr>
          <a:xfrm>
            <a:off x="9439922" y="1958371"/>
            <a:ext cx="308009" cy="314325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2810272-A550-0E72-BCE9-6972523635A1}"/>
              </a:ext>
            </a:extLst>
          </p:cNvPr>
          <p:cNvSpPr txBox="1"/>
          <p:nvPr/>
        </p:nvSpPr>
        <p:spPr>
          <a:xfrm>
            <a:off x="9747931" y="1926195"/>
            <a:ext cx="24773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5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Fourier Transform</a:t>
            </a:r>
          </a:p>
        </p:txBody>
      </p:sp>
      <p:sp>
        <p:nvSpPr>
          <p:cNvPr id="26" name="箭號: 向下 25">
            <a:extLst>
              <a:ext uri="{FF2B5EF4-FFF2-40B4-BE49-F238E27FC236}">
                <a16:creationId xmlns:a16="http://schemas.microsoft.com/office/drawing/2014/main" id="{03118813-6E42-A4EC-F63D-5A0FB86CE7B0}"/>
              </a:ext>
            </a:extLst>
          </p:cNvPr>
          <p:cNvSpPr/>
          <p:nvPr/>
        </p:nvSpPr>
        <p:spPr>
          <a:xfrm>
            <a:off x="9439922" y="4690816"/>
            <a:ext cx="308009" cy="314325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C6DD6C7C-94A8-B188-3D0D-99F6CD560728}"/>
              </a:ext>
            </a:extLst>
          </p:cNvPr>
          <p:cNvSpPr txBox="1"/>
          <p:nvPr/>
        </p:nvSpPr>
        <p:spPr>
          <a:xfrm>
            <a:off x="9747931" y="4658640"/>
            <a:ext cx="24773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5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Fourier Transform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D1A360F-48BC-B1AF-CECD-2E1CE936E4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246" y="1515615"/>
            <a:ext cx="6250179" cy="46497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35509" y="26748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第一題  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AM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調變 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(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不失真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)</a:t>
            </a:r>
            <a:r>
              <a:rPr 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 </a:t>
            </a:r>
            <a:endParaRPr 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1123366"/>
            <a:ext cx="5455118" cy="5288018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9525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6CB88198-47D4-59FD-F7EB-F4E51D8AA5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158" r="13258"/>
          <a:stretch>
            <a:fillRect/>
          </a:stretch>
        </p:blipFill>
        <p:spPr>
          <a:xfrm>
            <a:off x="832464" y="2143983"/>
            <a:ext cx="4887470" cy="4084153"/>
          </a:xfrm>
          <a:prstGeom prst="rect">
            <a:avLst/>
          </a:prstGeom>
        </p:spPr>
      </p:pic>
      <p:sp>
        <p:nvSpPr>
          <p:cNvPr id="46" name="Shape 17">
            <a:extLst>
              <a:ext uri="{FF2B5EF4-FFF2-40B4-BE49-F238E27FC236}">
                <a16:creationId xmlns:a16="http://schemas.microsoft.com/office/drawing/2014/main" id="{701A0A73-37C6-561B-BED6-2D50317EB50F}"/>
              </a:ext>
            </a:extLst>
          </p:cNvPr>
          <p:cNvSpPr/>
          <p:nvPr/>
        </p:nvSpPr>
        <p:spPr>
          <a:xfrm>
            <a:off x="6287583" y="1081278"/>
            <a:ext cx="5439598" cy="5330106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9525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9C2B2EC0-F562-2E0A-0C8A-73999D787301}"/>
              </a:ext>
            </a:extLst>
          </p:cNvPr>
          <p:cNvSpPr txBox="1"/>
          <p:nvPr/>
        </p:nvSpPr>
        <p:spPr>
          <a:xfrm>
            <a:off x="6451091" y="1202197"/>
            <a:ext cx="52760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程式碼</a:t>
            </a:r>
            <a:endParaRPr lang="en-US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4" name="Text 1">
            <a:extLst>
              <a:ext uri="{FF2B5EF4-FFF2-40B4-BE49-F238E27FC236}">
                <a16:creationId xmlns:a16="http://schemas.microsoft.com/office/drawing/2014/main" id="{8085FA3A-7A68-61A9-58E2-2107215F21F4}"/>
              </a:ext>
            </a:extLst>
          </p:cNvPr>
          <p:cNvSpPr txBox="1"/>
          <p:nvPr/>
        </p:nvSpPr>
        <p:spPr>
          <a:xfrm>
            <a:off x="905255" y="1245896"/>
            <a:ext cx="49781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題目</a:t>
            </a:r>
            <a:endParaRPr lang="en-US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6272128F-53AA-1504-D959-8E7CC159DC9E}"/>
              </a:ext>
            </a:extLst>
          </p:cNvPr>
          <p:cNvCxnSpPr/>
          <p:nvPr/>
        </p:nvCxnSpPr>
        <p:spPr>
          <a:xfrm>
            <a:off x="832464" y="1887997"/>
            <a:ext cx="4887470" cy="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9CD7C9B8-6CCC-EC4F-15BE-E1F31B06E5D3}"/>
              </a:ext>
            </a:extLst>
          </p:cNvPr>
          <p:cNvCxnSpPr/>
          <p:nvPr/>
        </p:nvCxnSpPr>
        <p:spPr>
          <a:xfrm>
            <a:off x="6563647" y="1914693"/>
            <a:ext cx="4887470" cy="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圖片 5">
            <a:extLst>
              <a:ext uri="{FF2B5EF4-FFF2-40B4-BE49-F238E27FC236}">
                <a16:creationId xmlns:a16="http://schemas.microsoft.com/office/drawing/2014/main" id="{D2C5A0B2-924C-81A8-DE96-8DF0E41ED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898" y="2143983"/>
            <a:ext cx="4902219" cy="374656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F7E0082-88C3-4269-051A-76C91F9212EF}"/>
              </a:ext>
            </a:extLst>
          </p:cNvPr>
          <p:cNvSpPr/>
          <p:nvPr/>
        </p:nvSpPr>
        <p:spPr>
          <a:xfrm>
            <a:off x="6548898" y="4800600"/>
            <a:ext cx="2049002" cy="4572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9A89FE1A-9766-B1F2-14C0-75D5385F9E29}"/>
              </a:ext>
            </a:extLst>
          </p:cNvPr>
          <p:cNvCxnSpPr/>
          <p:nvPr/>
        </p:nvCxnSpPr>
        <p:spPr>
          <a:xfrm>
            <a:off x="3394348" y="5080000"/>
            <a:ext cx="1272902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5">
            <a:extLst>
              <a:ext uri="{FF2B5EF4-FFF2-40B4-BE49-F238E27FC236}">
                <a16:creationId xmlns:a16="http://schemas.microsoft.com/office/drawing/2014/main" id="{58ECB5FA-EF91-8275-7F8C-13CE5830827C}"/>
              </a:ext>
            </a:extLst>
          </p:cNvPr>
          <p:cNvSpPr txBox="1"/>
          <p:nvPr/>
        </p:nvSpPr>
        <p:spPr>
          <a:xfrm>
            <a:off x="8703062" y="4990955"/>
            <a:ext cx="1924058" cy="533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AM</a:t>
            </a:r>
            <a:r>
              <a:rPr lang="zh-TW" altLang="en-US" sz="2000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調變公式</a:t>
            </a:r>
            <a:endParaRPr lang="en-US" sz="2000" dirty="0">
              <a:solidFill>
                <a:schemeClr val="accent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E5E7141E-8D72-5931-D612-70C30D459DD3}"/>
              </a:ext>
            </a:extLst>
          </p:cNvPr>
          <p:cNvGrpSpPr/>
          <p:nvPr/>
        </p:nvGrpSpPr>
        <p:grpSpPr>
          <a:xfrm>
            <a:off x="10344910" y="2261017"/>
            <a:ext cx="829493" cy="616299"/>
            <a:chOff x="10344910" y="2261017"/>
            <a:chExt cx="829493" cy="616299"/>
          </a:xfrm>
        </p:grpSpPr>
        <p:sp>
          <p:nvSpPr>
            <p:cNvPr id="55" name="Shape 12">
              <a:extLst>
                <a:ext uri="{FF2B5EF4-FFF2-40B4-BE49-F238E27FC236}">
                  <a16:creationId xmlns:a16="http://schemas.microsoft.com/office/drawing/2014/main" id="{45815539-7498-52FC-6C3A-2C13F14C2CE7}"/>
                </a:ext>
              </a:extLst>
            </p:cNvPr>
            <p:cNvSpPr/>
            <p:nvPr/>
          </p:nvSpPr>
          <p:spPr>
            <a:xfrm>
              <a:off x="10344910" y="2261017"/>
              <a:ext cx="829493" cy="339902"/>
            </a:xfrm>
            <a:prstGeom prst="roundRect">
              <a:avLst>
                <a:gd name="adj" fmla="val 9524"/>
              </a:avLst>
            </a:prstGeom>
            <a:solidFill>
              <a:srgbClr val="CFE8F3"/>
            </a:solidFill>
            <a:ln/>
          </p:spPr>
          <p:txBody>
            <a:bodyPr/>
            <a:lstStyle/>
            <a:p>
              <a:endParaRPr lang="zh-TW" altLang="en-US" dirty="0"/>
            </a:p>
          </p:txBody>
        </p:sp>
        <p:cxnSp>
          <p:nvCxnSpPr>
            <p:cNvPr id="58" name="直線單箭頭接點 57">
              <a:extLst>
                <a:ext uri="{FF2B5EF4-FFF2-40B4-BE49-F238E27FC236}">
                  <a16:creationId xmlns:a16="http://schemas.microsoft.com/office/drawing/2014/main" id="{B3DD69B9-12F3-C421-DAF9-D47555A57388}"/>
                </a:ext>
              </a:extLst>
            </p:cNvPr>
            <p:cNvCxnSpPr>
              <a:cxnSpLocks/>
            </p:cNvCxnSpPr>
            <p:nvPr/>
          </p:nvCxnSpPr>
          <p:spPr>
            <a:xfrm>
              <a:off x="10759656" y="2600919"/>
              <a:ext cx="0" cy="27639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4A60D3D5-B89A-A600-AC8F-0F7A1BE7AF2F}"/>
                </a:ext>
              </a:extLst>
            </p:cNvPr>
            <p:cNvSpPr txBox="1"/>
            <p:nvPr/>
          </p:nvSpPr>
          <p:spPr>
            <a:xfrm>
              <a:off x="10347201" y="2274158"/>
              <a:ext cx="82720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初始化</a:t>
              </a:r>
            </a:p>
          </p:txBody>
        </p:sp>
      </p:grp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9546FB12-12B3-4E30-61D5-AB5460D7023C}"/>
              </a:ext>
            </a:extLst>
          </p:cNvPr>
          <p:cNvGrpSpPr/>
          <p:nvPr/>
        </p:nvGrpSpPr>
        <p:grpSpPr>
          <a:xfrm>
            <a:off x="10175113" y="2891826"/>
            <a:ext cx="1169086" cy="616299"/>
            <a:chOff x="10172822" y="2261017"/>
            <a:chExt cx="1169086" cy="616299"/>
          </a:xfrm>
        </p:grpSpPr>
        <p:sp>
          <p:nvSpPr>
            <p:cNvPr id="71" name="Shape 12">
              <a:extLst>
                <a:ext uri="{FF2B5EF4-FFF2-40B4-BE49-F238E27FC236}">
                  <a16:creationId xmlns:a16="http://schemas.microsoft.com/office/drawing/2014/main" id="{006D295A-C6C2-ED84-17FA-56E753C99A90}"/>
                </a:ext>
              </a:extLst>
            </p:cNvPr>
            <p:cNvSpPr/>
            <p:nvPr/>
          </p:nvSpPr>
          <p:spPr>
            <a:xfrm>
              <a:off x="10344910" y="2261017"/>
              <a:ext cx="829493" cy="339902"/>
            </a:xfrm>
            <a:prstGeom prst="roundRect">
              <a:avLst>
                <a:gd name="adj" fmla="val 9524"/>
              </a:avLst>
            </a:prstGeom>
            <a:solidFill>
              <a:srgbClr val="CFE8F3"/>
            </a:solidFill>
            <a:ln/>
          </p:spPr>
          <p:txBody>
            <a:bodyPr/>
            <a:lstStyle/>
            <a:p>
              <a:endParaRPr lang="zh-TW" altLang="en-US" dirty="0"/>
            </a:p>
          </p:txBody>
        </p:sp>
        <p:cxnSp>
          <p:nvCxnSpPr>
            <p:cNvPr id="72" name="直線單箭頭接點 71">
              <a:extLst>
                <a:ext uri="{FF2B5EF4-FFF2-40B4-BE49-F238E27FC236}">
                  <a16:creationId xmlns:a16="http://schemas.microsoft.com/office/drawing/2014/main" id="{F1B81097-7FFF-59E9-5BA7-0355C6EDD0FF}"/>
                </a:ext>
              </a:extLst>
            </p:cNvPr>
            <p:cNvCxnSpPr>
              <a:cxnSpLocks/>
            </p:cNvCxnSpPr>
            <p:nvPr/>
          </p:nvCxnSpPr>
          <p:spPr>
            <a:xfrm>
              <a:off x="10759656" y="2600919"/>
              <a:ext cx="0" cy="27639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F3AC70D2-B82D-5D8E-661D-B4500F7DE293}"/>
                </a:ext>
              </a:extLst>
            </p:cNvPr>
            <p:cNvSpPr txBox="1"/>
            <p:nvPr/>
          </p:nvSpPr>
          <p:spPr>
            <a:xfrm>
              <a:off x="10172822" y="2283263"/>
              <a:ext cx="116908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2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建立 </a:t>
              </a:r>
              <a:r>
                <a:rPr lang="en-US" altLang="zh-TW" sz="12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fs</a:t>
              </a:r>
              <a:r>
                <a:rPr lang="zh-TW" altLang="en-US" sz="12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2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2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2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t</a:t>
              </a:r>
              <a:endPara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72DB306C-6A2D-5D92-5314-E5683ED559BB}"/>
              </a:ext>
            </a:extLst>
          </p:cNvPr>
          <p:cNvGrpSpPr/>
          <p:nvPr/>
        </p:nvGrpSpPr>
        <p:grpSpPr>
          <a:xfrm>
            <a:off x="10190450" y="3507676"/>
            <a:ext cx="1169086" cy="800449"/>
            <a:chOff x="10172822" y="2261017"/>
            <a:chExt cx="1169086" cy="800449"/>
          </a:xfrm>
        </p:grpSpPr>
        <p:sp>
          <p:nvSpPr>
            <p:cNvPr id="79" name="Shape 12">
              <a:extLst>
                <a:ext uri="{FF2B5EF4-FFF2-40B4-BE49-F238E27FC236}">
                  <a16:creationId xmlns:a16="http://schemas.microsoft.com/office/drawing/2014/main" id="{4D71D3B6-A00E-E9C5-6B65-D9C897FFB944}"/>
                </a:ext>
              </a:extLst>
            </p:cNvPr>
            <p:cNvSpPr/>
            <p:nvPr/>
          </p:nvSpPr>
          <p:spPr>
            <a:xfrm>
              <a:off x="10344910" y="2261017"/>
              <a:ext cx="829493" cy="538286"/>
            </a:xfrm>
            <a:prstGeom prst="roundRect">
              <a:avLst>
                <a:gd name="adj" fmla="val 9524"/>
              </a:avLst>
            </a:prstGeom>
            <a:solidFill>
              <a:srgbClr val="CFE8F3"/>
            </a:solidFill>
            <a:ln/>
          </p:spPr>
          <p:txBody>
            <a:bodyPr/>
            <a:lstStyle/>
            <a:p>
              <a:endParaRPr lang="zh-TW" altLang="en-US" dirty="0"/>
            </a:p>
          </p:txBody>
        </p:sp>
        <p:cxnSp>
          <p:nvCxnSpPr>
            <p:cNvPr id="80" name="直線單箭頭接點 79">
              <a:extLst>
                <a:ext uri="{FF2B5EF4-FFF2-40B4-BE49-F238E27FC236}">
                  <a16:creationId xmlns:a16="http://schemas.microsoft.com/office/drawing/2014/main" id="{8E9D74F4-DA21-EAE8-CF5D-2485E91C2390}"/>
                </a:ext>
              </a:extLst>
            </p:cNvPr>
            <p:cNvCxnSpPr>
              <a:cxnSpLocks/>
            </p:cNvCxnSpPr>
            <p:nvPr/>
          </p:nvCxnSpPr>
          <p:spPr>
            <a:xfrm>
              <a:off x="10764238" y="2785069"/>
              <a:ext cx="0" cy="27639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F1BDE35D-3544-6FDF-629D-78779A50B18D}"/>
                </a:ext>
              </a:extLst>
            </p:cNvPr>
            <p:cNvSpPr txBox="1"/>
            <p:nvPr/>
          </p:nvSpPr>
          <p:spPr>
            <a:xfrm>
              <a:off x="10172822" y="2276662"/>
              <a:ext cx="116908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2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建立 </a:t>
              </a:r>
              <a:endPara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12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m(t)</a:t>
              </a:r>
              <a:r>
                <a:rPr lang="zh-TW" altLang="en-US" sz="12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2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&amp; c(t)</a:t>
              </a:r>
              <a:endPara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28FAAF34-5EE2-B6CD-A673-16A59943013A}"/>
              </a:ext>
            </a:extLst>
          </p:cNvPr>
          <p:cNvGrpSpPr/>
          <p:nvPr/>
        </p:nvGrpSpPr>
        <p:grpSpPr>
          <a:xfrm>
            <a:off x="10181898" y="4308125"/>
            <a:ext cx="1169086" cy="616299"/>
            <a:chOff x="10172822" y="2261017"/>
            <a:chExt cx="1169086" cy="616299"/>
          </a:xfrm>
        </p:grpSpPr>
        <p:sp>
          <p:nvSpPr>
            <p:cNvPr id="83" name="Shape 12">
              <a:extLst>
                <a:ext uri="{FF2B5EF4-FFF2-40B4-BE49-F238E27FC236}">
                  <a16:creationId xmlns:a16="http://schemas.microsoft.com/office/drawing/2014/main" id="{35123E5F-7B19-C5A4-75F5-7ACA290B02B8}"/>
                </a:ext>
              </a:extLst>
            </p:cNvPr>
            <p:cNvSpPr/>
            <p:nvPr/>
          </p:nvSpPr>
          <p:spPr>
            <a:xfrm>
              <a:off x="10344910" y="2261017"/>
              <a:ext cx="829493" cy="339902"/>
            </a:xfrm>
            <a:prstGeom prst="roundRect">
              <a:avLst>
                <a:gd name="adj" fmla="val 9524"/>
              </a:avLst>
            </a:prstGeom>
            <a:solidFill>
              <a:srgbClr val="CFE8F3"/>
            </a:solidFill>
            <a:ln/>
          </p:spPr>
          <p:txBody>
            <a:bodyPr/>
            <a:lstStyle/>
            <a:p>
              <a:endParaRPr lang="zh-TW" altLang="en-US" dirty="0"/>
            </a:p>
          </p:txBody>
        </p:sp>
        <p:cxnSp>
          <p:nvCxnSpPr>
            <p:cNvPr id="84" name="直線單箭頭接點 83">
              <a:extLst>
                <a:ext uri="{FF2B5EF4-FFF2-40B4-BE49-F238E27FC236}">
                  <a16:creationId xmlns:a16="http://schemas.microsoft.com/office/drawing/2014/main" id="{A7C3DA8F-8C48-17A6-4CAA-807125731BAB}"/>
                </a:ext>
              </a:extLst>
            </p:cNvPr>
            <p:cNvCxnSpPr>
              <a:cxnSpLocks/>
            </p:cNvCxnSpPr>
            <p:nvPr/>
          </p:nvCxnSpPr>
          <p:spPr>
            <a:xfrm>
              <a:off x="10759656" y="2600919"/>
              <a:ext cx="0" cy="27639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ACBFE78A-6CF9-4070-EFD1-52CDE237F4A7}"/>
                </a:ext>
              </a:extLst>
            </p:cNvPr>
            <p:cNvSpPr txBox="1"/>
            <p:nvPr/>
          </p:nvSpPr>
          <p:spPr>
            <a:xfrm>
              <a:off x="10172822" y="2283263"/>
              <a:ext cx="116908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2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AM</a:t>
              </a:r>
              <a:r>
                <a:rPr lang="zh-TW" altLang="en-US" sz="12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 調變</a:t>
              </a:r>
            </a:p>
          </p:txBody>
        </p:sp>
      </p:grpSp>
      <p:grpSp>
        <p:nvGrpSpPr>
          <p:cNvPr id="90" name="群組 89">
            <a:extLst>
              <a:ext uri="{FF2B5EF4-FFF2-40B4-BE49-F238E27FC236}">
                <a16:creationId xmlns:a16="http://schemas.microsoft.com/office/drawing/2014/main" id="{8A507C12-BD65-B462-A22E-59248CB09216}"/>
              </a:ext>
            </a:extLst>
          </p:cNvPr>
          <p:cNvGrpSpPr/>
          <p:nvPr/>
        </p:nvGrpSpPr>
        <p:grpSpPr>
          <a:xfrm>
            <a:off x="10175113" y="4932436"/>
            <a:ext cx="1169086" cy="616299"/>
            <a:chOff x="10172822" y="2261017"/>
            <a:chExt cx="1169086" cy="616299"/>
          </a:xfrm>
        </p:grpSpPr>
        <p:sp>
          <p:nvSpPr>
            <p:cNvPr id="91" name="Shape 12">
              <a:extLst>
                <a:ext uri="{FF2B5EF4-FFF2-40B4-BE49-F238E27FC236}">
                  <a16:creationId xmlns:a16="http://schemas.microsoft.com/office/drawing/2014/main" id="{7D6EDC51-7D87-AABF-4B84-C5CEBDD274B5}"/>
                </a:ext>
              </a:extLst>
            </p:cNvPr>
            <p:cNvSpPr/>
            <p:nvPr/>
          </p:nvSpPr>
          <p:spPr>
            <a:xfrm>
              <a:off x="10344910" y="2261017"/>
              <a:ext cx="829493" cy="339902"/>
            </a:xfrm>
            <a:prstGeom prst="roundRect">
              <a:avLst>
                <a:gd name="adj" fmla="val 9524"/>
              </a:avLst>
            </a:prstGeom>
            <a:solidFill>
              <a:srgbClr val="CFE8F3"/>
            </a:solidFill>
            <a:ln/>
          </p:spPr>
          <p:txBody>
            <a:bodyPr/>
            <a:lstStyle/>
            <a:p>
              <a:endParaRPr lang="zh-TW" altLang="en-US" dirty="0"/>
            </a:p>
          </p:txBody>
        </p:sp>
        <p:cxnSp>
          <p:nvCxnSpPr>
            <p:cNvPr id="92" name="直線單箭頭接點 91">
              <a:extLst>
                <a:ext uri="{FF2B5EF4-FFF2-40B4-BE49-F238E27FC236}">
                  <a16:creationId xmlns:a16="http://schemas.microsoft.com/office/drawing/2014/main" id="{B33636BD-502C-66E7-4516-2C2900E0C245}"/>
                </a:ext>
              </a:extLst>
            </p:cNvPr>
            <p:cNvCxnSpPr>
              <a:cxnSpLocks/>
            </p:cNvCxnSpPr>
            <p:nvPr/>
          </p:nvCxnSpPr>
          <p:spPr>
            <a:xfrm>
              <a:off x="10759656" y="2600919"/>
              <a:ext cx="0" cy="27639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文字方塊 92">
              <a:extLst>
                <a:ext uri="{FF2B5EF4-FFF2-40B4-BE49-F238E27FC236}">
                  <a16:creationId xmlns:a16="http://schemas.microsoft.com/office/drawing/2014/main" id="{5B4B7A27-E70C-B24A-6B3C-5EB101BA045E}"/>
                </a:ext>
              </a:extLst>
            </p:cNvPr>
            <p:cNvSpPr txBox="1"/>
            <p:nvPr/>
          </p:nvSpPr>
          <p:spPr>
            <a:xfrm>
              <a:off x="10172822" y="2283263"/>
              <a:ext cx="116908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2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建立頻域軸</a:t>
              </a:r>
            </a:p>
          </p:txBody>
        </p:sp>
      </p:grpSp>
      <p:grpSp>
        <p:nvGrpSpPr>
          <p:cNvPr id="94" name="群組 93">
            <a:extLst>
              <a:ext uri="{FF2B5EF4-FFF2-40B4-BE49-F238E27FC236}">
                <a16:creationId xmlns:a16="http://schemas.microsoft.com/office/drawing/2014/main" id="{500406D6-D7A2-8CF9-FC5B-C35642DE962D}"/>
              </a:ext>
            </a:extLst>
          </p:cNvPr>
          <p:cNvGrpSpPr/>
          <p:nvPr/>
        </p:nvGrpSpPr>
        <p:grpSpPr>
          <a:xfrm>
            <a:off x="10181898" y="5548735"/>
            <a:ext cx="1169086" cy="339902"/>
            <a:chOff x="10172822" y="2261017"/>
            <a:chExt cx="1169086" cy="339902"/>
          </a:xfrm>
        </p:grpSpPr>
        <p:sp>
          <p:nvSpPr>
            <p:cNvPr id="95" name="Shape 12">
              <a:extLst>
                <a:ext uri="{FF2B5EF4-FFF2-40B4-BE49-F238E27FC236}">
                  <a16:creationId xmlns:a16="http://schemas.microsoft.com/office/drawing/2014/main" id="{0F9B4A09-93B8-8F1C-47BC-A858E62918E8}"/>
                </a:ext>
              </a:extLst>
            </p:cNvPr>
            <p:cNvSpPr/>
            <p:nvPr/>
          </p:nvSpPr>
          <p:spPr>
            <a:xfrm>
              <a:off x="10344910" y="2261017"/>
              <a:ext cx="829493" cy="339902"/>
            </a:xfrm>
            <a:prstGeom prst="roundRect">
              <a:avLst>
                <a:gd name="adj" fmla="val 9524"/>
              </a:avLst>
            </a:prstGeom>
            <a:solidFill>
              <a:srgbClr val="CFE8F3"/>
            </a:solidFill>
            <a:ln/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10EE0649-14B1-EF7A-5882-451D1D2595B5}"/>
                </a:ext>
              </a:extLst>
            </p:cNvPr>
            <p:cNvSpPr txBox="1"/>
            <p:nvPr/>
          </p:nvSpPr>
          <p:spPr>
            <a:xfrm>
              <a:off x="10172822" y="2283263"/>
              <a:ext cx="116908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2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畫圖</a:t>
              </a:r>
              <a:endPara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597D6-F4A2-48E7-8A96-50602AAD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F51AFB5-9346-F3BB-97C1-E732396B6858}"/>
              </a:ext>
            </a:extLst>
          </p:cNvPr>
          <p:cNvSpPr txBox="1"/>
          <p:nvPr/>
        </p:nvSpPr>
        <p:spPr>
          <a:xfrm>
            <a:off x="635509" y="28018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第一題  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AM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調變</a:t>
            </a:r>
            <a:r>
              <a:rPr 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 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(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不失真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)</a:t>
            </a:r>
            <a:endParaRPr 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B7F26475-C9E1-4D8E-81FF-5E0A12FD8C25}"/>
              </a:ext>
            </a:extLst>
          </p:cNvPr>
          <p:cNvSpPr/>
          <p:nvPr/>
        </p:nvSpPr>
        <p:spPr>
          <a:xfrm>
            <a:off x="635509" y="1125728"/>
            <a:ext cx="5439598" cy="5330106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9525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B45A7694-6F61-639B-8E62-EA4B8278395A}"/>
              </a:ext>
            </a:extLst>
          </p:cNvPr>
          <p:cNvSpPr txBox="1"/>
          <p:nvPr/>
        </p:nvSpPr>
        <p:spPr>
          <a:xfrm>
            <a:off x="799017" y="1246647"/>
            <a:ext cx="52760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程式碼</a:t>
            </a:r>
            <a:endParaRPr lang="en-US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4CA8F63C-2568-8FB6-85B5-19A115513595}"/>
              </a:ext>
            </a:extLst>
          </p:cNvPr>
          <p:cNvCxnSpPr/>
          <p:nvPr/>
        </p:nvCxnSpPr>
        <p:spPr>
          <a:xfrm>
            <a:off x="911573" y="1959143"/>
            <a:ext cx="4887470" cy="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圖片 13">
            <a:extLst>
              <a:ext uri="{FF2B5EF4-FFF2-40B4-BE49-F238E27FC236}">
                <a16:creationId xmlns:a16="http://schemas.microsoft.com/office/drawing/2014/main" id="{B44C99E3-263F-1E8B-ED72-CA4E0504E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624" y="2184355"/>
            <a:ext cx="3922698" cy="2667044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274E0607-6E1A-4185-2191-45E9B829E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624" y="4956152"/>
            <a:ext cx="3938538" cy="1152540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640AA7CB-E405-E4EF-F21A-468EE0B8EAA8}"/>
              </a:ext>
            </a:extLst>
          </p:cNvPr>
          <p:cNvSpPr txBox="1"/>
          <p:nvPr/>
        </p:nvSpPr>
        <p:spPr>
          <a:xfrm>
            <a:off x="6751222" y="2181348"/>
            <a:ext cx="4507791" cy="43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plot(t, mt, ’b’, ‘</a:t>
            </a:r>
            <a:r>
              <a:rPr lang="en-US" sz="20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LineWidth</a:t>
            </a:r>
            <a:r>
              <a:rPr 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’, 1);</a:t>
            </a:r>
            <a:endParaRPr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ADEA844E-4D13-0E08-05C5-93A464CC0F28}"/>
              </a:ext>
            </a:extLst>
          </p:cNvPr>
          <p:cNvSpPr txBox="1"/>
          <p:nvPr/>
        </p:nvSpPr>
        <p:spPr>
          <a:xfrm>
            <a:off x="7219390" y="2575539"/>
            <a:ext cx="4507791" cy="43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(x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軸</a:t>
            </a:r>
            <a:r>
              <a:rPr 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, y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軸</a:t>
            </a:r>
            <a:r>
              <a:rPr 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, ’</a:t>
            </a:r>
            <a:r>
              <a:rPr lang="zh-TW" alt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顏色</a:t>
            </a:r>
            <a:r>
              <a:rPr 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’, ‘</a:t>
            </a:r>
            <a:r>
              <a:rPr lang="en-US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LineWidth</a:t>
            </a:r>
            <a:r>
              <a:rPr 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’,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線寬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95B52C83-638F-1029-AF53-A30B5FBA88C1}"/>
              </a:ext>
            </a:extLst>
          </p:cNvPr>
          <p:cNvGrpSpPr/>
          <p:nvPr/>
        </p:nvGrpSpPr>
        <p:grpSpPr>
          <a:xfrm>
            <a:off x="8131144" y="3040542"/>
            <a:ext cx="2684282" cy="1611007"/>
            <a:chOff x="7137120" y="3007853"/>
            <a:chExt cx="2451380" cy="1386347"/>
          </a:xfrm>
        </p:grpSpPr>
        <p:sp>
          <p:nvSpPr>
            <p:cNvPr id="24" name="矩形: 圓角 23">
              <a:extLst>
                <a:ext uri="{FF2B5EF4-FFF2-40B4-BE49-F238E27FC236}">
                  <a16:creationId xmlns:a16="http://schemas.microsoft.com/office/drawing/2014/main" id="{962A7FCE-7A24-B725-39F3-1AC1906A9789}"/>
                </a:ext>
              </a:extLst>
            </p:cNvPr>
            <p:cNvSpPr/>
            <p:nvPr/>
          </p:nvSpPr>
          <p:spPr>
            <a:xfrm>
              <a:off x="7137120" y="3007853"/>
              <a:ext cx="2451380" cy="13569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Text 5">
              <a:extLst>
                <a:ext uri="{FF2B5EF4-FFF2-40B4-BE49-F238E27FC236}">
                  <a16:creationId xmlns:a16="http://schemas.microsoft.com/office/drawing/2014/main" id="{98663631-FF5B-0512-B051-2FA7602E0C7F}"/>
                </a:ext>
              </a:extLst>
            </p:cNvPr>
            <p:cNvSpPr txBox="1"/>
            <p:nvPr/>
          </p:nvSpPr>
          <p:spPr>
            <a:xfrm>
              <a:off x="7378140" y="3517877"/>
              <a:ext cx="2045260" cy="8763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‘</a:t>
              </a:r>
              <a:r>
                <a:rPr lang="en-US" altLang="zh-TW" dirty="0">
                  <a:solidFill>
                    <a:schemeClr val="accent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b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’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：時域訊號 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(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藍色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)</a:t>
              </a:r>
            </a:p>
            <a:p>
              <a:pPr marL="0" indent="0">
                <a:buNone/>
              </a:pP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‘</a:t>
              </a:r>
              <a:r>
                <a:rPr lang="en-US" altLang="zh-TW" dirty="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r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’ 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：頻域訊號 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(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紅色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)</a:t>
              </a:r>
            </a:p>
            <a:p>
              <a:pPr marL="0" indent="0">
                <a:buNone/>
              </a:pP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‘k’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：濾波訊號 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(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黑色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)</a:t>
              </a: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FE3AA313-77B8-4CFB-5DB9-CC5A52852464}"/>
                </a:ext>
              </a:extLst>
            </p:cNvPr>
            <p:cNvSpPr txBox="1"/>
            <p:nvPr/>
          </p:nvSpPr>
          <p:spPr>
            <a:xfrm>
              <a:off x="7137120" y="3059668"/>
              <a:ext cx="24005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8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《</a:t>
              </a:r>
              <a:r>
                <a:rPr lang="zh-TW" altLang="en-US" sz="18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常用顏色</a:t>
              </a:r>
              <a:r>
                <a:rPr lang="en-US" altLang="zh-TW" sz="18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》 </a:t>
              </a:r>
            </a:p>
          </p:txBody>
        </p:sp>
      </p:grpSp>
      <p:sp>
        <p:nvSpPr>
          <p:cNvPr id="31" name="Text 5">
            <a:extLst>
              <a:ext uri="{FF2B5EF4-FFF2-40B4-BE49-F238E27FC236}">
                <a16:creationId xmlns:a16="http://schemas.microsoft.com/office/drawing/2014/main" id="{57FD459E-218A-D0E6-D5AE-0589700B6989}"/>
              </a:ext>
            </a:extLst>
          </p:cNvPr>
          <p:cNvSpPr txBox="1"/>
          <p:nvPr/>
        </p:nvSpPr>
        <p:spPr>
          <a:xfrm>
            <a:off x="6452772" y="5892535"/>
            <a:ext cx="4507791" cy="43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請試著自己畫出</a:t>
            </a:r>
            <a:r>
              <a:rPr lang="en-US" altLang="zh-TW" sz="20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s(t)</a:t>
            </a:r>
            <a:r>
              <a:rPr lang="zh-TW" alt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與</a:t>
            </a:r>
            <a:r>
              <a:rPr lang="en-US" altLang="zh-TW" sz="20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|S(f)|</a:t>
            </a:r>
            <a:endParaRPr sz="2000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97055394-88EA-A30E-1850-E4687A49E0BB}"/>
              </a:ext>
            </a:extLst>
          </p:cNvPr>
          <p:cNvCxnSpPr>
            <a:cxnSpLocks/>
          </p:cNvCxnSpPr>
          <p:nvPr/>
        </p:nvCxnSpPr>
        <p:spPr>
          <a:xfrm>
            <a:off x="8368740" y="3529936"/>
            <a:ext cx="2216710" cy="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91A0E118-34C1-63D0-42E6-580722C2BC31}"/>
              </a:ext>
            </a:extLst>
          </p:cNvPr>
          <p:cNvSpPr/>
          <p:nvPr/>
        </p:nvSpPr>
        <p:spPr>
          <a:xfrm>
            <a:off x="1919748" y="3771731"/>
            <a:ext cx="1528302" cy="22241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85D07967-F322-BCFB-5555-2FF7BFFA4349}"/>
              </a:ext>
            </a:extLst>
          </p:cNvPr>
          <p:cNvSpPr txBox="1"/>
          <p:nvPr/>
        </p:nvSpPr>
        <p:spPr>
          <a:xfrm>
            <a:off x="2824079" y="3416606"/>
            <a:ext cx="1924058" cy="35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做傅立葉轉換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FB7217A-7AAC-2047-9266-D0AE603D3582}"/>
              </a:ext>
            </a:extLst>
          </p:cNvPr>
          <p:cNvSpPr/>
          <p:nvPr/>
        </p:nvSpPr>
        <p:spPr>
          <a:xfrm>
            <a:off x="1379998" y="4570147"/>
            <a:ext cx="1528302" cy="22241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8E7A6087-9A82-92D8-795A-37AF8D2F50DD}"/>
              </a:ext>
            </a:extLst>
          </p:cNvPr>
          <p:cNvSpPr txBox="1"/>
          <p:nvPr/>
        </p:nvSpPr>
        <p:spPr>
          <a:xfrm>
            <a:off x="2976675" y="4176994"/>
            <a:ext cx="2933762" cy="83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限制</a:t>
            </a:r>
            <a:r>
              <a:rPr lang="en-US" altLang="zh-TW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zh-TW" altLang="en-US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軸範圍，方便與調變後的訊號做比較 </a:t>
            </a:r>
            <a:endParaRPr lang="en-US" altLang="zh-TW" dirty="0">
              <a:solidFill>
                <a:schemeClr val="accent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訊號搬移至高頻</a:t>
            </a:r>
            <a:r>
              <a:rPr lang="en-US" altLang="zh-TW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17240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">
            <a:extLst>
              <a:ext uri="{FF2B5EF4-FFF2-40B4-BE49-F238E27FC236}">
                <a16:creationId xmlns:a16="http://schemas.microsoft.com/office/drawing/2014/main" id="{5ADDCA93-30CA-FB69-3D72-26842F81A376}"/>
              </a:ext>
            </a:extLst>
          </p:cNvPr>
          <p:cNvSpPr/>
          <p:nvPr/>
        </p:nvSpPr>
        <p:spPr>
          <a:xfrm>
            <a:off x="674873" y="2817341"/>
            <a:ext cx="7098957" cy="3336324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2CB37395-4818-6195-BD6A-AA59923BD3B3}"/>
              </a:ext>
            </a:extLst>
          </p:cNvPr>
          <p:cNvGrpSpPr/>
          <p:nvPr/>
        </p:nvGrpSpPr>
        <p:grpSpPr>
          <a:xfrm>
            <a:off x="6057449" y="1111403"/>
            <a:ext cx="5082554" cy="1430356"/>
            <a:chOff x="5002276" y="1437472"/>
            <a:chExt cx="5545836" cy="1625768"/>
          </a:xfrm>
        </p:grpSpPr>
        <p:sp>
          <p:nvSpPr>
            <p:cNvPr id="6" name="Shape 4"/>
            <p:cNvSpPr/>
            <p:nvPr/>
          </p:nvSpPr>
          <p:spPr>
            <a:xfrm>
              <a:off x="5003800" y="1463040"/>
              <a:ext cx="5544312" cy="1600200"/>
            </a:xfrm>
            <a:prstGeom prst="roundRect">
              <a:avLst>
                <a:gd name="adj" fmla="val 5143"/>
              </a:avLst>
            </a:prstGeom>
            <a:solidFill>
              <a:srgbClr val="FFFFFF"/>
            </a:solidFill>
            <a:ln w="9525">
              <a:solidFill>
                <a:srgbClr val="DCE4E8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5"/>
                <p:cNvSpPr txBox="1"/>
                <p:nvPr/>
              </p:nvSpPr>
              <p:spPr>
                <a:xfrm>
                  <a:off x="5002276" y="1437472"/>
                  <a:ext cx="5545836" cy="1600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4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4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𝒎𝒂𝒙</m:t>
                          </m:r>
                          <m:r>
                            <a:rPr lang="en-US" altLang="zh-TW" sz="4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|</m:t>
                          </m:r>
                          <m:r>
                            <a:rPr lang="en-US" altLang="zh-TW" sz="40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altLang="zh-TW" sz="40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r>
                        <a:rPr lang="en-US" altLang="zh-TW" sz="4000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d>
                        <m:dPr>
                          <m:ctrlPr>
                            <a:rPr lang="en-US" altLang="zh-TW" sz="40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40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altLang="zh-TW" sz="4000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40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a14:m>
                  <a:r>
                    <a:rPr lang="en-US" sz="4000" b="1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標楷體" panose="03000509000000000000" pitchFamily="65" charset="-120"/>
                      <a:cs typeface="Cambria" pitchFamily="34" charset="-120"/>
                    </a:rPr>
                    <a:t>&lt; 1</a:t>
                  </a:r>
                  <a:endParaRPr lang="en-US" sz="4000" dirty="0">
                    <a:latin typeface="Times New Roman" panose="02020603050405020304" pitchFamily="18" charset="0"/>
                    <a:ea typeface="標楷體" panose="03000509000000000000" pitchFamily="65" charset="-120"/>
                  </a:endParaRPr>
                </a:p>
              </p:txBody>
            </p:sp>
          </mc:Choice>
          <mc:Fallback xmlns="">
            <p:sp>
              <p:nvSpPr>
                <p:cNvPr id="7" name="Tex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2276" y="1437472"/>
                  <a:ext cx="5545836" cy="16002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 1">
            <a:extLst>
              <a:ext uri="{FF2B5EF4-FFF2-40B4-BE49-F238E27FC236}">
                <a16:creationId xmlns:a16="http://schemas.microsoft.com/office/drawing/2014/main" id="{25F9804B-7E93-F474-BDA7-3CA57053719A}"/>
              </a:ext>
            </a:extLst>
          </p:cNvPr>
          <p:cNvSpPr txBox="1"/>
          <p:nvPr/>
        </p:nvSpPr>
        <p:spPr>
          <a:xfrm>
            <a:off x="773521" y="43518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調變有什麼限制</a:t>
            </a:r>
            <a:r>
              <a:rPr lang="en-US" altLang="zh-TW" sz="32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?</a:t>
            </a:r>
            <a:endParaRPr lang="en-US" sz="3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20217" y="1920302"/>
            <a:ext cx="47874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8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訊息</a:t>
            </a:r>
            <a:r>
              <a:rPr lang="en-US" sz="2800" b="1" dirty="0" err="1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失真與否，只看一個條件</a:t>
            </a:r>
            <a:endParaRPr lang="en-US" sz="2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CEBB7E0D-7134-D729-C88D-B92DC849292D}"/>
              </a:ext>
            </a:extLst>
          </p:cNvPr>
          <p:cNvGrpSpPr/>
          <p:nvPr/>
        </p:nvGrpSpPr>
        <p:grpSpPr>
          <a:xfrm>
            <a:off x="1221036" y="3393355"/>
            <a:ext cx="6668058" cy="2583679"/>
            <a:chOff x="540479" y="3227846"/>
            <a:chExt cx="6668058" cy="25836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7150AA9C-C008-0A22-0E0C-BE4F0162A8C9}"/>
                    </a:ext>
                  </a:extLst>
                </p:cNvPr>
                <p:cNvSpPr txBox="1"/>
                <p:nvPr/>
              </p:nvSpPr>
              <p:spPr>
                <a:xfrm>
                  <a:off x="540479" y="3227846"/>
                  <a:ext cx="4925964" cy="3847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d>
                          <m:dPr>
                            <m:ctrlPr>
                              <a:rPr lang="en-US" altLang="zh-TW" sz="25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5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en-US" altLang="zh-TW" sz="2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25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5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TW" sz="25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TW" sz="25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5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TW" sz="25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25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5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e>
                              <m:sub>
                                <m:r>
                                  <a:rPr lang="en-US" altLang="zh-TW" sz="25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b>
                            </m:sSub>
                            <m:r>
                              <a:rPr lang="en-US" altLang="zh-TW" sz="25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  <m:d>
                              <m:dPr>
                                <m:ctrlPr>
                                  <a:rPr lang="en-US" altLang="zh-TW" sz="25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5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</m:d>
                          </m:e>
                        </m:d>
                        <m:r>
                          <a:rPr lang="en-US" altLang="zh-TW" sz="2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𝒄𝒐𝒔</m:t>
                        </m:r>
                        <m:r>
                          <a:rPr lang="en-US" altLang="zh-TW" sz="2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zh-TW" altLang="en-US" sz="2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  <m:sSub>
                          <m:sSubPr>
                            <m:ctrlPr>
                              <a:rPr lang="en-US" altLang="zh-TW" sz="25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5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zh-TW" sz="25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  <m:r>
                          <a:rPr lang="en-US" altLang="zh-TW" sz="2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TW" sz="2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25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7150AA9C-C008-0A22-0E0C-BE4F0162A8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79" y="3227846"/>
                  <a:ext cx="4925964" cy="384721"/>
                </a:xfrm>
                <a:prstGeom prst="rect">
                  <a:avLst/>
                </a:prstGeom>
                <a:blipFill>
                  <a:blip r:embed="rId4"/>
                  <a:stretch>
                    <a:fillRect l="-371" t="-1587" r="-1980" b="-3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右大括弧 28">
              <a:extLst>
                <a:ext uri="{FF2B5EF4-FFF2-40B4-BE49-F238E27FC236}">
                  <a16:creationId xmlns:a16="http://schemas.microsoft.com/office/drawing/2014/main" id="{2C98537D-E8EA-1225-CDB4-10C359025DE3}"/>
                </a:ext>
              </a:extLst>
            </p:cNvPr>
            <p:cNvSpPr/>
            <p:nvPr/>
          </p:nvSpPr>
          <p:spPr>
            <a:xfrm rot="5400000">
              <a:off x="2962392" y="3250340"/>
              <a:ext cx="304800" cy="1126067"/>
            </a:xfrm>
            <a:prstGeom prst="rightBrac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2" name="Text 7">
              <a:extLst>
                <a:ext uri="{FF2B5EF4-FFF2-40B4-BE49-F238E27FC236}">
                  <a16:creationId xmlns:a16="http://schemas.microsoft.com/office/drawing/2014/main" id="{4259831E-6F22-E229-DB2C-BD6DC2CB65AC}"/>
                </a:ext>
              </a:extLst>
            </p:cNvPr>
            <p:cNvSpPr txBox="1"/>
            <p:nvPr/>
          </p:nvSpPr>
          <p:spPr>
            <a:xfrm>
              <a:off x="1934162" y="4026277"/>
              <a:ext cx="5274375" cy="3847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zh-TW" altLang="en-US" sz="2000" dirty="0">
                  <a:solidFill>
                    <a:schemeClr val="accent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相乘如果出現大於</a:t>
              </a:r>
              <a:r>
                <a:rPr lang="en-US" altLang="zh-TW" sz="2000" dirty="0">
                  <a:solidFill>
                    <a:schemeClr val="accent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1</a:t>
              </a:r>
              <a:r>
                <a:rPr lang="zh-TW" altLang="en-US" sz="2000" dirty="0">
                  <a:solidFill>
                    <a:schemeClr val="accent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的負數的話 </a:t>
              </a:r>
              <a:r>
                <a:rPr lang="en-US" altLang="zh-TW" sz="2000" dirty="0">
                  <a:solidFill>
                    <a:schemeClr val="accent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(ex: -1.2)</a:t>
              </a:r>
              <a:endParaRPr lang="en-US" sz="2000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2F61A733-515A-8929-E88E-8CC70412C6A7}"/>
                    </a:ext>
                  </a:extLst>
                </p:cNvPr>
                <p:cNvSpPr txBox="1"/>
                <p:nvPr/>
              </p:nvSpPr>
              <p:spPr>
                <a:xfrm>
                  <a:off x="540479" y="4524082"/>
                  <a:ext cx="4096699" cy="3847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altLang="zh-TW" sz="2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d>
                          <m:dPr>
                            <m:ctrlPr>
                              <a:rPr lang="en-US" altLang="zh-TW" sz="25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5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en-US" altLang="zh-TW" sz="2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altLang="zh-TW" sz="2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TW" sz="2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TW" sz="2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TW" sz="25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5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TW" sz="25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  <m:r>
                          <a:rPr lang="en-US" altLang="zh-TW" sz="2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𝒄𝒐𝒔</m:t>
                        </m:r>
                        <m:r>
                          <a:rPr lang="en-US" altLang="zh-TW" sz="2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zh-TW" altLang="en-US" sz="2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  <m:sSub>
                          <m:sSubPr>
                            <m:ctrlPr>
                              <a:rPr lang="en-US" altLang="zh-TW" sz="25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5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zh-TW" sz="25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  <m:r>
                          <a:rPr lang="en-US" altLang="zh-TW" sz="2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TW" sz="2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25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2F61A733-515A-8929-E88E-8CC70412C6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79" y="4524082"/>
                  <a:ext cx="4096699" cy="384721"/>
                </a:xfrm>
                <a:prstGeom prst="rect">
                  <a:avLst/>
                </a:prstGeom>
                <a:blipFill>
                  <a:blip r:embed="rId5"/>
                  <a:stretch>
                    <a:fillRect l="-1339" r="-2827" b="-3492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 7">
              <a:extLst>
                <a:ext uri="{FF2B5EF4-FFF2-40B4-BE49-F238E27FC236}">
                  <a16:creationId xmlns:a16="http://schemas.microsoft.com/office/drawing/2014/main" id="{AA8B81F0-2F32-EC64-92F0-0B5C7656B080}"/>
                </a:ext>
              </a:extLst>
            </p:cNvPr>
            <p:cNvSpPr txBox="1"/>
            <p:nvPr/>
          </p:nvSpPr>
          <p:spPr>
            <a:xfrm>
              <a:off x="3677827" y="5426804"/>
              <a:ext cx="1960973" cy="3847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zh-TW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相位翻轉了</a:t>
              </a:r>
              <a:r>
                <a:rPr lang="en-US" altLang="zh-TW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180°</a:t>
              </a:r>
              <a:endPara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3BD912E9-8DBF-9974-05BD-42DEB3FC932A}"/>
                    </a:ext>
                  </a:extLst>
                </p:cNvPr>
                <p:cNvSpPr txBox="1"/>
                <p:nvPr/>
              </p:nvSpPr>
              <p:spPr>
                <a:xfrm>
                  <a:off x="2101957" y="5002103"/>
                  <a:ext cx="3274935" cy="3847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500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500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𝒄𝒐𝒔</m:t>
                        </m:r>
                        <m:r>
                          <a:rPr lang="en-US" altLang="zh-TW" sz="2500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TW" altLang="en-US" sz="2500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zh-TW" sz="2500" b="1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TW" sz="2500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500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𝒄𝒐𝒔</m:t>
                        </m:r>
                        <m:r>
                          <a:rPr lang="en-US" altLang="zh-TW" sz="2500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TW" altLang="en-US" sz="2500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zh-TW" sz="2500" b="1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TW" alt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en-US" altLang="zh-TW" sz="2500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2500" b="1" dirty="0">
                    <a:solidFill>
                      <a:schemeClr val="bg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3BD912E9-8DBF-9974-05BD-42DEB3FC9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1957" y="5002103"/>
                  <a:ext cx="3274935" cy="384721"/>
                </a:xfrm>
                <a:prstGeom prst="rect">
                  <a:avLst/>
                </a:prstGeom>
                <a:blipFill>
                  <a:blip r:embed="rId6"/>
                  <a:stretch>
                    <a:fillRect t="-1587" r="-2974" b="-3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0" name="Image 0" descr="/home/claude/work/fig/envelope_fold.png">
            <a:extLst>
              <a:ext uri="{FF2B5EF4-FFF2-40B4-BE49-F238E27FC236}">
                <a16:creationId xmlns:a16="http://schemas.microsoft.com/office/drawing/2014/main" id="{7EAD0A76-B2B5-3C2B-ED06-0B02E04D1E3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899" t="13589" r="50000" b="13872"/>
          <a:stretch>
            <a:fillRect/>
          </a:stretch>
        </p:blipFill>
        <p:spPr>
          <a:xfrm>
            <a:off x="8339328" y="2823423"/>
            <a:ext cx="2994535" cy="1689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4" name="Image 0" descr="/home/claude/work/fig/envelope_fold.png">
            <a:extLst>
              <a:ext uri="{FF2B5EF4-FFF2-40B4-BE49-F238E27FC236}">
                <a16:creationId xmlns:a16="http://schemas.microsoft.com/office/drawing/2014/main" id="{9B980BD3-D877-1FE4-28DD-CDE2EA63D06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4213" t="15259" r="1686" b="15034"/>
          <a:stretch>
            <a:fillRect/>
          </a:stretch>
        </p:blipFill>
        <p:spPr>
          <a:xfrm>
            <a:off x="8348131" y="4689591"/>
            <a:ext cx="2994535" cy="16231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5" name="矩形 54">
            <a:extLst>
              <a:ext uri="{FF2B5EF4-FFF2-40B4-BE49-F238E27FC236}">
                <a16:creationId xmlns:a16="http://schemas.microsoft.com/office/drawing/2014/main" id="{34DC6180-0D2A-923A-E4CF-F17F7646CA7C}"/>
              </a:ext>
            </a:extLst>
          </p:cNvPr>
          <p:cNvSpPr/>
          <p:nvPr/>
        </p:nvSpPr>
        <p:spPr>
          <a:xfrm>
            <a:off x="8760941" y="4576507"/>
            <a:ext cx="395416" cy="176801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E420DBC6-D573-2CF4-47B2-C7DACE61A554}"/>
              </a:ext>
            </a:extLst>
          </p:cNvPr>
          <p:cNvSpPr txBox="1"/>
          <p:nvPr/>
        </p:nvSpPr>
        <p:spPr>
          <a:xfrm>
            <a:off x="9146406" y="6085345"/>
            <a:ext cx="271878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sz="1500" b="1" dirty="0" err="1"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包絡反折：外殼不再等於訊息</a:t>
            </a:r>
            <a:endParaRPr lang="en-US" altLang="zh-TW" sz="1500" dirty="0">
              <a:highlight>
                <a:srgbClr val="FFFF00"/>
              </a:highlight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E60EE2-DFF8-E9B6-8E38-F5C8D9D3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D79A69F-E5E4-7DF6-E524-30AE0D14B803}"/>
              </a:ext>
            </a:extLst>
          </p:cNvPr>
          <p:cNvSpPr txBox="1"/>
          <p:nvPr/>
        </p:nvSpPr>
        <p:spPr>
          <a:xfrm>
            <a:off x="551688" y="515034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AM </a:t>
            </a:r>
            <a:r>
              <a:rPr lang="zh-TW" altLang="en-US" sz="3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解調</a:t>
            </a:r>
            <a:r>
              <a:rPr lang="zh-TW" altLang="en-US" sz="3000" b="1" dirty="0"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基本公式</a:t>
            </a:r>
            <a:endParaRPr 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8CBEB95-B25F-9F33-4E40-60D1D31E27BE}"/>
              </a:ext>
            </a:extLst>
          </p:cNvPr>
          <p:cNvSpPr/>
          <p:nvPr/>
        </p:nvSpPr>
        <p:spPr>
          <a:xfrm>
            <a:off x="550164" y="1656479"/>
            <a:ext cx="1109167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56BA7D35-45FA-A054-E20F-F224C91AE67E}"/>
                  </a:ext>
                </a:extLst>
              </p:cNvPr>
              <p:cNvSpPr txBox="1"/>
              <p:nvPr/>
            </p:nvSpPr>
            <p:spPr>
              <a:xfrm>
                <a:off x="4174629" y="2872637"/>
                <a:ext cx="4372471" cy="18371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500" b="1" i="1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𝒆</m:t>
                    </m:r>
                    <m:r>
                      <a:rPr lang="en-US" altLang="zh-TW" sz="2500" b="1" i="1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(</m:t>
                    </m:r>
                    <m:r>
                      <a:rPr lang="en-US" altLang="zh-TW" sz="2500" b="1" i="1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𝒕</m:t>
                    </m:r>
                    <m:r>
                      <a:rPr lang="en-US" altLang="zh-TW" sz="2500" b="1" i="1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)</m:t>
                    </m:r>
                  </m:oMath>
                </a14:m>
                <a:r>
                  <a:rPr lang="en-US" altLang="zh-TW" sz="25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 : </a:t>
                </a:r>
                <a:r>
                  <a:rPr lang="zh-TW" altLang="en-US" sz="25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解調後的訊號</a:t>
                </a:r>
                <a:endParaRPr lang="en-US" altLang="zh-TW" sz="25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Microsoft JhengHei" pitchFamily="34" charset="-12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5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s(t)</a:t>
                </a:r>
                <a:r>
                  <a:rPr lang="zh-TW" altLang="en-US" sz="25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：調變後的訊號</a:t>
                </a:r>
                <a:endParaRPr lang="en-US" altLang="zh-TW" sz="25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Microsoft JhengHei" pitchFamily="34" charset="-12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5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c(t)</a:t>
                </a:r>
                <a:r>
                  <a:rPr lang="zh-TW" altLang="en-US" sz="25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：載波 </a:t>
                </a:r>
                <a14:m>
                  <m:oMath xmlns:m="http://schemas.openxmlformats.org/officeDocument/2006/math">
                    <m:r>
                      <a:rPr lang="en-US" altLang="zh-TW" sz="25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Microsoft JhengHei" pitchFamily="34" charset="-120"/>
                      </a:rPr>
                      <m:t> </m:t>
                    </m:r>
                    <m:d>
                      <m:dPr>
                        <m:ctrlPr>
                          <a:rPr lang="en-US" altLang="zh-TW" sz="25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Microsoft JhengHei" pitchFamily="34" charset="-120"/>
                          </a:rPr>
                        </m:ctrlPr>
                      </m:dPr>
                      <m:e>
                        <m:r>
                          <a:rPr lang="en-US" altLang="zh-TW" sz="25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Microsoft JhengHei" pitchFamily="34" charset="-120"/>
                          </a:rPr>
                          <m:t>𝒄𝒐𝒔</m:t>
                        </m:r>
                        <m:d>
                          <m:dPr>
                            <m:ctrlPr>
                              <a:rPr lang="en-US" altLang="zh-TW" sz="25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Microsoft JhengHei" pitchFamily="34" charset="-120"/>
                              </a:rPr>
                            </m:ctrlPr>
                          </m:dPr>
                          <m:e>
                            <m:r>
                              <a:rPr lang="en-US" altLang="zh-TW" sz="25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Microsoft JhengHei" pitchFamily="34" charset="-120"/>
                              </a:rPr>
                              <m:t>𝟐</m:t>
                            </m:r>
                            <m:r>
                              <a:rPr lang="en-US" altLang="zh-TW" sz="25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Microsoft JhengHei" pitchFamily="34" charset="-120"/>
                              </a:rPr>
                              <m:t>𝝅</m:t>
                            </m:r>
                            <m:sSub>
                              <m:sSubPr>
                                <m:ctrlPr>
                                  <a:rPr lang="en-US" altLang="zh-TW" sz="25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5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en-US" altLang="zh-TW" sz="25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</m:sSub>
                            <m:r>
                              <a:rPr lang="en-US" altLang="zh-TW" sz="25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e>
                    </m:d>
                  </m:oMath>
                </a14:m>
                <a:endParaRPr lang="en-US" altLang="zh-TW" sz="25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56BA7D35-45FA-A054-E20F-F224C91AE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629" y="2872637"/>
                <a:ext cx="4372471" cy="1837106"/>
              </a:xfrm>
              <a:prstGeom prst="rect">
                <a:avLst/>
              </a:prstGeom>
              <a:blipFill>
                <a:blip r:embed="rId3"/>
                <a:stretch>
                  <a:fillRect l="-2092" b="-52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1">
                <a:extLst>
                  <a:ext uri="{FF2B5EF4-FFF2-40B4-BE49-F238E27FC236}">
                    <a16:creationId xmlns:a16="http://schemas.microsoft.com/office/drawing/2014/main" id="{C20CB180-FED2-F5A1-0CF2-F8495017B064}"/>
                  </a:ext>
                </a:extLst>
              </p:cNvPr>
              <p:cNvSpPr txBox="1"/>
              <p:nvPr/>
            </p:nvSpPr>
            <p:spPr>
              <a:xfrm>
                <a:off x="551688" y="1879026"/>
                <a:ext cx="11091672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TW" sz="30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𝒆</m:t>
                      </m:r>
                      <m:d>
                        <m:dPr>
                          <m:ctrlPr>
                            <a:rPr lang="en-US" altLang="zh-TW" sz="3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dPr>
                        <m:e>
                          <m:r>
                            <a:rPr lang="en-US" altLang="zh-TW" sz="3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𝒕</m:t>
                          </m:r>
                        </m:e>
                      </m:d>
                      <m:r>
                        <a:rPr lang="en-US" altLang="zh-TW" sz="30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=</m:t>
                      </m:r>
                      <m:r>
                        <a:rPr lang="en-US" sz="30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icrosoft JhengHei" pitchFamily="34" charset="-120"/>
                        </a:rPr>
                        <m:t>𝒔</m:t>
                      </m:r>
                      <m:d>
                        <m:dPr>
                          <m:ctrlPr>
                            <a:rPr lang="en-US" sz="3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icrosoft JhengHei" pitchFamily="34" charset="-120"/>
                            </a:rPr>
                          </m:ctrlPr>
                        </m:dPr>
                        <m:e>
                          <m:r>
                            <a:rPr lang="en-US" sz="3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icrosoft JhengHei" pitchFamily="34" charset="-120"/>
                            </a:rPr>
                            <m:t>𝒕</m:t>
                          </m:r>
                        </m:e>
                      </m:d>
                      <m:r>
                        <a:rPr lang="en-US" sz="30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icrosoft JhengHei" pitchFamily="34" charset="-120"/>
                        </a:rPr>
                        <m:t>𝒄𝒐𝒔</m:t>
                      </m:r>
                      <m:r>
                        <a:rPr lang="en-US" sz="30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icrosoft JhengHei" pitchFamily="34" charset="-120"/>
                        </a:rPr>
                        <m:t>(</m:t>
                      </m:r>
                      <m:r>
                        <a:rPr lang="en-US" sz="30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icrosoft JhengHei" pitchFamily="34" charset="-120"/>
                        </a:rPr>
                        <m:t>𝟐</m:t>
                      </m:r>
                      <m:r>
                        <a:rPr lang="en-US" sz="30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Microsoft JhengHei" pitchFamily="34" charset="-120"/>
                        </a:rPr>
                        <m:t>𝝅</m:t>
                      </m:r>
                      <m:sSub>
                        <m:sSubPr>
                          <m:ctrlPr>
                            <a:rPr lang="en-US" altLang="zh-TW" sz="3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TW" sz="3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altLang="zh-TW" sz="30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r>
                        <a:rPr lang="en-US" altLang="zh-TW" sz="30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Text 1">
                <a:extLst>
                  <a:ext uri="{FF2B5EF4-FFF2-40B4-BE49-F238E27FC236}">
                    <a16:creationId xmlns:a16="http://schemas.microsoft.com/office/drawing/2014/main" id="{C20CB180-FED2-F5A1-0CF2-F8495017B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88" y="1879026"/>
                <a:ext cx="11091672" cy="685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5">
                <a:extLst>
                  <a:ext uri="{FF2B5EF4-FFF2-40B4-BE49-F238E27FC236}">
                    <a16:creationId xmlns:a16="http://schemas.microsoft.com/office/drawing/2014/main" id="{9A610E28-4D59-F1C3-B81A-A90131AC933C}"/>
                  </a:ext>
                </a:extLst>
              </p:cNvPr>
              <p:cNvSpPr txBox="1"/>
              <p:nvPr/>
            </p:nvSpPr>
            <p:spPr>
              <a:xfrm>
                <a:off x="4171266" y="5883106"/>
                <a:ext cx="5129628" cy="64151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500" b="1" i="1"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accPr>
                      <m:e>
                        <m:r>
                          <a:rPr lang="en-US" altLang="zh-TW" sz="2500" b="1" i="1">
                            <a:latin typeface="Cambria Math" panose="02040503050406030204" pitchFamily="18" charset="0"/>
                            <a:ea typeface="Cambria" pitchFamily="34" charset="-122"/>
                          </a:rPr>
                          <m:t>𝒎</m:t>
                        </m:r>
                      </m:e>
                    </m:acc>
                    <m:r>
                      <a:rPr lang="en-US" altLang="zh-TW" sz="2500" b="1" i="1">
                        <a:latin typeface="Cambria Math" panose="02040503050406030204" pitchFamily="18" charset="0"/>
                        <a:ea typeface="Cambria" pitchFamily="34" charset="-122"/>
                      </a:rPr>
                      <m:t>(</m:t>
                    </m:r>
                    <m:r>
                      <a:rPr lang="en-US" altLang="zh-TW" sz="2500" b="1" i="1">
                        <a:latin typeface="Cambria Math" panose="02040503050406030204" pitchFamily="18" charset="0"/>
                        <a:ea typeface="Cambria" pitchFamily="34" charset="-122"/>
                      </a:rPr>
                      <m:t>𝒕</m:t>
                    </m:r>
                    <m:r>
                      <a:rPr lang="en-US" altLang="zh-TW" sz="2500" b="1" i="1">
                        <a:latin typeface="Cambria Math" panose="02040503050406030204" pitchFamily="18" charset="0"/>
                        <a:ea typeface="Cambria" pitchFamily="34" charset="-122"/>
                      </a:rPr>
                      <m:t>) </m:t>
                    </m:r>
                  </m:oMath>
                </a14:m>
                <a:r>
                  <a:rPr lang="en-US" altLang="zh-TW" sz="25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: </a:t>
                </a:r>
                <a:r>
                  <a:rPr lang="zh-TW" altLang="en-US" sz="25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濾波後還原的訊號</a:t>
                </a:r>
                <a:endParaRPr lang="en-US" altLang="zh-TW" sz="2500" b="1" dirty="0">
                  <a:latin typeface="Times New Roman" panose="02020603050405020304" pitchFamily="18" charset="0"/>
                  <a:ea typeface="標楷體" panose="03000509000000000000" pitchFamily="65" charset="-120"/>
                  <a:cs typeface="Microsoft JhengHei" pitchFamily="34" charset="-120"/>
                </a:endParaRPr>
              </a:p>
            </p:txBody>
          </p:sp>
        </mc:Choice>
        <mc:Fallback xmlns="">
          <p:sp>
            <p:nvSpPr>
              <p:cNvPr id="5" name="Text 5">
                <a:extLst>
                  <a:ext uri="{FF2B5EF4-FFF2-40B4-BE49-F238E27FC236}">
                    <a16:creationId xmlns:a16="http://schemas.microsoft.com/office/drawing/2014/main" id="{9A610E28-4D59-F1C3-B81A-A90131AC9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266" y="5883106"/>
                <a:ext cx="5129628" cy="641518"/>
              </a:xfrm>
              <a:prstGeom prst="rect">
                <a:avLst/>
              </a:prstGeom>
              <a:blipFill>
                <a:blip r:embed="rId5"/>
                <a:stretch>
                  <a:fillRect b="-8571"/>
                </a:stretch>
              </a:blipFill>
              <a:ln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群組 6">
            <a:extLst>
              <a:ext uri="{FF2B5EF4-FFF2-40B4-BE49-F238E27FC236}">
                <a16:creationId xmlns:a16="http://schemas.microsoft.com/office/drawing/2014/main" id="{96B2624F-935B-83E0-83D1-5ED27A868FA9}"/>
              </a:ext>
            </a:extLst>
          </p:cNvPr>
          <p:cNvGrpSpPr/>
          <p:nvPr/>
        </p:nvGrpSpPr>
        <p:grpSpPr>
          <a:xfrm>
            <a:off x="5410200" y="4969176"/>
            <a:ext cx="1344450" cy="731520"/>
            <a:chOff x="548640" y="1508760"/>
            <a:chExt cx="1344450" cy="731520"/>
          </a:xfrm>
        </p:grpSpPr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C5FACEF9-E395-1B7A-7C53-E643D4DEE437}"/>
                </a:ext>
              </a:extLst>
            </p:cNvPr>
            <p:cNvSpPr/>
            <p:nvPr/>
          </p:nvSpPr>
          <p:spPr>
            <a:xfrm>
              <a:off x="548640" y="1508760"/>
              <a:ext cx="1325880" cy="731520"/>
            </a:xfrm>
            <a:prstGeom prst="roundRect">
              <a:avLst>
                <a:gd name="adj" fmla="val 125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03F89B26-38FA-0336-50E6-ED96BFBCE43F}"/>
                </a:ext>
              </a:extLst>
            </p:cNvPr>
            <p:cNvSpPr txBox="1"/>
            <p:nvPr/>
          </p:nvSpPr>
          <p:spPr>
            <a:xfrm>
              <a:off x="567210" y="1508760"/>
              <a:ext cx="13258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500" b="1" dirty="0">
                  <a:latin typeface="Cambria" pitchFamily="34" charset="0"/>
                  <a:ea typeface="Cambria" pitchFamily="34" charset="-122"/>
                </a:rPr>
                <a:t>LPF</a:t>
              </a:r>
              <a:endParaRPr lang="en-US" sz="2500" dirty="0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9A32EDB6-BFA5-065F-001A-1F5E6E67BAC2}"/>
              </a:ext>
            </a:extLst>
          </p:cNvPr>
          <p:cNvGrpSpPr/>
          <p:nvPr/>
        </p:nvGrpSpPr>
        <p:grpSpPr>
          <a:xfrm>
            <a:off x="7408680" y="4962403"/>
            <a:ext cx="1371600" cy="731520"/>
            <a:chOff x="548640" y="1508760"/>
            <a:chExt cx="1371600" cy="731520"/>
          </a:xfrm>
        </p:grpSpPr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035D7BD4-72BD-B7F1-51BF-AA9498242730}"/>
                </a:ext>
              </a:extLst>
            </p:cNvPr>
            <p:cNvSpPr/>
            <p:nvPr/>
          </p:nvSpPr>
          <p:spPr>
            <a:xfrm>
              <a:off x="548640" y="1508760"/>
              <a:ext cx="1325880" cy="731520"/>
            </a:xfrm>
            <a:prstGeom prst="roundRect">
              <a:avLst>
                <a:gd name="adj" fmla="val 12500"/>
              </a:avLst>
            </a:prstGeom>
            <a:solidFill>
              <a:schemeClr val="bg1"/>
            </a:solidFill>
            <a:ln w="1270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5">
                  <a:extLst>
                    <a:ext uri="{FF2B5EF4-FFF2-40B4-BE49-F238E27FC236}">
                      <a16:creationId xmlns:a16="http://schemas.microsoft.com/office/drawing/2014/main" id="{7C42CA85-A15C-2709-4CCF-3AF6EE6F76F7}"/>
                    </a:ext>
                  </a:extLst>
                </p:cNvPr>
                <p:cNvSpPr txBox="1"/>
                <p:nvPr/>
              </p:nvSpPr>
              <p:spPr>
                <a:xfrm>
                  <a:off x="594360" y="1508760"/>
                  <a:ext cx="1325880" cy="7315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lang="en-US" altLang="zh-TW" sz="2500" b="1" i="1" smtClean="0">
                                <a:latin typeface="Cambria Math" panose="02040503050406030204" pitchFamily="18" charset="0"/>
                                <a:ea typeface="Cambria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TW" sz="2500" b="1" i="1" smtClean="0">
                                <a:latin typeface="Cambria Math" panose="02040503050406030204" pitchFamily="18" charset="0"/>
                                <a:ea typeface="Cambria" pitchFamily="34" charset="-122"/>
                              </a:rPr>
                              <m:t>𝒎</m:t>
                            </m:r>
                          </m:e>
                        </m:acc>
                        <m:r>
                          <a:rPr lang="en-US" altLang="zh-TW" sz="2500" b="1" i="1" smtClean="0">
                            <a:latin typeface="Cambria Math" panose="02040503050406030204" pitchFamily="18" charset="0"/>
                            <a:ea typeface="Cambria" pitchFamily="34" charset="-122"/>
                          </a:rPr>
                          <m:t>(</m:t>
                        </m:r>
                        <m:r>
                          <a:rPr lang="en-US" altLang="zh-TW" sz="2500" b="1" i="1" smtClean="0">
                            <a:latin typeface="Cambria Math" panose="02040503050406030204" pitchFamily="18" charset="0"/>
                            <a:ea typeface="Cambria" pitchFamily="34" charset="-122"/>
                          </a:rPr>
                          <m:t>𝒕</m:t>
                        </m:r>
                        <m:r>
                          <a:rPr lang="en-US" altLang="zh-TW" sz="2500" b="1" i="1" smtClean="0">
                            <a:latin typeface="Cambria Math" panose="02040503050406030204" pitchFamily="18" charset="0"/>
                            <a:ea typeface="Cambria" pitchFamily="34" charset="-122"/>
                          </a:rPr>
                          <m:t>)</m:t>
                        </m:r>
                      </m:oMath>
                    </m:oMathPara>
                  </a14:m>
                  <a:endParaRPr lang="en-US" sz="2500" dirty="0"/>
                </a:p>
              </p:txBody>
            </p:sp>
          </mc:Choice>
          <mc:Fallback xmlns="">
            <p:sp>
              <p:nvSpPr>
                <p:cNvPr id="12" name="Text 5">
                  <a:extLst>
                    <a:ext uri="{FF2B5EF4-FFF2-40B4-BE49-F238E27FC236}">
                      <a16:creationId xmlns:a16="http://schemas.microsoft.com/office/drawing/2014/main" id="{7C42CA85-A15C-2709-4CCF-3AF6EE6F76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60" y="1508760"/>
                  <a:ext cx="1325880" cy="7315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Shape 6">
            <a:extLst>
              <a:ext uri="{FF2B5EF4-FFF2-40B4-BE49-F238E27FC236}">
                <a16:creationId xmlns:a16="http://schemas.microsoft.com/office/drawing/2014/main" id="{FD74A8D0-ECA6-82F4-E2C4-899AFFDF04E0}"/>
              </a:ext>
            </a:extLst>
          </p:cNvPr>
          <p:cNvSpPr/>
          <p:nvPr/>
        </p:nvSpPr>
        <p:spPr>
          <a:xfrm flipV="1">
            <a:off x="6736080" y="5384042"/>
            <a:ext cx="672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5C58B680-E221-382F-B9E1-3BEF6912FA1D}"/>
              </a:ext>
            </a:extLst>
          </p:cNvPr>
          <p:cNvSpPr/>
          <p:nvPr/>
        </p:nvSpPr>
        <p:spPr>
          <a:xfrm>
            <a:off x="3416032" y="4969176"/>
            <a:ext cx="132588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6E1AA3C4-2987-C38B-D070-0C896DE841BD}"/>
              </a:ext>
            </a:extLst>
          </p:cNvPr>
          <p:cNvSpPr/>
          <p:nvPr/>
        </p:nvSpPr>
        <p:spPr>
          <a:xfrm flipV="1">
            <a:off x="4741912" y="5384042"/>
            <a:ext cx="672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5">
                <a:extLst>
                  <a:ext uri="{FF2B5EF4-FFF2-40B4-BE49-F238E27FC236}">
                    <a16:creationId xmlns:a16="http://schemas.microsoft.com/office/drawing/2014/main" id="{C8458769-2447-B4B1-66B2-B93A328AABC2}"/>
                  </a:ext>
                </a:extLst>
              </p:cNvPr>
              <p:cNvSpPr txBox="1"/>
              <p:nvPr/>
            </p:nvSpPr>
            <p:spPr>
              <a:xfrm>
                <a:off x="3430290" y="4962403"/>
                <a:ext cx="1325880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TW" sz="2500" b="1" i="1" smtClean="0">
                          <a:latin typeface="Cambria Math" panose="02040503050406030204" pitchFamily="18" charset="0"/>
                          <a:ea typeface="Cambria" pitchFamily="34" charset="-122"/>
                        </a:rPr>
                        <m:t>𝒆</m:t>
                      </m:r>
                      <m:r>
                        <a:rPr lang="en-US" altLang="zh-TW" sz="2500" b="1" i="1" smtClean="0">
                          <a:latin typeface="Cambria Math" panose="02040503050406030204" pitchFamily="18" charset="0"/>
                          <a:ea typeface="Cambria" pitchFamily="34" charset="-122"/>
                        </a:rPr>
                        <m:t>(</m:t>
                      </m:r>
                      <m:r>
                        <a:rPr lang="en-US" altLang="zh-TW" sz="2500" b="1" i="1" smtClean="0">
                          <a:latin typeface="Cambria Math" panose="02040503050406030204" pitchFamily="18" charset="0"/>
                          <a:ea typeface="Cambria" pitchFamily="34" charset="-122"/>
                        </a:rPr>
                        <m:t>𝒕</m:t>
                      </m:r>
                      <m:r>
                        <a:rPr lang="en-US" altLang="zh-TW" sz="2500" b="1" i="1" smtClean="0">
                          <a:latin typeface="Cambria Math" panose="02040503050406030204" pitchFamily="18" charset="0"/>
                          <a:ea typeface="Cambria" pitchFamily="34" charset="-122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20" name="Text 5">
                <a:extLst>
                  <a:ext uri="{FF2B5EF4-FFF2-40B4-BE49-F238E27FC236}">
                    <a16:creationId xmlns:a16="http://schemas.microsoft.com/office/drawing/2014/main" id="{C8458769-2447-B4B1-66B2-B93A328AA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290" y="4962403"/>
                <a:ext cx="1325880" cy="731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5042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7611B3-15F9-67D0-1C87-4DA0E79C3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AABC0B80-18FC-8045-2F57-84BC85EB7AE7}"/>
              </a:ext>
            </a:extLst>
          </p:cNvPr>
          <p:cNvSpPr/>
          <p:nvPr/>
        </p:nvSpPr>
        <p:spPr>
          <a:xfrm>
            <a:off x="582320" y="1200752"/>
            <a:ext cx="10961980" cy="5182671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C1956DD-63B9-377D-04BC-CDE8E8A59D4F}"/>
              </a:ext>
            </a:extLst>
          </p:cNvPr>
          <p:cNvSpPr txBox="1"/>
          <p:nvPr/>
        </p:nvSpPr>
        <p:spPr>
          <a:xfrm>
            <a:off x="455319" y="474577"/>
            <a:ext cx="609924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AM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 解調過程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846C7A5-70A1-CFE3-EB02-993A22963B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0" r="40450" b="5321"/>
          <a:stretch>
            <a:fillRect/>
          </a:stretch>
        </p:blipFill>
        <p:spPr>
          <a:xfrm>
            <a:off x="1124901" y="1410395"/>
            <a:ext cx="4691699" cy="469547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D68397C-821A-D983-08C6-678C50FC6A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337" r="1781" b="56708"/>
          <a:stretch>
            <a:fillRect/>
          </a:stretch>
        </p:blipFill>
        <p:spPr>
          <a:xfrm>
            <a:off x="6842640" y="1360333"/>
            <a:ext cx="3337640" cy="2431754"/>
          </a:xfrm>
          <a:prstGeom prst="rect">
            <a:avLst/>
          </a:prstGeom>
        </p:spPr>
      </p:pic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93A72F2D-73A6-E76C-F6F3-1F8EA0419A47}"/>
              </a:ext>
            </a:extLst>
          </p:cNvPr>
          <p:cNvCxnSpPr/>
          <p:nvPr/>
        </p:nvCxnSpPr>
        <p:spPr>
          <a:xfrm>
            <a:off x="6426200" y="1651000"/>
            <a:ext cx="0" cy="414020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58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20B20-5F2A-982C-10DC-91C2D5B08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CA153076-8B54-146F-1BEE-9CB60B393BD7}"/>
              </a:ext>
            </a:extLst>
          </p:cNvPr>
          <p:cNvSpPr/>
          <p:nvPr/>
        </p:nvSpPr>
        <p:spPr>
          <a:xfrm>
            <a:off x="582320" y="1200752"/>
            <a:ext cx="10961980" cy="5182671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069C8D0-E7C3-3524-4384-EAC87DBA865D}"/>
              </a:ext>
            </a:extLst>
          </p:cNvPr>
          <p:cNvSpPr txBox="1"/>
          <p:nvPr/>
        </p:nvSpPr>
        <p:spPr>
          <a:xfrm>
            <a:off x="455319" y="474577"/>
            <a:ext cx="609924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AM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 解調過程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EA75346-B2FF-0E8C-783E-E2B87B3601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480"/>
          <a:stretch>
            <a:fillRect/>
          </a:stretch>
        </p:blipFill>
        <p:spPr>
          <a:xfrm>
            <a:off x="1866900" y="1286483"/>
            <a:ext cx="8577113" cy="486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52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A10A44-682E-8BF4-54F0-9063FFFA1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7068B8D-1C46-BA80-2192-50AAB732B76B}"/>
              </a:ext>
            </a:extLst>
          </p:cNvPr>
          <p:cNvSpPr txBox="1"/>
          <p:nvPr/>
        </p:nvSpPr>
        <p:spPr>
          <a:xfrm>
            <a:off x="461771" y="38137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第二題  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AM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調變與乘法解調器解調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(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不失真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)</a:t>
            </a:r>
            <a:endParaRPr 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FC1C376-BE64-7FEE-516B-46CED9BDBDAC}"/>
              </a:ext>
            </a:extLst>
          </p:cNvPr>
          <p:cNvSpPr/>
          <p:nvPr/>
        </p:nvSpPr>
        <p:spPr>
          <a:xfrm>
            <a:off x="461771" y="1852864"/>
            <a:ext cx="5455118" cy="3745814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9525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3C9218E8-89DD-5280-85BE-7DDC41A70B29}"/>
              </a:ext>
            </a:extLst>
          </p:cNvPr>
          <p:cNvSpPr/>
          <p:nvPr/>
        </p:nvSpPr>
        <p:spPr>
          <a:xfrm>
            <a:off x="6200714" y="1810776"/>
            <a:ext cx="5439598" cy="3845027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9525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7096B36-D158-9AF6-5A96-5AE88653A6BE}"/>
              </a:ext>
            </a:extLst>
          </p:cNvPr>
          <p:cNvSpPr txBox="1"/>
          <p:nvPr/>
        </p:nvSpPr>
        <p:spPr>
          <a:xfrm>
            <a:off x="6499095" y="1924357"/>
            <a:ext cx="50452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程式碼</a:t>
            </a:r>
            <a:endParaRPr lang="en-US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4" name="Text 1">
            <a:extLst>
              <a:ext uri="{FF2B5EF4-FFF2-40B4-BE49-F238E27FC236}">
                <a16:creationId xmlns:a16="http://schemas.microsoft.com/office/drawing/2014/main" id="{AA2E0F38-1602-701D-6658-5C8DD0B72B07}"/>
              </a:ext>
            </a:extLst>
          </p:cNvPr>
          <p:cNvSpPr txBox="1"/>
          <p:nvPr/>
        </p:nvSpPr>
        <p:spPr>
          <a:xfrm>
            <a:off x="818386" y="1975394"/>
            <a:ext cx="4887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題目</a:t>
            </a:r>
            <a:endParaRPr lang="en-US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8A861C16-4D42-9AD6-6B91-ED080DD8F0A6}"/>
              </a:ext>
            </a:extLst>
          </p:cNvPr>
          <p:cNvCxnSpPr/>
          <p:nvPr/>
        </p:nvCxnSpPr>
        <p:spPr>
          <a:xfrm>
            <a:off x="745595" y="2617495"/>
            <a:ext cx="4887470" cy="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CAA7F0C9-7D9F-2212-410F-D3C7F642EF39}"/>
              </a:ext>
            </a:extLst>
          </p:cNvPr>
          <p:cNvCxnSpPr/>
          <p:nvPr/>
        </p:nvCxnSpPr>
        <p:spPr>
          <a:xfrm>
            <a:off x="6476778" y="2644191"/>
            <a:ext cx="4887470" cy="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圖片 3">
            <a:extLst>
              <a:ext uri="{FF2B5EF4-FFF2-40B4-BE49-F238E27FC236}">
                <a16:creationId xmlns:a16="http://schemas.microsoft.com/office/drawing/2014/main" id="{0A123A34-F3F4-6397-9A9D-447DF6482C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114"/>
          <a:stretch>
            <a:fillRect/>
          </a:stretch>
        </p:blipFill>
        <p:spPr>
          <a:xfrm>
            <a:off x="745595" y="2825811"/>
            <a:ext cx="4887470" cy="242192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FE7E5AA-6A57-8410-655A-9A2B6197E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095" y="2902902"/>
            <a:ext cx="4844966" cy="226599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FE56CD5-9CCC-5DAA-EB00-60F9ADBEB0C7}"/>
              </a:ext>
            </a:extLst>
          </p:cNvPr>
          <p:cNvSpPr/>
          <p:nvPr/>
        </p:nvSpPr>
        <p:spPr>
          <a:xfrm>
            <a:off x="6499094" y="3125163"/>
            <a:ext cx="2670305" cy="4572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F5BA10F1-DC58-F4E5-BAA7-AE946D16F317}"/>
              </a:ext>
            </a:extLst>
          </p:cNvPr>
          <p:cNvSpPr txBox="1"/>
          <p:nvPr/>
        </p:nvSpPr>
        <p:spPr>
          <a:xfrm>
            <a:off x="9294701" y="3315429"/>
            <a:ext cx="1924058" cy="533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AM</a:t>
            </a:r>
            <a:r>
              <a:rPr lang="zh-TW" altLang="en-US" sz="2000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解調公式</a:t>
            </a:r>
            <a:endParaRPr lang="en-US" sz="2000" dirty="0">
              <a:solidFill>
                <a:schemeClr val="accent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6302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F73FD0-6B23-9D1A-66D1-29B2119B2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C15D093-BA74-3C79-EE07-B5A7F8C6D02C}"/>
              </a:ext>
            </a:extLst>
          </p:cNvPr>
          <p:cNvSpPr txBox="1"/>
          <p:nvPr/>
        </p:nvSpPr>
        <p:spPr>
          <a:xfrm>
            <a:off x="461771" y="38137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第二題  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AM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調變與乘法解調器解調 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(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不失真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)</a:t>
            </a:r>
            <a:endParaRPr 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A7B62C68-CEFB-BA5E-4069-4929999575A2}"/>
              </a:ext>
            </a:extLst>
          </p:cNvPr>
          <p:cNvSpPr/>
          <p:nvPr/>
        </p:nvSpPr>
        <p:spPr>
          <a:xfrm>
            <a:off x="556656" y="1406773"/>
            <a:ext cx="8908619" cy="4709822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9525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73038EFD-3460-667C-382C-39226F6932ED}"/>
              </a:ext>
            </a:extLst>
          </p:cNvPr>
          <p:cNvSpPr txBox="1"/>
          <p:nvPr/>
        </p:nvSpPr>
        <p:spPr>
          <a:xfrm>
            <a:off x="855038" y="1520354"/>
            <a:ext cx="50452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程式碼</a:t>
            </a:r>
            <a:endParaRPr lang="en-US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B26CE8F6-64F3-A170-EAFA-8AD4E0025609}"/>
              </a:ext>
            </a:extLst>
          </p:cNvPr>
          <p:cNvCxnSpPr>
            <a:cxnSpLocks/>
          </p:cNvCxnSpPr>
          <p:nvPr/>
        </p:nvCxnSpPr>
        <p:spPr>
          <a:xfrm>
            <a:off x="832721" y="2240188"/>
            <a:ext cx="8316160" cy="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圖片 5">
            <a:extLst>
              <a:ext uri="{FF2B5EF4-FFF2-40B4-BE49-F238E27FC236}">
                <a16:creationId xmlns:a16="http://schemas.microsoft.com/office/drawing/2014/main" id="{0EE42B1A-0B35-5290-9B85-478267D5D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21" y="2454224"/>
            <a:ext cx="8316160" cy="339051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1F947A6-B538-1DF0-5633-11AA4667B33C}"/>
              </a:ext>
            </a:extLst>
          </p:cNvPr>
          <p:cNvSpPr/>
          <p:nvPr/>
        </p:nvSpPr>
        <p:spPr>
          <a:xfrm>
            <a:off x="855038" y="4297680"/>
            <a:ext cx="7868832" cy="37317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39EBCA4-4A52-E7D1-C5F6-CC50C50B5CE1}"/>
              </a:ext>
            </a:extLst>
          </p:cNvPr>
          <p:cNvSpPr txBox="1"/>
          <p:nvPr/>
        </p:nvSpPr>
        <p:spPr>
          <a:xfrm>
            <a:off x="5766882" y="3897057"/>
            <a:ext cx="3540196" cy="373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000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調整濾波器的大小，方便觀看</a:t>
            </a:r>
            <a:endParaRPr lang="en-US" sz="2000" dirty="0">
              <a:solidFill>
                <a:schemeClr val="accent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58884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8BFCC1-5F90-CFFE-4C8D-49741FF4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B8DF7C6-1080-E0B7-3A52-5C0634540CCB}"/>
              </a:ext>
            </a:extLst>
          </p:cNvPr>
          <p:cNvSpPr txBox="1"/>
          <p:nvPr/>
        </p:nvSpPr>
        <p:spPr>
          <a:xfrm>
            <a:off x="377190" y="688563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《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示範題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》  AM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調變與二極體解調器解調</a:t>
            </a:r>
            <a:r>
              <a:rPr 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 </a:t>
            </a:r>
            <a:endParaRPr 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19F3100-9AAA-D2E0-04DC-1ECEED41899A}"/>
              </a:ext>
            </a:extLst>
          </p:cNvPr>
          <p:cNvSpPr/>
          <p:nvPr/>
        </p:nvSpPr>
        <p:spPr>
          <a:xfrm>
            <a:off x="467908" y="1636295"/>
            <a:ext cx="5455118" cy="4398745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9525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C3EE6DB6-DDEF-CB20-716F-C5F947EF6775}"/>
              </a:ext>
            </a:extLst>
          </p:cNvPr>
          <p:cNvSpPr/>
          <p:nvPr/>
        </p:nvSpPr>
        <p:spPr>
          <a:xfrm>
            <a:off x="6206851" y="1636295"/>
            <a:ext cx="5439598" cy="4398745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9525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D1427ED5-C0EE-D531-C782-4C85174EBCFD}"/>
              </a:ext>
            </a:extLst>
          </p:cNvPr>
          <p:cNvSpPr txBox="1"/>
          <p:nvPr/>
        </p:nvSpPr>
        <p:spPr>
          <a:xfrm>
            <a:off x="6482915" y="1784837"/>
            <a:ext cx="51892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程式碼</a:t>
            </a:r>
            <a:endParaRPr lang="en-US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4" name="Text 1">
            <a:extLst>
              <a:ext uri="{FF2B5EF4-FFF2-40B4-BE49-F238E27FC236}">
                <a16:creationId xmlns:a16="http://schemas.microsoft.com/office/drawing/2014/main" id="{ECC46786-70F1-8ABC-97DD-A0A5FFD10655}"/>
              </a:ext>
            </a:extLst>
          </p:cNvPr>
          <p:cNvSpPr txBox="1"/>
          <p:nvPr/>
        </p:nvSpPr>
        <p:spPr>
          <a:xfrm>
            <a:off x="751732" y="1784837"/>
            <a:ext cx="4887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題目</a:t>
            </a:r>
            <a:endParaRPr lang="en-US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6501091B-8D51-6E0D-C83B-6504DF1531B6}"/>
              </a:ext>
            </a:extLst>
          </p:cNvPr>
          <p:cNvCxnSpPr/>
          <p:nvPr/>
        </p:nvCxnSpPr>
        <p:spPr>
          <a:xfrm>
            <a:off x="751732" y="2555292"/>
            <a:ext cx="4887470" cy="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3202BC19-3423-6157-B28E-FBA72BA1207D}"/>
              </a:ext>
            </a:extLst>
          </p:cNvPr>
          <p:cNvCxnSpPr/>
          <p:nvPr/>
        </p:nvCxnSpPr>
        <p:spPr>
          <a:xfrm>
            <a:off x="6482915" y="2473054"/>
            <a:ext cx="4887470" cy="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圖片 3">
            <a:extLst>
              <a:ext uri="{FF2B5EF4-FFF2-40B4-BE49-F238E27FC236}">
                <a16:creationId xmlns:a16="http://schemas.microsoft.com/office/drawing/2014/main" id="{14D0EBCE-5FF9-052A-2CF7-D9BD8EB06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14" y="2799651"/>
            <a:ext cx="5096106" cy="268883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3D3162E-8B67-F7A3-4604-F83FD3372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490" y="2619179"/>
            <a:ext cx="4676320" cy="3049774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F466ED00-C887-C187-EA6A-09228CA88581}"/>
              </a:ext>
            </a:extLst>
          </p:cNvPr>
          <p:cNvSpPr txBox="1"/>
          <p:nvPr/>
        </p:nvSpPr>
        <p:spPr>
          <a:xfrm>
            <a:off x="8480781" y="3045836"/>
            <a:ext cx="2077576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500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用來存放要比較的值</a:t>
            </a:r>
            <a:endParaRPr lang="en-US" sz="1500" dirty="0">
              <a:solidFill>
                <a:schemeClr val="accent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0ADE2FB8-07A5-FA93-BF44-33EBABC569F2}"/>
              </a:ext>
            </a:extLst>
          </p:cNvPr>
          <p:cNvSpPr txBox="1"/>
          <p:nvPr/>
        </p:nvSpPr>
        <p:spPr>
          <a:xfrm>
            <a:off x="7945336" y="2756417"/>
            <a:ext cx="1844743" cy="298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500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半波整流 </a:t>
            </a:r>
            <a:r>
              <a:rPr lang="en-US" altLang="zh-TW" sz="1500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sz="1500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二極體</a:t>
            </a:r>
            <a:r>
              <a:rPr lang="en-US" altLang="zh-TW" sz="1500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endParaRPr lang="en-US" sz="1500" dirty="0">
              <a:solidFill>
                <a:schemeClr val="accent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7A8F72-A5ED-8B0B-D419-CCD73E4D82F1}"/>
              </a:ext>
            </a:extLst>
          </p:cNvPr>
          <p:cNvSpPr/>
          <p:nvPr/>
        </p:nvSpPr>
        <p:spPr>
          <a:xfrm>
            <a:off x="6615864" y="2799651"/>
            <a:ext cx="1290030" cy="20751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3755A17-8ED7-E718-7486-C12A3BD4276E}"/>
              </a:ext>
            </a:extLst>
          </p:cNvPr>
          <p:cNvSpPr/>
          <p:nvPr/>
        </p:nvSpPr>
        <p:spPr>
          <a:xfrm>
            <a:off x="6588490" y="3111411"/>
            <a:ext cx="1814677" cy="20751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6550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3CB95E-AE97-AB6F-E959-B5ED12B27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2D09F4D-13A1-03D8-F061-608EEFFCDDA0}"/>
              </a:ext>
            </a:extLst>
          </p:cNvPr>
          <p:cNvSpPr txBox="1"/>
          <p:nvPr/>
        </p:nvSpPr>
        <p:spPr>
          <a:xfrm>
            <a:off x="377190" y="421995"/>
            <a:ext cx="71593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《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示範題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》  AM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調變與二極體解調器解調</a:t>
            </a:r>
            <a:r>
              <a:rPr 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 </a:t>
            </a:r>
            <a:endParaRPr 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98A9454-C03A-FBAA-712E-3D9FA1EDF577}"/>
              </a:ext>
            </a:extLst>
          </p:cNvPr>
          <p:cNvSpPr/>
          <p:nvPr/>
        </p:nvSpPr>
        <p:spPr>
          <a:xfrm>
            <a:off x="467908" y="1636295"/>
            <a:ext cx="5455118" cy="479971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9525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46FB17F5-6AAC-AA46-5B9B-12EFD147BE41}"/>
              </a:ext>
            </a:extLst>
          </p:cNvPr>
          <p:cNvSpPr/>
          <p:nvPr/>
        </p:nvSpPr>
        <p:spPr>
          <a:xfrm>
            <a:off x="6206851" y="1636295"/>
            <a:ext cx="5439598" cy="479971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9525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6" name="Image 0" descr="/home/claude/work/fig/env_zoom.png">
            <a:extLst>
              <a:ext uri="{FF2B5EF4-FFF2-40B4-BE49-F238E27FC236}">
                <a16:creationId xmlns:a16="http://schemas.microsoft.com/office/drawing/2014/main" id="{F8037CF1-C1D4-7593-A57E-280B3B4F2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1" y="1829867"/>
            <a:ext cx="4943912" cy="2990873"/>
          </a:xfrm>
          <a:prstGeom prst="rect">
            <a:avLst/>
          </a:prstGeom>
        </p:spPr>
      </p:pic>
      <p:pic>
        <p:nvPicPr>
          <p:cNvPr id="8" name="Image 0" descr="/home/claude/work/fig/env_zoom.png">
            <a:extLst>
              <a:ext uri="{FF2B5EF4-FFF2-40B4-BE49-F238E27FC236}">
                <a16:creationId xmlns:a16="http://schemas.microsoft.com/office/drawing/2014/main" id="{16F0ABB6-CA1C-6D9D-5A96-CD7129AFC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694" y="1829867"/>
            <a:ext cx="4943912" cy="299087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1E001C8-4562-FA29-4321-45E8C5ADDB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068" r="42181" b="39356"/>
          <a:stretch>
            <a:fillRect/>
          </a:stretch>
        </p:blipFill>
        <p:spPr>
          <a:xfrm>
            <a:off x="1088952" y="5626735"/>
            <a:ext cx="4250233" cy="55499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77E280AC-24A7-A5FE-3B0C-A94F5A0F9A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16" t="60459" r="36765" b="27965"/>
          <a:stretch>
            <a:fillRect/>
          </a:stretch>
        </p:blipFill>
        <p:spPr>
          <a:xfrm>
            <a:off x="6852815" y="5626735"/>
            <a:ext cx="4250233" cy="554990"/>
          </a:xfrm>
          <a:prstGeom prst="rect">
            <a:avLst/>
          </a:prstGeom>
        </p:spPr>
      </p:pic>
      <p:pic>
        <p:nvPicPr>
          <p:cNvPr id="16" name="Image 0" descr="/home/claude/work/fig/env_zoom.png">
            <a:extLst>
              <a:ext uri="{FF2B5EF4-FFF2-40B4-BE49-F238E27FC236}">
                <a16:creationId xmlns:a16="http://schemas.microsoft.com/office/drawing/2014/main" id="{06FBE816-A259-80C6-7EF2-F5590657E0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070" t="7688" r="3261" b="29999"/>
          <a:stretch>
            <a:fillRect/>
          </a:stretch>
        </p:blipFill>
        <p:spPr>
          <a:xfrm>
            <a:off x="8809142" y="3206097"/>
            <a:ext cx="2293906" cy="2295548"/>
          </a:xfrm>
          <a:prstGeom prst="flowChartConnector">
            <a:avLst/>
          </a:prstGeom>
          <a:ln w="12700">
            <a:solidFill>
              <a:schemeClr val="tx1"/>
            </a:solidFill>
          </a:ln>
        </p:spPr>
      </p:pic>
      <p:pic>
        <p:nvPicPr>
          <p:cNvPr id="20" name="Image 0" descr="/home/claude/work/fig/env_zoom.png">
            <a:extLst>
              <a:ext uri="{FF2B5EF4-FFF2-40B4-BE49-F238E27FC236}">
                <a16:creationId xmlns:a16="http://schemas.microsoft.com/office/drawing/2014/main" id="{6C017389-B9FF-C86C-B333-EEC5011229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070" t="7688" r="3261" b="29999"/>
          <a:stretch>
            <a:fillRect/>
          </a:stretch>
        </p:blipFill>
        <p:spPr>
          <a:xfrm>
            <a:off x="3113192" y="3119822"/>
            <a:ext cx="2373208" cy="2374907"/>
          </a:xfrm>
          <a:prstGeom prst="flowChartConnector">
            <a:avLst/>
          </a:prstGeom>
          <a:ln w="12700">
            <a:solidFill>
              <a:schemeClr val="tx1"/>
            </a:solidFill>
          </a:ln>
        </p:spPr>
      </p:pic>
      <p:sp>
        <p:nvSpPr>
          <p:cNvPr id="28" name="Text 1">
            <a:extLst>
              <a:ext uri="{FF2B5EF4-FFF2-40B4-BE49-F238E27FC236}">
                <a16:creationId xmlns:a16="http://schemas.microsoft.com/office/drawing/2014/main" id="{0DF2A382-9E2F-C34E-8871-C84142DE67F5}"/>
              </a:ext>
            </a:extLst>
          </p:cNvPr>
          <p:cNvSpPr txBox="1"/>
          <p:nvPr/>
        </p:nvSpPr>
        <p:spPr>
          <a:xfrm>
            <a:off x="9582018" y="2831006"/>
            <a:ext cx="787270" cy="5566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放大</a:t>
            </a:r>
            <a:endParaRPr lang="en-US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4EFE89AD-5B28-ED3E-44FE-4F981BC52F0C}"/>
              </a:ext>
            </a:extLst>
          </p:cNvPr>
          <p:cNvSpPr txBox="1"/>
          <p:nvPr/>
        </p:nvSpPr>
        <p:spPr>
          <a:xfrm>
            <a:off x="3906161" y="2927792"/>
            <a:ext cx="787270" cy="5566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放大</a:t>
            </a:r>
            <a:endParaRPr lang="en-US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3C3ED8E6-468A-DFD7-14B1-E76ED53AF360}"/>
              </a:ext>
            </a:extLst>
          </p:cNvPr>
          <p:cNvSpPr txBox="1"/>
          <p:nvPr/>
        </p:nvSpPr>
        <p:spPr>
          <a:xfrm>
            <a:off x="1125897" y="4968904"/>
            <a:ext cx="51892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5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充電</a:t>
            </a:r>
            <a:endParaRPr lang="en-US" sz="25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1106D811-EF8C-08E6-814E-E6A4E08278CB}"/>
              </a:ext>
            </a:extLst>
          </p:cNvPr>
          <p:cNvSpPr txBox="1"/>
          <p:nvPr/>
        </p:nvSpPr>
        <p:spPr>
          <a:xfrm>
            <a:off x="6852815" y="4869837"/>
            <a:ext cx="51892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5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放電</a:t>
            </a:r>
            <a:endParaRPr lang="en-US" sz="25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E34244B5-1764-5378-02F1-90461CBED78B}"/>
              </a:ext>
            </a:extLst>
          </p:cNvPr>
          <p:cNvSpPr txBox="1"/>
          <p:nvPr/>
        </p:nvSpPr>
        <p:spPr>
          <a:xfrm>
            <a:off x="7704043" y="5550742"/>
            <a:ext cx="2354713" cy="31176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"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x_rect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r>
              <a:rPr lang="zh-TW" alt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&lt; </a:t>
            </a:r>
            <a:r>
              <a:rPr lang="en-US" altLang="zh-TW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yt_envo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(i-1)</a:t>
            </a:r>
            <a:endParaRPr lang="en-US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00CB3D46-ACC8-8CDF-7AD2-9BD33D1B1889}"/>
              </a:ext>
            </a:extLst>
          </p:cNvPr>
          <p:cNvSpPr txBox="1"/>
          <p:nvPr/>
        </p:nvSpPr>
        <p:spPr>
          <a:xfrm>
            <a:off x="9388307" y="4392388"/>
            <a:ext cx="772876" cy="2321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 err="1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x_rect</a:t>
            </a:r>
            <a:r>
              <a:rPr lang="en-US" sz="1500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sz="1500" dirty="0" err="1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</a:t>
            </a:r>
            <a:r>
              <a:rPr lang="en-US" sz="1500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EFFEA7F6-9D35-BB6A-8F77-310A7A7B9EC5}"/>
              </a:ext>
            </a:extLst>
          </p:cNvPr>
          <p:cNvSpPr txBox="1"/>
          <p:nvPr/>
        </p:nvSpPr>
        <p:spPr>
          <a:xfrm>
            <a:off x="8711605" y="3540120"/>
            <a:ext cx="1068434" cy="240601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 err="1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yt_envo</a:t>
            </a:r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(i-1)</a:t>
            </a:r>
          </a:p>
        </p:txBody>
      </p: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B411DD6C-5BD9-8856-A995-C2B34E47F971}"/>
              </a:ext>
            </a:extLst>
          </p:cNvPr>
          <p:cNvCxnSpPr/>
          <p:nvPr/>
        </p:nvCxnSpPr>
        <p:spPr>
          <a:xfrm>
            <a:off x="9245822" y="3894667"/>
            <a:ext cx="201603" cy="23871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5">
            <a:extLst>
              <a:ext uri="{FF2B5EF4-FFF2-40B4-BE49-F238E27FC236}">
                <a16:creationId xmlns:a16="http://schemas.microsoft.com/office/drawing/2014/main" id="{9C9B6D6D-6135-15A9-8449-0599FAA3D5B0}"/>
              </a:ext>
            </a:extLst>
          </p:cNvPr>
          <p:cNvSpPr txBox="1"/>
          <p:nvPr/>
        </p:nvSpPr>
        <p:spPr>
          <a:xfrm>
            <a:off x="4598621" y="3630944"/>
            <a:ext cx="772876" cy="2321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 err="1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x_rect</a:t>
            </a:r>
            <a:r>
              <a:rPr lang="en-US" sz="1500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sz="1500" dirty="0" err="1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</a:t>
            </a:r>
            <a:r>
              <a:rPr lang="en-US" sz="1500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894905A2-6265-7CF3-898D-35F4E0412407}"/>
              </a:ext>
            </a:extLst>
          </p:cNvPr>
          <p:cNvSpPr txBox="1"/>
          <p:nvPr/>
        </p:nvSpPr>
        <p:spPr>
          <a:xfrm>
            <a:off x="3411911" y="4375529"/>
            <a:ext cx="1068434" cy="240601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 err="1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yt_envo</a:t>
            </a:r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(i-1)</a:t>
            </a: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8A98C21F-E7FA-DC78-3629-22D5E8E5B073}"/>
              </a:ext>
            </a:extLst>
          </p:cNvPr>
          <p:cNvSpPr/>
          <p:nvPr/>
        </p:nvSpPr>
        <p:spPr>
          <a:xfrm>
            <a:off x="4355067" y="4240720"/>
            <a:ext cx="87719" cy="9130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9" name="橢圓 68">
            <a:extLst>
              <a:ext uri="{FF2B5EF4-FFF2-40B4-BE49-F238E27FC236}">
                <a16:creationId xmlns:a16="http://schemas.microsoft.com/office/drawing/2014/main" id="{6DCD2353-24E0-4BAD-B747-ACABC175D8EE}"/>
              </a:ext>
            </a:extLst>
          </p:cNvPr>
          <p:cNvSpPr/>
          <p:nvPr/>
        </p:nvSpPr>
        <p:spPr>
          <a:xfrm>
            <a:off x="4460248" y="3857659"/>
            <a:ext cx="87720" cy="91303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AB38A231-13DF-8C62-3516-B513F53CF0C7}"/>
              </a:ext>
            </a:extLst>
          </p:cNvPr>
          <p:cNvCxnSpPr>
            <a:cxnSpLocks/>
          </p:cNvCxnSpPr>
          <p:nvPr/>
        </p:nvCxnSpPr>
        <p:spPr>
          <a:xfrm flipV="1">
            <a:off x="4421188" y="3930281"/>
            <a:ext cx="78121" cy="310439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橢圓 73">
            <a:extLst>
              <a:ext uri="{FF2B5EF4-FFF2-40B4-BE49-F238E27FC236}">
                <a16:creationId xmlns:a16="http://schemas.microsoft.com/office/drawing/2014/main" id="{5E94D933-8D77-F7CB-5E12-3F14D76C93BC}"/>
              </a:ext>
            </a:extLst>
          </p:cNvPr>
          <p:cNvSpPr/>
          <p:nvPr/>
        </p:nvSpPr>
        <p:spPr>
          <a:xfrm>
            <a:off x="9286877" y="4265746"/>
            <a:ext cx="82548" cy="8305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42484C1F-AA0F-7EFD-75C8-5DAD3977B6FE}"/>
              </a:ext>
            </a:extLst>
          </p:cNvPr>
          <p:cNvSpPr/>
          <p:nvPr/>
        </p:nvSpPr>
        <p:spPr>
          <a:xfrm>
            <a:off x="9188867" y="3839803"/>
            <a:ext cx="83719" cy="7976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6909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8D794A-FC96-F10E-4DA1-D530D6C98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65999F5-28C6-5077-2107-8D6927F86CAA}"/>
              </a:ext>
            </a:extLst>
          </p:cNvPr>
          <p:cNvSpPr txBox="1"/>
          <p:nvPr/>
        </p:nvSpPr>
        <p:spPr>
          <a:xfrm>
            <a:off x="550164" y="445533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《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示範題</a:t>
            </a:r>
            <a:r>
              <a:rPr lang="en-US" altLang="zh-TW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》  AM</a:t>
            </a:r>
            <a:r>
              <a:rPr lang="zh-TW" alt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調變與二極體解調器解調</a:t>
            </a:r>
            <a:r>
              <a:rPr lang="en-US" sz="3000" b="1" dirty="0">
                <a:solidFill>
                  <a:srgbClr val="0B1D2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 </a:t>
            </a:r>
            <a:endParaRPr 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3B4D73F4-DBF6-961A-46C3-C669AD449CAC}"/>
              </a:ext>
            </a:extLst>
          </p:cNvPr>
          <p:cNvSpPr/>
          <p:nvPr/>
        </p:nvSpPr>
        <p:spPr>
          <a:xfrm>
            <a:off x="660873" y="1406348"/>
            <a:ext cx="6562492" cy="4816652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9525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F93622FD-F64B-2AF3-5CAD-9CF1A288494F}"/>
              </a:ext>
            </a:extLst>
          </p:cNvPr>
          <p:cNvSpPr txBox="1"/>
          <p:nvPr/>
        </p:nvSpPr>
        <p:spPr>
          <a:xfrm>
            <a:off x="1050924" y="1521464"/>
            <a:ext cx="51892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程式碼答案</a:t>
            </a:r>
            <a:endParaRPr lang="en-US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F97D6905-1A92-1265-D29A-5AC3D1167856}"/>
              </a:ext>
            </a:extLst>
          </p:cNvPr>
          <p:cNvCxnSpPr>
            <a:cxnSpLocks/>
          </p:cNvCxnSpPr>
          <p:nvPr/>
        </p:nvCxnSpPr>
        <p:spPr>
          <a:xfrm>
            <a:off x="1012277" y="2311819"/>
            <a:ext cx="5860161" cy="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圖片 5">
            <a:extLst>
              <a:ext uri="{FF2B5EF4-FFF2-40B4-BE49-F238E27FC236}">
                <a16:creationId xmlns:a16="http://schemas.microsoft.com/office/drawing/2014/main" id="{5F0A41D2-4FE6-4969-5099-626FAD74C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76" y="2553709"/>
            <a:ext cx="6327486" cy="3218290"/>
          </a:xfrm>
          <a:prstGeom prst="rect">
            <a:avLst/>
          </a:prstGeom>
        </p:spPr>
      </p:pic>
      <p:sp>
        <p:nvSpPr>
          <p:cNvPr id="5" name="Shape 17">
            <a:extLst>
              <a:ext uri="{FF2B5EF4-FFF2-40B4-BE49-F238E27FC236}">
                <a16:creationId xmlns:a16="http://schemas.microsoft.com/office/drawing/2014/main" id="{31DA264D-D820-CC9C-D79E-F22F70F89B54}"/>
              </a:ext>
            </a:extLst>
          </p:cNvPr>
          <p:cNvSpPr/>
          <p:nvPr/>
        </p:nvSpPr>
        <p:spPr>
          <a:xfrm>
            <a:off x="7457267" y="2311818"/>
            <a:ext cx="4285554" cy="3911181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9525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5A0F4D3-733B-E39C-036A-7F55BF0D9B21}"/>
              </a:ext>
            </a:extLst>
          </p:cNvPr>
          <p:cNvSpPr txBox="1"/>
          <p:nvPr/>
        </p:nvSpPr>
        <p:spPr>
          <a:xfrm>
            <a:off x="7841402" y="2413686"/>
            <a:ext cx="368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包絡檢測器電路圖</a:t>
            </a:r>
            <a:endParaRPr lang="en-US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E600757A-69A4-4E4E-43E7-2763809F819F}"/>
              </a:ext>
            </a:extLst>
          </p:cNvPr>
          <p:cNvCxnSpPr>
            <a:cxnSpLocks/>
          </p:cNvCxnSpPr>
          <p:nvPr/>
        </p:nvCxnSpPr>
        <p:spPr>
          <a:xfrm>
            <a:off x="7841401" y="3099486"/>
            <a:ext cx="3670414" cy="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圖片 1">
            <a:extLst>
              <a:ext uri="{FF2B5EF4-FFF2-40B4-BE49-F238E27FC236}">
                <a16:creationId xmlns:a16="http://schemas.microsoft.com/office/drawing/2014/main" id="{A2FEC272-B6D5-9063-C030-7FEDACDEC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173" y="4104513"/>
            <a:ext cx="3830869" cy="1102826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67B39CC6-99B6-69DE-475D-61BA078F8A0F}"/>
              </a:ext>
            </a:extLst>
          </p:cNvPr>
          <p:cNvSpPr txBox="1"/>
          <p:nvPr/>
        </p:nvSpPr>
        <p:spPr>
          <a:xfrm>
            <a:off x="8338541" y="3615952"/>
            <a:ext cx="2077576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二極體</a:t>
            </a:r>
            <a:r>
              <a:rPr lang="en-US" altLang="zh-TW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半波整流</a:t>
            </a:r>
            <a:r>
              <a:rPr lang="en-US" altLang="zh-TW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endParaRPr lang="en-US" sz="200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49FD4D73-DB63-73BD-0D6E-D1398EB92F82}"/>
              </a:ext>
            </a:extLst>
          </p:cNvPr>
          <p:cNvSpPr txBox="1"/>
          <p:nvPr/>
        </p:nvSpPr>
        <p:spPr>
          <a:xfrm>
            <a:off x="8637819" y="5338468"/>
            <a:ext cx="2077576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電容</a:t>
            </a:r>
            <a:r>
              <a:rPr lang="en-US" altLang="zh-TW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充</a:t>
            </a:r>
            <a:r>
              <a:rPr lang="en-US" altLang="zh-TW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放電</a:t>
            </a:r>
            <a:r>
              <a:rPr lang="en-US" altLang="zh-TW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endParaRPr lang="en-US" sz="200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A7BA6AED-C41F-8445-21CA-26A616D76DE4}"/>
              </a:ext>
            </a:extLst>
          </p:cNvPr>
          <p:cNvSpPr txBox="1"/>
          <p:nvPr/>
        </p:nvSpPr>
        <p:spPr>
          <a:xfrm>
            <a:off x="10273852" y="5338467"/>
            <a:ext cx="1367984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電阻</a:t>
            </a:r>
            <a:endParaRPr lang="en-US" sz="200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02650A0D-4D7C-5C37-CD99-EE1FE1B68636}"/>
              </a:ext>
            </a:extLst>
          </p:cNvPr>
          <p:cNvSpPr txBox="1"/>
          <p:nvPr/>
        </p:nvSpPr>
        <p:spPr>
          <a:xfrm>
            <a:off x="10387542" y="4524939"/>
            <a:ext cx="2074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010120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75B723-0031-174A-C433-B2D9159EC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844350D-FA9A-D5BA-D403-D8E59488CC59}"/>
              </a:ext>
            </a:extLst>
          </p:cNvPr>
          <p:cNvSpPr txBox="1"/>
          <p:nvPr/>
        </p:nvSpPr>
        <p:spPr>
          <a:xfrm>
            <a:off x="550164" y="313941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>
                <a:solidFill>
                  <a:schemeClr val="accent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回家作業</a:t>
            </a:r>
            <a:r>
              <a:rPr lang="en-US" sz="3000" b="1" dirty="0">
                <a:solidFill>
                  <a:schemeClr val="accent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Microsoft JhengHei" pitchFamily="34" charset="-120"/>
              </a:rPr>
              <a:t> </a:t>
            </a:r>
            <a:endParaRPr lang="en-US" sz="3000" dirty="0">
              <a:solidFill>
                <a:schemeClr val="accent2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47693C8-BBE8-717F-94A4-68545DFA65A9}"/>
              </a:ext>
            </a:extLst>
          </p:cNvPr>
          <p:cNvSpPr/>
          <p:nvPr/>
        </p:nvSpPr>
        <p:spPr>
          <a:xfrm>
            <a:off x="497504" y="1219200"/>
            <a:ext cx="11144331" cy="5105399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9525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6">
                <a:extLst>
                  <a:ext uri="{FF2B5EF4-FFF2-40B4-BE49-F238E27FC236}">
                    <a16:creationId xmlns:a16="http://schemas.microsoft.com/office/drawing/2014/main" id="{003C26FD-3BD9-0D9C-A80B-4C63FD75C6E7}"/>
                  </a:ext>
                </a:extLst>
              </p:cNvPr>
              <p:cNvSpPr txBox="1"/>
              <p:nvPr/>
            </p:nvSpPr>
            <p:spPr>
              <a:xfrm>
                <a:off x="1054114" y="1709289"/>
                <a:ext cx="9803183" cy="40533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69875" indent="-269875" algn="just">
                  <a:lnSpc>
                    <a:spcPct val="150000"/>
                  </a:lnSpc>
                </a:pPr>
                <a:r>
                  <a:rPr lang="en-US" altLang="zh-TW" sz="2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1.</a:t>
                </a:r>
                <a:r>
                  <a:rPr lang="zh-TW" altLang="en-US" sz="2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將第一題的</a:t>
                </a:r>
                <a:r>
                  <a:rPr lang="zh-TW" altLang="en-US" sz="25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調變指數</a:t>
                </a:r>
                <a:r>
                  <a:rPr lang="en-US" altLang="zh-TW" sz="25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sz="25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𝑲</m:t>
                        </m:r>
                      </m:e>
                      <m:sub>
                        <m:r>
                          <a:rPr lang="en-US" altLang="zh-TW" sz="25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𝒂</m:t>
                        </m:r>
                      </m:sub>
                    </m:sSub>
                    <m:r>
                      <a:rPr lang="en-US" altLang="zh-TW" sz="25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)</m:t>
                    </m:r>
                  </m:oMath>
                </a14:m>
                <a:r>
                  <a:rPr lang="en-US" altLang="zh-TW" sz="25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 </a:t>
                </a:r>
                <a:r>
                  <a:rPr lang="zh-TW" altLang="en-US" sz="25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改為</a:t>
                </a:r>
                <a:r>
                  <a:rPr lang="en-US" altLang="zh-TW" sz="25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0.6</a:t>
                </a:r>
                <a:r>
                  <a:rPr lang="zh-TW" altLang="en-US" sz="2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，並</a:t>
                </a:r>
                <a:r>
                  <a:rPr lang="zh-TW" altLang="en-US" sz="2500" u="sng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附上兩題之</a:t>
                </a:r>
                <a:r>
                  <a:rPr lang="en-US" altLang="zh-TW" sz="2500" u="sng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s(t)</a:t>
                </a:r>
                <a:r>
                  <a:rPr lang="zh-TW" altLang="en-US" sz="2500" u="sng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及</a:t>
                </a:r>
                <a:r>
                  <a:rPr lang="en-US" altLang="zh-TW" sz="2500" u="sng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S(f)</a:t>
                </a:r>
                <a:r>
                  <a:rPr lang="zh-TW" altLang="en-US" sz="2500" u="sng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的截圖，放在一起做比較</a:t>
                </a:r>
                <a:r>
                  <a:rPr lang="zh-TW" altLang="en-US" sz="2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，觀察有什麼地方不一樣，並簡單說明造成這個結果的原因。</a:t>
                </a:r>
                <a:endParaRPr lang="en-US" altLang="zh-TW" sz="2500" dirty="0">
                  <a:solidFill>
                    <a:srgbClr val="0B1D26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Microsoft JhengHei" pitchFamily="34" charset="-120"/>
                </a:endParaRPr>
              </a:p>
              <a:p>
                <a:pPr marL="269875" indent="-269875">
                  <a:lnSpc>
                    <a:spcPct val="150000"/>
                  </a:lnSpc>
                </a:pPr>
                <a:endParaRPr lang="en-US" altLang="zh-TW" sz="2500" dirty="0">
                  <a:solidFill>
                    <a:srgbClr val="0B1D26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Microsoft JhengHei" pitchFamily="34" charset="-120"/>
                </a:endParaRPr>
              </a:p>
              <a:p>
                <a:pPr marL="269875" indent="-269875" algn="just">
                  <a:lnSpc>
                    <a:spcPct val="150000"/>
                  </a:lnSpc>
                </a:pPr>
                <a:r>
                  <a:rPr lang="en-US" altLang="zh-TW" sz="2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2.</a:t>
                </a:r>
                <a:r>
                  <a:rPr lang="zh-TW" altLang="en-US" sz="2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承上題，以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solidFill>
                              <a:srgbClr val="0B1D26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sz="2500" i="1">
                            <a:solidFill>
                              <a:srgbClr val="0B1D26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𝐾</m:t>
                        </m:r>
                      </m:e>
                      <m:sub>
                        <m:r>
                          <a:rPr lang="en-US" altLang="zh-TW" sz="2500" i="1">
                            <a:solidFill>
                              <a:srgbClr val="0B1D26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TW" sz="2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=0.6</a:t>
                </a:r>
                <a:r>
                  <a:rPr lang="zh-TW" altLang="en-US" sz="2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來調變的訊號，做同步解調 </a:t>
                </a:r>
                <a:r>
                  <a:rPr lang="en-US" altLang="zh-TW" sz="2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(e(t)</a:t>
                </a:r>
                <a:r>
                  <a:rPr lang="zh-TW" altLang="en-US" sz="2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 </a:t>
                </a:r>
                <a:r>
                  <a:rPr lang="en-US" altLang="zh-TW" sz="2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=</a:t>
                </a:r>
                <a:r>
                  <a:rPr lang="zh-TW" altLang="en-US" sz="2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 </a:t>
                </a:r>
                <a:r>
                  <a:rPr lang="en-US" altLang="zh-TW" sz="2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s(t)</a:t>
                </a:r>
                <a:r>
                  <a:rPr lang="zh-TW" altLang="en-US" sz="2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*</a:t>
                </a:r>
                <a:r>
                  <a:rPr lang="en-US" altLang="zh-TW" sz="2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c(t))</a:t>
                </a:r>
                <a:r>
                  <a:rPr lang="zh-TW" altLang="en-US" sz="2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 後是否可以成功還原原始訊號</a:t>
                </a:r>
                <a:r>
                  <a:rPr lang="en-US" altLang="zh-TW" sz="2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?</a:t>
                </a:r>
                <a:r>
                  <a:rPr lang="zh-TW" altLang="en-US" sz="2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 並思考使用二極體解調器來解調是否可以成功還原原始訊號</a:t>
                </a:r>
                <a:r>
                  <a:rPr lang="en-US" altLang="zh-TW" sz="2500" dirty="0">
                    <a:solidFill>
                      <a:srgbClr val="0B1D26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Microsoft JhengHei" pitchFamily="34" charset="-120"/>
                  </a:rPr>
                  <a:t>?</a:t>
                </a:r>
              </a:p>
            </p:txBody>
          </p:sp>
        </mc:Choice>
        <mc:Fallback>
          <p:sp>
            <p:nvSpPr>
              <p:cNvPr id="4" name="Text 6">
                <a:extLst>
                  <a:ext uri="{FF2B5EF4-FFF2-40B4-BE49-F238E27FC236}">
                    <a16:creationId xmlns:a16="http://schemas.microsoft.com/office/drawing/2014/main" id="{003C26FD-3BD9-0D9C-A80B-4C63FD75C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114" y="1709289"/>
                <a:ext cx="9803183" cy="4053336"/>
              </a:xfrm>
              <a:prstGeom prst="rect">
                <a:avLst/>
              </a:prstGeom>
              <a:blipFill>
                <a:blip r:embed="rId3"/>
                <a:stretch>
                  <a:fillRect l="-1990" r="-1928" b="-1805"/>
                </a:stretch>
              </a:blipFill>
              <a:ln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6090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1154</TotalTime>
  <Words>1590</Words>
  <Application>Microsoft Office PowerPoint</Application>
  <PresentationFormat>寬螢幕</PresentationFormat>
  <Paragraphs>174</Paragraphs>
  <Slides>21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7" baseType="lpstr">
      <vt:lpstr>標楷體</vt:lpstr>
      <vt:lpstr>Arial</vt:lpstr>
      <vt:lpstr>Cambria</vt:lpstr>
      <vt:lpstr>Cambria Math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 調變與解調：原理、失真判斷與 MATLAB 程式拆解</dc:title>
  <dc:subject>PptxGenJS Presentation</dc:subject>
  <dc:creator>CO3001 實驗四</dc:creator>
  <cp:lastModifiedBy>yunchen lo</cp:lastModifiedBy>
  <cp:revision>29</cp:revision>
  <dcterms:created xsi:type="dcterms:W3CDTF">2026-09-22T09:04:37Z</dcterms:created>
  <dcterms:modified xsi:type="dcterms:W3CDTF">2026-10-06T01:39:49Z</dcterms:modified>
</cp:coreProperties>
</file>